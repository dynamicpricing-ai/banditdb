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58" r:id="rId5"/>
    <p:sldId id="268" r:id="rId6"/>
    <p:sldId id="261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2"/>
  </p:normalViewPr>
  <p:slideViewPr>
    <p:cSldViewPr snapToGrid="0">
      <p:cViewPr varScale="1">
        <p:scale>
          <a:sx n="142" d="100"/>
          <a:sy n="142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EE0C5-4E6F-054B-BC18-D1820C2BC5C1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36018-D559-6144-94CE-093755614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6C47-B709-4462-5514-1BD66CBF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6EFA4-7BB6-52FA-107D-E5A2D69A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C25D3-400E-1D70-FFE5-192C66B9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0DA6-A567-ADE5-E621-A8D2B4D4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BFC7-C6B6-666D-23AA-F539099C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E7B6C-A107-1493-ECEF-3BBF7D454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8A7AD-F737-8080-50D8-96769940E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CB1A6-6D7B-70F3-6AA6-4FC93A65C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3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EC65-7197-DD8E-6A07-84BA67CF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D978-B965-9B69-52E2-EA4F430C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49E7-50B2-E529-2FF2-8A4860E1A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44A0-B6B7-9770-75D5-AFDA9D91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5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2E79-88B2-36AF-F91E-B8F5BA08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E2A1C-EA95-8B22-53EC-78F7C028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6259D-BF1B-78BF-B9CE-90A7C9EA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C5BF-C4DE-711C-3A0C-849834184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8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280-64D4-8888-145D-032EE258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DF7B-5D75-DC4D-905D-0AC3F65DE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E670-FB36-4118-F272-3F1092BC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CA88-D8A4-1FB9-E45E-E6D0308BB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2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DF5E-EADD-5537-D9DF-54712EA2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76939-C4E4-0449-6F5F-B08EDA217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7C99-4297-B0CE-75AD-880563A0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3731-CBA5-7584-719E-1BFE1BC3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1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4DD2-6D19-66D5-2601-6A758D7E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D7AB1-5389-090E-6848-094DDD7E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6F3C-A28F-1875-3010-4C745878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2EC8-F141-2F90-6314-B6029566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53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AD87-C63B-A385-3779-19D0DBD1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1E0-E275-54F1-D09E-A359C8430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E73E-4A8B-18F1-FEB7-47EEB5264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9F60-AF87-AF43-AC4E-B279D1CD2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B3CD-526F-ED82-58CE-6FEC63C2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9854C-1D67-9470-14C6-278F15F3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C6F42-CB3C-3E6D-91B2-D1EAFD48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970D-8A47-4E6A-C902-27C499B3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266B-DF83-6862-B28C-017769F9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8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FBB3-F186-33F1-2253-15599EF3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0427-8FC6-6C0F-E963-4163DD97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7727-836F-D4F9-166F-8F0E6356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8291-BE63-44AB-2A49-FBB137C0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5E37-F721-2B31-E671-365B85D3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8F53-07F8-DD20-DAE1-1B41A36A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171F7-CB26-E415-0517-23E56655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5FB7-754A-6CBA-DCB7-1540B8D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CB4D-CCF7-73F9-E7BD-65640BA2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BEE2-6CB6-8470-E607-F356085E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847-3639-46E4-9D47-AF769AF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1E193-7062-5BB5-30BF-63076AE3A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4D3BB-CD57-EFF1-0184-9404EB75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2D554-F002-D1AC-74F5-1721D256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AE47-CF08-D8A1-FE2A-B0A461C0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4654-CE6D-1433-CFAD-B02053AF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AB61-7880-E34B-7124-4C29BF47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15EA-5203-DBC4-3D92-1118B185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D7D3-9CA1-BFA6-72B1-2E38C7FB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BA08B-D9E5-6DEB-0632-D349F0F8B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226E5-E866-50F1-F497-CE841959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88BFE-C322-F375-9FDF-E89347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92C2A-1CB2-7222-88F5-10F70E41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0B05F-593D-39B6-25E9-3338D13A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1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781E-D33F-6A89-2565-8302EB8B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7891-25F0-2752-C9AB-DCB87D6E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F9CD9-89A3-BB63-A50F-24AEAFB8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D2E5-13AE-91D0-18E3-6838E023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83DFA-0A3D-1A0C-E420-28D8ACEC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39716-6D7A-8E6F-3D7E-DA2C2F6B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D701E-BAF4-5349-ED7C-A1A76032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C23-FAF1-0B53-AB03-59C7D202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6FF7-2FC7-E056-607D-7815278B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9EE2B-3C2B-B9F3-677D-FD41AD68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BDE96-3045-8159-BFE3-CC561749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BBEDA-1ACE-7E0C-55C2-986C9987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5100D-E7B9-78AB-8124-8DA8F461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9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E33E-5495-D9D3-CCD3-46AFA32D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FDE62-668B-9D59-061B-3C6D82D35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B3E3-C803-F275-8246-26B45EEB7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4EC63-435C-EB55-56DF-1D83EBBF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C0B3-0064-BCE9-D5BE-46FDBC92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B077A-8A24-9745-C647-69242F2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A54-CA4E-2F35-ADFD-0F954302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60868-78CD-DA25-DED8-E61C7D8F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A15D-656B-74A7-723E-60C32B83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C59A-E3D4-8A8C-E14D-3F38932E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D226-AD73-5290-9EB1-C1FA88E6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3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B26C0-958C-86F2-3FDA-EA6B882CD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5CF10-7539-85EF-5DB7-FFD7D34A7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F718-9177-EB1B-0E37-E877A0F1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6D97-4D99-BCAB-053E-DE5D7AD1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3BACA-EF85-6B12-91E3-C56932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6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6AD40-33FB-AF91-5F08-50C5C356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5295-8084-FC88-AA19-78678E67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9037-9DCF-3991-CFE8-E668549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8202-5ED3-3231-CA57-50AB0D9E4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18F7-426A-9575-72C0-A3FF2E898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1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B86F044-BA91-CEB9-42C8-D757FCA27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1412" y="1040067"/>
            <a:ext cx="5226424" cy="2722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F9823-82A0-28F2-112A-8D076FC352AB}"/>
              </a:ext>
            </a:extLst>
          </p:cNvPr>
          <p:cNvSpPr txBox="1"/>
          <p:nvPr/>
        </p:nvSpPr>
        <p:spPr>
          <a:xfrm>
            <a:off x="2030089" y="4180872"/>
            <a:ext cx="8131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Decision Memory</a:t>
            </a:r>
            <a:r>
              <a:rPr lang="en-US" sz="2400" dirty="0"/>
              <a:t> </a:t>
            </a:r>
            <a:r>
              <a:rPr lang="en-US" sz="2400" b="1" dirty="0"/>
              <a:t>Database for</a:t>
            </a:r>
            <a:r>
              <a:rPr lang="en-US" sz="2400" dirty="0"/>
              <a:t> </a:t>
            </a:r>
            <a:r>
              <a:rPr lang="en-US" sz="2400" b="1" dirty="0"/>
              <a:t>Self-Learning AI Agents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432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A4E8-0D2A-2E21-56FC-B51AC21B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60B7F3F-052E-E5A3-3703-91298014E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86AAF3-01A3-9DC6-2599-3E0DA54DE73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F3D8-EBAB-FC0E-615F-DB760771E4E9}"/>
              </a:ext>
            </a:extLst>
          </p:cNvPr>
          <p:cNvSpPr txBox="1"/>
          <p:nvPr/>
        </p:nvSpPr>
        <p:spPr>
          <a:xfrm>
            <a:off x="820833" y="676631"/>
            <a:ext cx="7561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Every AI Agent and App make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3B981-1776-C88B-3271-1B0608CEAFFA}"/>
              </a:ext>
            </a:extLst>
          </p:cNvPr>
          <p:cNvSpPr txBox="1"/>
          <p:nvPr/>
        </p:nvSpPr>
        <p:spPr>
          <a:xfrm>
            <a:off x="820833" y="1638062"/>
            <a:ext cx="441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Most of them never learn.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BB0EE-D6F5-8E4C-17E4-DDAAE0FAE9AC}"/>
              </a:ext>
            </a:extLst>
          </p:cNvPr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82507-8376-52A4-648C-249729A4E3F2}"/>
              </a:ext>
            </a:extLst>
          </p:cNvPr>
          <p:cNvSpPr txBox="1"/>
          <p:nvPr/>
        </p:nvSpPr>
        <p:spPr>
          <a:xfrm>
            <a:off x="685800" y="3051079"/>
            <a:ext cx="32004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3300" b="1" dirty="0">
                <a:solidFill>
                  <a:srgbClr val="FFFFFF"/>
                </a:solidFill>
                <a:latin typeface="Aptos" panose="020B0004020202020204" pitchFamily="34" charset="0"/>
              </a:rPr>
              <a:t>ML pipelines</a:t>
            </a:r>
            <a:r>
              <a:rPr sz="3200" b="1" dirty="0">
                <a:solidFill>
                  <a:srgbClr val="FFFFFF"/>
                </a:solidFill>
                <a:latin typeface="Aptos" panose="020B0004020202020204" pitchFamily="34" charset="0"/>
              </a:rPr>
              <a:t>
</a:t>
            </a:r>
            <a:r>
              <a:rPr sz="3200" b="1" dirty="0">
                <a:solidFill>
                  <a:srgbClr val="FFC000"/>
                </a:solidFill>
                <a:latin typeface="Aptos" panose="020B0004020202020204" pitchFamily="34" charset="0"/>
              </a:rPr>
              <a:t>take months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258E8-04CF-10E3-FA25-D71AA0749605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B73EE-D21D-6FE5-6E69-531EC9CAB82D}"/>
              </a:ext>
            </a:extLst>
          </p:cNvPr>
          <p:cNvSpPr txBox="1"/>
          <p:nvPr/>
        </p:nvSpPr>
        <p:spPr>
          <a:xfrm>
            <a:off x="4526280" y="3051079"/>
            <a:ext cx="32004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3300" b="1" dirty="0">
                <a:solidFill>
                  <a:srgbClr val="FFFFFF"/>
                </a:solidFill>
                <a:latin typeface="Aptos" panose="020B0004020202020204" pitchFamily="34" charset="0"/>
              </a:rPr>
              <a:t>A/B tests are
</a:t>
            </a:r>
            <a:r>
              <a:rPr sz="3200" b="1" dirty="0">
                <a:solidFill>
                  <a:srgbClr val="FFC000"/>
                </a:solidFill>
                <a:latin typeface="Aptos" panose="020B0004020202020204" pitchFamily="34" charset="0"/>
              </a:rPr>
              <a:t>too slow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C6A5B-6753-4C2F-4C93-81E7BDDCD7DC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F7413-BEAF-4FA7-599C-81538E47B903}"/>
              </a:ext>
            </a:extLst>
          </p:cNvPr>
          <p:cNvSpPr txBox="1"/>
          <p:nvPr/>
        </p:nvSpPr>
        <p:spPr>
          <a:xfrm>
            <a:off x="8366760" y="3051079"/>
            <a:ext cx="332232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3300" b="1" dirty="0">
                <a:solidFill>
                  <a:srgbClr val="FFFFFF"/>
                </a:solidFill>
                <a:latin typeface="Aptos" panose="020B0004020202020204" pitchFamily="34" charset="0"/>
              </a:rPr>
              <a:t>Feedback loops </a:t>
            </a: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</a:rPr>
              <a:t>are hard to build</a:t>
            </a:r>
            <a:endParaRPr sz="32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62C4-E888-63AF-EB44-BB968BB6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8AB356-C311-6003-DC63-32F1E0E58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5B722F-D057-00AD-F801-2B132F347B26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2809A-6C1C-EF5D-012C-2F03E7E36868}"/>
              </a:ext>
            </a:extLst>
          </p:cNvPr>
          <p:cNvSpPr txBox="1"/>
          <p:nvPr/>
        </p:nvSpPr>
        <p:spPr>
          <a:xfrm>
            <a:off x="820833" y="676631"/>
            <a:ext cx="8559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BanditDB learns from experience in real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A9608-B413-38B5-4604-994EF4F4959B}"/>
              </a:ext>
            </a:extLst>
          </p:cNvPr>
          <p:cNvSpPr txBox="1"/>
          <p:nvPr/>
        </p:nvSpPr>
        <p:spPr>
          <a:xfrm>
            <a:off x="820833" y="1638062"/>
            <a:ext cx="3981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The Self-Learning Loop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E76B4-41FA-1799-C0AD-081889F99919}"/>
              </a:ext>
            </a:extLst>
          </p:cNvPr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ACE54-941A-CB95-F509-EB37EA4C559F}"/>
              </a:ext>
            </a:extLst>
          </p:cNvPr>
          <p:cNvSpPr txBox="1"/>
          <p:nvPr/>
        </p:nvSpPr>
        <p:spPr>
          <a:xfrm>
            <a:off x="623045" y="2351825"/>
            <a:ext cx="3200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</a:rPr>
              <a:t>Input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Agent Injects </a:t>
            </a: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Context Vector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[0.65, 0.95, 0.21, ]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E026A-0DD0-3581-2419-1BB4B8474FDA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5167A-BA1F-68B1-2F3C-0E6E59C4833A}"/>
              </a:ext>
            </a:extLst>
          </p:cNvPr>
          <p:cNvSpPr txBox="1"/>
          <p:nvPr/>
        </p:nvSpPr>
        <p:spPr>
          <a:xfrm>
            <a:off x="4463525" y="2351825"/>
            <a:ext cx="33832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</a:rPr>
              <a:t>Action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DB Computes Optimal Decision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predict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6005F-BAC8-AB61-8A45-F894B346FE5E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AD850-9FE3-41EE-63E1-D7DCFFC5E3B6}"/>
              </a:ext>
            </a:extLst>
          </p:cNvPr>
          <p:cNvSpPr txBox="1"/>
          <p:nvPr/>
        </p:nvSpPr>
        <p:spPr>
          <a:xfrm>
            <a:off x="8304005" y="2351825"/>
            <a:ext cx="33223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</a:rPr>
              <a:t>Update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Agent Reports Actual Outcome</a:t>
            </a:r>
          </a:p>
          <a:p>
            <a:endParaRPr lang="en-US"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reward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1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A8B5-BA5C-39B3-2B74-34A90120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7AEF266-AF46-48D1-69B0-24449B140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1E7036-951F-3DBD-E42C-DDCB2C5C302A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5DC98-79DD-95F5-2539-E8ADF22D5397}"/>
              </a:ext>
            </a:extLst>
          </p:cNvPr>
          <p:cNvSpPr txBox="1"/>
          <p:nvPr/>
        </p:nvSpPr>
        <p:spPr>
          <a:xfrm>
            <a:off x="820833" y="676631"/>
            <a:ext cx="8520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10x Faster Optimization. Ship in an afternoon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5F3E36-BA8E-1D97-B553-40C81426BA28}"/>
              </a:ext>
            </a:extLst>
          </p:cNvPr>
          <p:cNvSpPr/>
          <p:nvPr/>
        </p:nvSpPr>
        <p:spPr>
          <a:xfrm>
            <a:off x="1079846" y="2852109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A9A3B7-EA0B-063B-7482-59CFB23D4F92}"/>
              </a:ext>
            </a:extLst>
          </p:cNvPr>
          <p:cNvSpPr txBox="1"/>
          <p:nvPr/>
        </p:nvSpPr>
        <p:spPr>
          <a:xfrm>
            <a:off x="1399886" y="2400604"/>
            <a:ext cx="326717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Optimization Core: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C27AB-11B4-9EC4-46D0-83350E071896}"/>
              </a:ext>
            </a:extLst>
          </p:cNvPr>
          <p:cNvSpPr txBox="1"/>
          <p:nvPr/>
        </p:nvSpPr>
        <p:spPr>
          <a:xfrm>
            <a:off x="1399886" y="305152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Models, Tools, Skills, Routings, </a:t>
            </a:r>
          </a:p>
          <a:p>
            <a:r>
              <a:rPr lang="en-US" dirty="0"/>
              <a:t>Orchestrations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49DD4-C59E-626A-EC91-AD38A8D18C6E}"/>
              </a:ext>
            </a:extLst>
          </p:cNvPr>
          <p:cNvSpPr/>
          <p:nvPr/>
        </p:nvSpPr>
        <p:spPr>
          <a:xfrm>
            <a:off x="1079846" y="4676970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D3CF3-9C4D-927A-D247-3C1B7478B0AE}"/>
              </a:ext>
            </a:extLst>
          </p:cNvPr>
          <p:cNvSpPr txBox="1"/>
          <p:nvPr/>
        </p:nvSpPr>
        <p:spPr>
          <a:xfrm>
            <a:off x="1399886" y="4225465"/>
            <a:ext cx="327852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Business Revenue: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F75BA-D4B6-C199-AA69-12C43FE4AE09}"/>
              </a:ext>
            </a:extLst>
          </p:cNvPr>
          <p:cNvSpPr txBox="1"/>
          <p:nvPr/>
        </p:nvSpPr>
        <p:spPr>
          <a:xfrm>
            <a:off x="1399886" y="487639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Advertising, Dynamic Pricing, Churn Prevention.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F5B548-C698-AFF8-6EE8-4D36E3662AF0}"/>
              </a:ext>
            </a:extLst>
          </p:cNvPr>
          <p:cNvSpPr/>
          <p:nvPr/>
        </p:nvSpPr>
        <p:spPr>
          <a:xfrm>
            <a:off x="6159536" y="2852109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CA7F0-5F38-1C34-DEF4-A49BC5978305}"/>
              </a:ext>
            </a:extLst>
          </p:cNvPr>
          <p:cNvSpPr txBox="1"/>
          <p:nvPr/>
        </p:nvSpPr>
        <p:spPr>
          <a:xfrm>
            <a:off x="6479576" y="2400604"/>
            <a:ext cx="295279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User experience: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1EF1F-A2FF-CD61-4DD5-C29B3D5900F0}"/>
              </a:ext>
            </a:extLst>
          </p:cNvPr>
          <p:cNvSpPr txBox="1"/>
          <p:nvPr/>
        </p:nvSpPr>
        <p:spPr>
          <a:xfrm>
            <a:off x="6479576" y="305152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Experimentation, Personalization, Recommendation, Education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EDDFAA-B76B-DD9D-1CD5-BB7C24C69459}"/>
              </a:ext>
            </a:extLst>
          </p:cNvPr>
          <p:cNvSpPr/>
          <p:nvPr/>
        </p:nvSpPr>
        <p:spPr>
          <a:xfrm>
            <a:off x="6159536" y="4676970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47BB5-C167-CAC1-D34B-78B8FFB1AD8E}"/>
              </a:ext>
            </a:extLst>
          </p:cNvPr>
          <p:cNvSpPr txBox="1"/>
          <p:nvPr/>
        </p:nvSpPr>
        <p:spPr>
          <a:xfrm>
            <a:off x="6479576" y="4225465"/>
            <a:ext cx="355828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High-Stakes Critical: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2874E-01A6-AC2C-FF7F-E258A9F39F9B}"/>
              </a:ext>
            </a:extLst>
          </p:cNvPr>
          <p:cNvSpPr txBox="1"/>
          <p:nvPr/>
        </p:nvSpPr>
        <p:spPr>
          <a:xfrm>
            <a:off x="6479576" y="487639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Clinical Trials, Fraud &amp; Risk,</a:t>
            </a:r>
          </a:p>
          <a:p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Fintech, Edge devices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A81A8-BE91-582D-53E9-372A52220E23}"/>
              </a:ext>
            </a:extLst>
          </p:cNvPr>
          <p:cNvSpPr txBox="1"/>
          <p:nvPr/>
        </p:nvSpPr>
        <p:spPr>
          <a:xfrm>
            <a:off x="820833" y="1638062"/>
            <a:ext cx="6083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Democratizing Decision Intelligence</a:t>
            </a:r>
          </a:p>
        </p:txBody>
      </p:sp>
    </p:spTree>
    <p:extLst>
      <p:ext uri="{BB962C8B-B14F-4D97-AF65-F5344CB8AC3E}">
        <p14:creationId xmlns:p14="http://schemas.microsoft.com/office/powerpoint/2010/main" val="220875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17D6-FEBD-570E-AA6E-CE65F268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297DFC8-5BD8-1633-88C2-1CCBD3700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3394F9-8B38-EDBC-A531-6C409C1D1E7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9D3FD-F315-A4A2-B70A-26B69C6017DA}"/>
              </a:ext>
            </a:extLst>
          </p:cNvPr>
          <p:cNvSpPr txBox="1"/>
          <p:nvPr/>
        </p:nvSpPr>
        <p:spPr>
          <a:xfrm>
            <a:off x="820833" y="676631"/>
            <a:ext cx="79927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Control Plane for AI Decision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15FFD-A684-2EA3-EB21-E1210BDB302D}"/>
              </a:ext>
            </a:extLst>
          </p:cNvPr>
          <p:cNvSpPr/>
          <p:nvPr/>
        </p:nvSpPr>
        <p:spPr>
          <a:xfrm>
            <a:off x="1079846" y="257419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8FE15-DCB8-F485-C67E-850389DDEDB3}"/>
              </a:ext>
            </a:extLst>
          </p:cNvPr>
          <p:cNvSpPr txBox="1"/>
          <p:nvPr/>
        </p:nvSpPr>
        <p:spPr>
          <a:xfrm>
            <a:off x="1399886" y="2122689"/>
            <a:ext cx="380238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Instant Causal Impact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1FEA6-CF2F-86C8-23A6-145E41921A8A}"/>
              </a:ext>
            </a:extLst>
          </p:cNvPr>
          <p:cNvSpPr txBox="1"/>
          <p:nvPr/>
        </p:nvSpPr>
        <p:spPr>
          <a:xfrm>
            <a:off x="1399886" y="2773614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Decision Confidence  tracking. Turns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stochasticity in deterministic rules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8F6AF-F4AD-CA89-D4EA-237EC957C3A5}"/>
              </a:ext>
            </a:extLst>
          </p:cNvPr>
          <p:cNvSpPr/>
          <p:nvPr/>
        </p:nvSpPr>
        <p:spPr>
          <a:xfrm>
            <a:off x="1079846" y="4399055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4D18FF-17D5-292F-92E9-D0A5DD75BB69}"/>
              </a:ext>
            </a:extLst>
          </p:cNvPr>
          <p:cNvSpPr txBox="1"/>
          <p:nvPr/>
        </p:nvSpPr>
        <p:spPr>
          <a:xfrm>
            <a:off x="1399886" y="3947550"/>
            <a:ext cx="216533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Governance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36C41-D4F2-6CA2-D782-31732671DFA1}"/>
              </a:ext>
            </a:extLst>
          </p:cNvPr>
          <p:cNvSpPr txBox="1"/>
          <p:nvPr/>
        </p:nvSpPr>
        <p:spPr>
          <a:xfrm>
            <a:off x="1399886" y="4598475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Predict-and-reward history for governance</a:t>
            </a:r>
          </a:p>
          <a:p>
            <a:r>
              <a:rPr lang="en-US" dirty="0"/>
              <a:t>and compliance.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3D8D95-1BB9-2DD5-9EF4-B9A139BA3523}"/>
              </a:ext>
            </a:extLst>
          </p:cNvPr>
          <p:cNvSpPr/>
          <p:nvPr/>
        </p:nvSpPr>
        <p:spPr>
          <a:xfrm>
            <a:off x="6159536" y="257419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E58239-52C6-6953-0F74-2FBE2979BC5E}"/>
              </a:ext>
            </a:extLst>
          </p:cNvPr>
          <p:cNvSpPr txBox="1"/>
          <p:nvPr/>
        </p:nvSpPr>
        <p:spPr>
          <a:xfrm>
            <a:off x="6479576" y="2122689"/>
            <a:ext cx="285065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Safe Exploration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BFB839-4EC3-AE1C-3C4A-059FF480D723}"/>
              </a:ext>
            </a:extLst>
          </p:cNvPr>
          <p:cNvSpPr txBox="1"/>
          <p:nvPr/>
        </p:nvSpPr>
        <p:spPr>
          <a:xfrm>
            <a:off x="6479576" y="2773614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Monitor exploration, convergence, </a:t>
            </a:r>
          </a:p>
          <a:p>
            <a:r>
              <a:rPr lang="en-US" dirty="0"/>
              <a:t>confidence, and policy health.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EAD28-1735-5DC3-7EDF-D9E6BCBB6914}"/>
              </a:ext>
            </a:extLst>
          </p:cNvPr>
          <p:cNvSpPr/>
          <p:nvPr/>
        </p:nvSpPr>
        <p:spPr>
          <a:xfrm>
            <a:off x="6159536" y="4399055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D4325-C4D9-D995-871A-68B2C446ABF5}"/>
              </a:ext>
            </a:extLst>
          </p:cNvPr>
          <p:cNvSpPr txBox="1"/>
          <p:nvPr/>
        </p:nvSpPr>
        <p:spPr>
          <a:xfrm>
            <a:off x="6479576" y="3947550"/>
            <a:ext cx="287354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Enterprise ready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A1983-737C-02CF-2D3E-4629AECD8598}"/>
              </a:ext>
            </a:extLst>
          </p:cNvPr>
          <p:cNvSpPr txBox="1"/>
          <p:nvPr/>
        </p:nvSpPr>
        <p:spPr>
          <a:xfrm>
            <a:off x="6479576" y="4598475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Backup, restore, multi-tenancy, access control, and rate limits.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05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A4F3-60E7-B48F-F9E0-338FA03C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F29A4C0-4C45-D723-4E67-6C5588E9A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AB7B5-E3F0-A2AC-9B43-BDA7A151E4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5991-6880-EE49-BC5F-24EB31EB7F16}"/>
              </a:ext>
            </a:extLst>
          </p:cNvPr>
          <p:cNvSpPr txBox="1"/>
          <p:nvPr/>
        </p:nvSpPr>
        <p:spPr>
          <a:xfrm>
            <a:off x="820833" y="676631"/>
            <a:ext cx="3819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Legacy Alternatives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9D7DB8-8913-2E44-8BD7-E434DCD6303B}"/>
              </a:ext>
            </a:extLst>
          </p:cNvPr>
          <p:cNvGrpSpPr/>
          <p:nvPr/>
        </p:nvGrpSpPr>
        <p:grpSpPr>
          <a:xfrm>
            <a:off x="1133756" y="1388179"/>
            <a:ext cx="9517814" cy="963970"/>
            <a:chOff x="703445" y="1237076"/>
            <a:chExt cx="9517814" cy="9639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2D249D-1C57-337A-20CC-9B4023F0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3772" y="1645812"/>
              <a:ext cx="1391687" cy="49167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8F9C3E0-6C44-0450-5523-9CCC7899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11746" y="1567108"/>
              <a:ext cx="1946231" cy="6339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AC802E-5763-8392-B986-582C0D5E1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3445" y="1787778"/>
              <a:ext cx="2344556" cy="38790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4DC0D2-139A-D0C0-A52C-F28B9CD9B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46048" y="1429830"/>
              <a:ext cx="1494229" cy="77121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038B21-CADF-FA0B-A3F7-2C38E2BF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46141" y="1237076"/>
              <a:ext cx="1875118" cy="963969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8134722-3130-A30B-5987-DB1DD71F1C66}"/>
              </a:ext>
            </a:extLst>
          </p:cNvPr>
          <p:cNvSpPr/>
          <p:nvPr/>
        </p:nvSpPr>
        <p:spPr>
          <a:xfrm>
            <a:off x="1196791" y="2678897"/>
            <a:ext cx="4415119" cy="8800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C6F4B-7FCF-ABAD-0363-11AC1E4FC37D}"/>
              </a:ext>
            </a:extLst>
          </p:cNvPr>
          <p:cNvSpPr/>
          <p:nvPr/>
        </p:nvSpPr>
        <p:spPr>
          <a:xfrm>
            <a:off x="5809135" y="2678897"/>
            <a:ext cx="4559791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9B17E-A534-B83C-5F5B-EA694A4E4A69}"/>
              </a:ext>
            </a:extLst>
          </p:cNvPr>
          <p:cNvSpPr txBox="1"/>
          <p:nvPr/>
        </p:nvSpPr>
        <p:spPr>
          <a:xfrm>
            <a:off x="5934354" y="2819311"/>
            <a:ext cx="3684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FFC000"/>
                </a:solidFill>
                <a:latin typeface="Aptos" panose="020B0004020202020204" pitchFamily="34" charset="0"/>
              </a:rPr>
              <a:t>Vector Database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Finds similar items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6FCF0-C636-36B0-2085-7E9208F33FE9}"/>
              </a:ext>
            </a:extLst>
          </p:cNvPr>
          <p:cNvSpPr txBox="1"/>
          <p:nvPr/>
        </p:nvSpPr>
        <p:spPr>
          <a:xfrm>
            <a:off x="1318475" y="2819311"/>
            <a:ext cx="3970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latin typeface="Aptos" panose="020B0004020202020204" pitchFamily="34" charset="0"/>
              </a:rPr>
              <a:t>BanditDB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Make optimal decisions in-memory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2B6C42-6411-D3F6-258B-F3B4515F682B}"/>
              </a:ext>
            </a:extLst>
          </p:cNvPr>
          <p:cNvSpPr/>
          <p:nvPr/>
        </p:nvSpPr>
        <p:spPr>
          <a:xfrm>
            <a:off x="820833" y="4641794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83A59-B345-2D5D-1E28-5D3BEA9518F1}"/>
              </a:ext>
            </a:extLst>
          </p:cNvPr>
          <p:cNvSpPr txBox="1"/>
          <p:nvPr/>
        </p:nvSpPr>
        <p:spPr>
          <a:xfrm>
            <a:off x="820833" y="3949296"/>
            <a:ext cx="589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Decision Infrastructure Market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5C4E0E-91AC-3047-29AA-493403B89316}"/>
              </a:ext>
            </a:extLst>
          </p:cNvPr>
          <p:cNvSpPr/>
          <p:nvPr/>
        </p:nvSpPr>
        <p:spPr>
          <a:xfrm>
            <a:off x="7584146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E94DC9-700F-6DFB-C1D8-451CEE76954B}"/>
              </a:ext>
            </a:extLst>
          </p:cNvPr>
          <p:cNvSpPr/>
          <p:nvPr/>
        </p:nvSpPr>
        <p:spPr>
          <a:xfrm>
            <a:off x="1202401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3F5175-F696-8F61-73AC-FC4FFE7DCDA9}"/>
              </a:ext>
            </a:extLst>
          </p:cNvPr>
          <p:cNvSpPr/>
          <p:nvPr/>
        </p:nvSpPr>
        <p:spPr>
          <a:xfrm>
            <a:off x="4393273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688F1F-2D24-39BA-E1E7-C6F1AFDE6D59}"/>
              </a:ext>
            </a:extLst>
          </p:cNvPr>
          <p:cNvSpPr txBox="1"/>
          <p:nvPr/>
        </p:nvSpPr>
        <p:spPr>
          <a:xfrm>
            <a:off x="1605717" y="5406203"/>
            <a:ext cx="19602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TAM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17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38D28B-AED5-64BD-9E77-A2645C493F97}"/>
              </a:ext>
            </a:extLst>
          </p:cNvPr>
          <p:cNvSpPr txBox="1"/>
          <p:nvPr/>
        </p:nvSpPr>
        <p:spPr>
          <a:xfrm>
            <a:off x="4888825" y="5412831"/>
            <a:ext cx="17974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SAM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A451FC-6866-A71F-63FE-39C38BE2060B}"/>
              </a:ext>
            </a:extLst>
          </p:cNvPr>
          <p:cNvSpPr txBox="1"/>
          <p:nvPr/>
        </p:nvSpPr>
        <p:spPr>
          <a:xfrm>
            <a:off x="8052447" y="5412830"/>
            <a:ext cx="18469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SOM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930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3491-58EF-FB68-61E2-747A2C6E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D8FDA60-0096-E73C-F89E-8B52FA134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9C98E0-8A9C-C274-18CC-5FC6262E048D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DB08B-EE46-1D19-7E20-224E6A48E9A1}"/>
              </a:ext>
            </a:extLst>
          </p:cNvPr>
          <p:cNvSpPr txBox="1"/>
          <p:nvPr/>
        </p:nvSpPr>
        <p:spPr>
          <a:xfrm>
            <a:off x="820833" y="676631"/>
            <a:ext cx="3889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Business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6609F-F7FF-4ADD-9FD5-5117373B5925}"/>
              </a:ext>
            </a:extLst>
          </p:cNvPr>
          <p:cNvSpPr txBox="1"/>
          <p:nvPr/>
        </p:nvSpPr>
        <p:spPr>
          <a:xfrm>
            <a:off x="556054" y="166483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Open-source drives adoption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Cloud converts power users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Enterprise converts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6374B-9D0E-4F75-EE6D-98B1ECAADD96}"/>
              </a:ext>
            </a:extLst>
          </p:cNvPr>
          <p:cNvSpPr/>
          <p:nvPr/>
        </p:nvSpPr>
        <p:spPr>
          <a:xfrm>
            <a:off x="556054" y="2140509"/>
            <a:ext cx="3657600" cy="1517089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10E5A-F046-845E-3D56-4CD46C5B3FF5}"/>
              </a:ext>
            </a:extLst>
          </p:cNvPr>
          <p:cNvSpPr txBox="1"/>
          <p:nvPr/>
        </p:nvSpPr>
        <p:spPr>
          <a:xfrm>
            <a:off x="720646" y="2140509"/>
            <a:ext cx="9685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chemeClr val="bg1"/>
                </a:solidFill>
                <a:latin typeface="Aptos" panose="020B0004020202020204" pitchFamily="34" charset="0"/>
              </a:rPr>
              <a:t>OPEN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9444D-4050-7934-FB5D-BB1443A6876E}"/>
              </a:ext>
            </a:extLst>
          </p:cNvPr>
          <p:cNvSpPr txBox="1"/>
          <p:nvPr/>
        </p:nvSpPr>
        <p:spPr>
          <a:xfrm>
            <a:off x="720646" y="2365405"/>
            <a:ext cx="15783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Self-Hosted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53E63-6593-3B0A-1E36-5C5D502A990E}"/>
              </a:ext>
            </a:extLst>
          </p:cNvPr>
          <p:cNvSpPr txBox="1"/>
          <p:nvPr/>
        </p:nvSpPr>
        <p:spPr>
          <a:xfrm>
            <a:off x="720646" y="2661951"/>
            <a:ext cx="8536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 dirty="0">
                <a:solidFill>
                  <a:schemeClr val="bg1"/>
                </a:solidFill>
                <a:latin typeface="Aptos" panose="020B0004020202020204" pitchFamily="34" charset="0"/>
              </a:rPr>
              <a:t>Free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3B2D8F-168D-D391-5263-A5F75577C475}"/>
              </a:ext>
            </a:extLst>
          </p:cNvPr>
          <p:cNvSpPr/>
          <p:nvPr/>
        </p:nvSpPr>
        <p:spPr>
          <a:xfrm>
            <a:off x="4460542" y="2140509"/>
            <a:ext cx="3657600" cy="1517089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F8AD52-92B1-8ECA-C525-0933B90E6F96}"/>
              </a:ext>
            </a:extLst>
          </p:cNvPr>
          <p:cNvSpPr txBox="1"/>
          <p:nvPr/>
        </p:nvSpPr>
        <p:spPr>
          <a:xfrm>
            <a:off x="4625134" y="2140509"/>
            <a:ext cx="11512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Aptos" panose="020B0004020202020204" pitchFamily="34" charset="0"/>
              </a:rPr>
              <a:t>BANDITDB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008320-3D2D-53D4-BD0B-C360D127D573}"/>
              </a:ext>
            </a:extLst>
          </p:cNvPr>
          <p:cNvSpPr txBox="1"/>
          <p:nvPr/>
        </p:nvSpPr>
        <p:spPr>
          <a:xfrm>
            <a:off x="4625134" y="2365405"/>
            <a:ext cx="200413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Managed Cloud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BD8A9D-F3E9-1CAA-B6AF-56B16B08A20A}"/>
              </a:ext>
            </a:extLst>
          </p:cNvPr>
          <p:cNvSpPr txBox="1"/>
          <p:nvPr/>
        </p:nvSpPr>
        <p:spPr>
          <a:xfrm>
            <a:off x="4625134" y="2661951"/>
            <a:ext cx="21704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2196F3"/>
                </a:solidFill>
                <a:latin typeface="Aptos" panose="020B0004020202020204" pitchFamily="34" charset="0"/>
              </a:rPr>
              <a:t>Usage-based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430BAD-1905-8BB8-D0CD-C5EFA91E7329}"/>
              </a:ext>
            </a:extLst>
          </p:cNvPr>
          <p:cNvSpPr/>
          <p:nvPr/>
        </p:nvSpPr>
        <p:spPr>
          <a:xfrm>
            <a:off x="8365030" y="2140509"/>
            <a:ext cx="3657600" cy="1517089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BC8B3-5064-63A8-B40A-C97C4C5799FE}"/>
              </a:ext>
            </a:extLst>
          </p:cNvPr>
          <p:cNvSpPr txBox="1"/>
          <p:nvPr/>
        </p:nvSpPr>
        <p:spPr>
          <a:xfrm>
            <a:off x="8529622" y="2140509"/>
            <a:ext cx="8435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Aptos" panose="020B0004020202020204" pitchFamily="34" charset="0"/>
              </a:rPr>
              <a:t>ENTERPRISE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D3390-EABD-CB44-7D76-548DADCBABD1}"/>
              </a:ext>
            </a:extLst>
          </p:cNvPr>
          <p:cNvSpPr txBox="1"/>
          <p:nvPr/>
        </p:nvSpPr>
        <p:spPr>
          <a:xfrm>
            <a:off x="8529622" y="2365405"/>
            <a:ext cx="24823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Private Deployment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0BD197-33E2-915C-99B8-32EB49CC8B5F}"/>
              </a:ext>
            </a:extLst>
          </p:cNvPr>
          <p:cNvSpPr txBox="1"/>
          <p:nvPr/>
        </p:nvSpPr>
        <p:spPr>
          <a:xfrm>
            <a:off x="8529622" y="2661951"/>
            <a:ext cx="13873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Aptos" panose="020B0004020202020204" pitchFamily="34" charset="0"/>
              </a:rPr>
              <a:t>Custom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369923-DB82-E5F1-617F-8D70F6FDB8CB}"/>
              </a:ext>
            </a:extLst>
          </p:cNvPr>
          <p:cNvSpPr/>
          <p:nvPr/>
        </p:nvSpPr>
        <p:spPr>
          <a:xfrm>
            <a:off x="820833" y="4677654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64430-42E0-41B1-281A-086AA11FA76F}"/>
              </a:ext>
            </a:extLst>
          </p:cNvPr>
          <p:cNvSpPr txBox="1"/>
          <p:nvPr/>
        </p:nvSpPr>
        <p:spPr>
          <a:xfrm>
            <a:off x="820833" y="3985156"/>
            <a:ext cx="1630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B3869-C8B5-FA2A-2B6D-E56B9698696C}"/>
              </a:ext>
            </a:extLst>
          </p:cNvPr>
          <p:cNvSpPr/>
          <p:nvPr/>
        </p:nvSpPr>
        <p:spPr>
          <a:xfrm>
            <a:off x="556054" y="5330030"/>
            <a:ext cx="3657600" cy="868217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A2848-F109-4797-1A65-FBD75C13AB64}"/>
              </a:ext>
            </a:extLst>
          </p:cNvPr>
          <p:cNvSpPr/>
          <p:nvPr/>
        </p:nvSpPr>
        <p:spPr>
          <a:xfrm>
            <a:off x="4460542" y="5330030"/>
            <a:ext cx="3657600" cy="868217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A5B33-BBF1-825E-FDFF-511FBDBDCD0C}"/>
              </a:ext>
            </a:extLst>
          </p:cNvPr>
          <p:cNvSpPr/>
          <p:nvPr/>
        </p:nvSpPr>
        <p:spPr>
          <a:xfrm>
            <a:off x="8365030" y="5330030"/>
            <a:ext cx="3657600" cy="868217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E608F6-B06E-7AD7-B564-57CDC3671D98}"/>
              </a:ext>
            </a:extLst>
          </p:cNvPr>
          <p:cNvSpPr txBox="1"/>
          <p:nvPr/>
        </p:nvSpPr>
        <p:spPr>
          <a:xfrm>
            <a:off x="556054" y="480490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$600K to finish BanditDB Cloud and run the Go-To-Market motion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B0EB9F-0216-7698-5B6F-6D80C2616ECA}"/>
              </a:ext>
            </a:extLst>
          </p:cNvPr>
          <p:cNvSpPr txBox="1"/>
          <p:nvPr/>
        </p:nvSpPr>
        <p:spPr>
          <a:xfrm>
            <a:off x="900953" y="5302722"/>
            <a:ext cx="215475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Engineering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A97414-BCE7-B587-07A3-DD0A6DD25BBB}"/>
              </a:ext>
            </a:extLst>
          </p:cNvPr>
          <p:cNvSpPr txBox="1"/>
          <p:nvPr/>
        </p:nvSpPr>
        <p:spPr>
          <a:xfrm>
            <a:off x="4741433" y="5302722"/>
            <a:ext cx="233230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Go-to-Market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74863-67E5-587A-74AA-86FACA491C62}"/>
              </a:ext>
            </a:extLst>
          </p:cNvPr>
          <p:cNvSpPr txBox="1"/>
          <p:nvPr/>
        </p:nvSpPr>
        <p:spPr>
          <a:xfrm>
            <a:off x="8581913" y="5302722"/>
            <a:ext cx="20781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Operations  20%</a:t>
            </a:r>
          </a:p>
        </p:txBody>
      </p:sp>
    </p:spTree>
    <p:extLst>
      <p:ext uri="{BB962C8B-B14F-4D97-AF65-F5344CB8AC3E}">
        <p14:creationId xmlns:p14="http://schemas.microsoft.com/office/powerpoint/2010/main" val="232664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EB09-72D0-5784-BA33-7A49D5FD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EEEB53-E541-D2D3-D508-A1F1358BE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6F967F-4941-75C0-75B6-CE24950578BE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5E823-5DC1-BBBF-4088-17C905FC6657}"/>
              </a:ext>
            </a:extLst>
          </p:cNvPr>
          <p:cNvSpPr txBox="1"/>
          <p:nvPr/>
        </p:nvSpPr>
        <p:spPr>
          <a:xfrm>
            <a:off x="820833" y="676631"/>
            <a:ext cx="2449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Traction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99BD6-4B79-AACE-59A8-58FA1508A293}"/>
              </a:ext>
            </a:extLst>
          </p:cNvPr>
          <p:cNvSpPr/>
          <p:nvPr/>
        </p:nvSpPr>
        <p:spPr>
          <a:xfrm>
            <a:off x="903642" y="2117947"/>
            <a:ext cx="2453142" cy="3370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20C36-26B8-CAF1-432F-3ECB3E1073BB}"/>
              </a:ext>
            </a:extLst>
          </p:cNvPr>
          <p:cNvSpPr/>
          <p:nvPr/>
        </p:nvSpPr>
        <p:spPr>
          <a:xfrm>
            <a:off x="3642858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1A783-6E79-D560-50F4-9388726AB426}"/>
              </a:ext>
            </a:extLst>
          </p:cNvPr>
          <p:cNvSpPr/>
          <p:nvPr/>
        </p:nvSpPr>
        <p:spPr>
          <a:xfrm>
            <a:off x="6382074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E6931D-306D-DE56-F7E7-D11096D19650}"/>
              </a:ext>
            </a:extLst>
          </p:cNvPr>
          <p:cNvSpPr/>
          <p:nvPr/>
        </p:nvSpPr>
        <p:spPr>
          <a:xfrm>
            <a:off x="9121290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C49DF-9133-63B6-26A3-E08A0876CADC}"/>
              </a:ext>
            </a:extLst>
          </p:cNvPr>
          <p:cNvSpPr txBox="1"/>
          <p:nvPr/>
        </p:nvSpPr>
        <p:spPr>
          <a:xfrm>
            <a:off x="1049433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latin typeface="Aptos" panose="020B0004020202020204" pitchFamily="34" charset="0"/>
              </a:rPr>
              <a:t>Dynamic Pricing AI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Handling $2M/month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AD199-D162-4194-7A00-FACF5C828E39}"/>
              </a:ext>
            </a:extLst>
          </p:cNvPr>
          <p:cNvSpPr txBox="1"/>
          <p:nvPr/>
        </p:nvSpPr>
        <p:spPr>
          <a:xfrm>
            <a:off x="3793945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Accenture &gt;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AI Agents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Orchestration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DCEC79-5FE3-A320-DFA4-A031CD863784}"/>
              </a:ext>
            </a:extLst>
          </p:cNvPr>
          <p:cNvSpPr txBox="1"/>
          <p:nvPr/>
        </p:nvSpPr>
        <p:spPr>
          <a:xfrm>
            <a:off x="6533161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Clinical Trials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Right dosage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prescription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6D771-C298-C74E-E39D-2F0FA613961E}"/>
              </a:ext>
            </a:extLst>
          </p:cNvPr>
          <p:cNvSpPr txBox="1"/>
          <p:nvPr/>
        </p:nvSpPr>
        <p:spPr>
          <a:xfrm>
            <a:off x="9357043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Ed Tech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Personalized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77254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1E7-1D1A-1AFB-BC88-0DA2D0F4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FABD28-312F-12D1-E62F-F0D1B3845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088" y="2710760"/>
            <a:ext cx="4336597" cy="2258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4501B-C3F4-2A8A-404A-4A53957A90C4}"/>
              </a:ext>
            </a:extLst>
          </p:cNvPr>
          <p:cNvSpPr txBox="1"/>
          <p:nvPr/>
        </p:nvSpPr>
        <p:spPr>
          <a:xfrm>
            <a:off x="4390779" y="1195053"/>
            <a:ext cx="270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4B528-2670-AC5B-2BE4-DB9D59129050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93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3193</TotalTime>
  <Words>321</Words>
  <Application>Microsoft Macintosh PowerPoint</Application>
  <PresentationFormat>Widescreen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Lukov</dc:creator>
  <cp:lastModifiedBy>Simeon Lukov</cp:lastModifiedBy>
  <cp:revision>9</cp:revision>
  <dcterms:created xsi:type="dcterms:W3CDTF">2026-06-08T07:26:40Z</dcterms:created>
  <dcterms:modified xsi:type="dcterms:W3CDTF">2026-06-22T15:50:59Z</dcterms:modified>
</cp:coreProperties>
</file>