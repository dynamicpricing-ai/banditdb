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0"/>
    <p:restoredTop sz="94672"/>
  </p:normalViewPr>
  <p:slideViewPr>
    <p:cSldViewPr snapToGrid="0" snapToObjects="1">
      <p:cViewPr varScale="1">
        <p:scale>
          <a:sx n="118" d="100"/>
          <a:sy n="118" d="100"/>
        </p:scale>
        <p:origin x="208" y="7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3BD79-D18D-574D-8F01-00B697A8585E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D2F41-769D-6943-BCB3-597F47D75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5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D2F41-769D-6943-BCB3-597F47D75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68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D2F41-769D-6943-BCB3-597F47D75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65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91840"/>
            <a:ext cx="12188952" cy="12700"/>
          </a:xfrm>
          <a:prstGeom prst="rect">
            <a:avLst/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127" y="4300949"/>
            <a:ext cx="1218895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3200" b="0" dirty="0">
                <a:solidFill>
                  <a:srgbClr val="2196F3"/>
                </a:solidFill>
                <a:latin typeface="Calibri"/>
              </a:rPr>
              <a:t>The Decision Intelligence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159132"/>
            <a:ext cx="121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 algn="ctr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Calibri"/>
              </a:rPr>
              <a:t>github.com/dynamicpricing-ai/banditdb</a:t>
            </a:r>
            <a:r>
              <a:rPr lang="en-US" sz="1400" b="0" dirty="0">
                <a:solidFill>
                  <a:srgbClr val="A0AABB"/>
                </a:solidFill>
                <a:latin typeface="Calibri"/>
              </a:rPr>
              <a:t>  contact: Simeon Lukov, s.Lukov@dynamicpricing.ai</a:t>
            </a:r>
            <a:endParaRPr sz="1400" b="0" dirty="0">
              <a:solidFill>
                <a:srgbClr val="A0AABB"/>
              </a:solidFill>
              <a:latin typeface="Calibri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BAE31A9-D89F-BEA3-46A0-5DFFF38DC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8148" y="986561"/>
            <a:ext cx="7772400" cy="4048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3600" b="1" dirty="0">
                <a:solidFill>
                  <a:srgbClr val="2196F3"/>
                </a:solidFill>
                <a:latin typeface="Calibri"/>
              </a:rPr>
              <a:t>Most of them never learn.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582091"/>
            <a:ext cx="356616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764971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</a:rPr>
              <a:t>ML pipelines
take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25091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Data science team, feature stores, model training</a:t>
            </a:r>
            <a:r>
              <a:rPr lang="en-US" b="0" dirty="0">
                <a:solidFill>
                  <a:srgbClr val="A0AABB"/>
                </a:solidFill>
                <a:latin typeface="Calibri"/>
              </a:rPr>
              <a:t> and pipelines</a:t>
            </a:r>
            <a:endParaRPr b="0" dirty="0">
              <a:solidFill>
                <a:srgbClr val="A0AAB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582091"/>
            <a:ext cx="356616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764971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A/B tests are
too slow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725091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Split traffic 50/50 for weeks to reach significance. Revenue lost to the losing variant every 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2582091"/>
            <a:ext cx="356616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764971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</a:rPr>
              <a:t>Personalization
is expensive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725091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Real-time recommendation engines cost </a:t>
            </a:r>
            <a:r>
              <a:rPr lang="en-US" b="0" dirty="0">
                <a:solidFill>
                  <a:srgbClr val="A0AABB"/>
                </a:solidFill>
                <a:latin typeface="Calibri"/>
              </a:rPr>
              <a:t>hundred thousands </a:t>
            </a:r>
            <a:r>
              <a:rPr b="0" dirty="0">
                <a:solidFill>
                  <a:srgbClr val="A0AABB"/>
                </a:solidFill>
                <a:latin typeface="Calibri"/>
              </a:rPr>
              <a:t>to build and operate at scale.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9360F-A643-027C-E34D-4DD58F394C8A}"/>
              </a:ext>
            </a:extLst>
          </p:cNvPr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2BAE23-54BA-7F24-4034-5734C67CB026}"/>
              </a:ext>
            </a:extLst>
          </p:cNvPr>
          <p:cNvSpPr txBox="1"/>
          <p:nvPr/>
        </p:nvSpPr>
        <p:spPr>
          <a:xfrm>
            <a:off x="640080" y="274320"/>
            <a:ext cx="623042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sz="2800" b="1" dirty="0">
                <a:solidFill>
                  <a:srgbClr val="FFFFFF"/>
                </a:solidFill>
              </a:rPr>
              <a:t>Every AI Agent and App make decisions.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DDB182D-B6E3-E553-D3F2-188663816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48640" y="1920240"/>
            <a:ext cx="548640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0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307939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2196F3"/>
                </a:solidFill>
                <a:latin typeface="Calibri"/>
              </a:rPr>
              <a:t>1. Ask for a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400" b="0" dirty="0">
                <a:solidFill>
                  <a:srgbClr val="FFFFFF"/>
                </a:solidFill>
                <a:latin typeface="Courier New"/>
              </a:rPr>
              <a:t>/predict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32469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Returns the best </a:t>
            </a:r>
            <a:r>
              <a:rPr lang="en-US" b="0" dirty="0">
                <a:solidFill>
                  <a:srgbClr val="A0AABB"/>
                </a:solidFill>
                <a:latin typeface="Calibri"/>
              </a:rPr>
              <a:t>outcome so far </a:t>
            </a:r>
            <a:endParaRPr b="0" dirty="0">
              <a:solidFill>
                <a:srgbClr val="A0AAB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48640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920240"/>
            <a:ext cx="548640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274094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2196F3"/>
                </a:solidFill>
                <a:latin typeface="Calibri"/>
              </a:rPr>
              <a:t>2. Tell it 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400" b="0" dirty="0">
                <a:solidFill>
                  <a:srgbClr val="FFFFFF"/>
                </a:solidFill>
                <a:latin typeface="Courier New"/>
              </a:rPr>
              <a:t>/reward
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63440"/>
            <a:ext cx="47924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Model updates in microseconds. Learns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1278" y="5816938"/>
            <a:ext cx="884626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2000" b="1" dirty="0">
                <a:solidFill>
                  <a:schemeClr val="bg2"/>
                </a:solidFill>
                <a:latin typeface="Calibri"/>
              </a:rPr>
              <a:t>No model training.  No ML team.  No infrastructure.  Ship in an afternoon.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095A4D-319A-1E9C-B068-92D776F188B0}"/>
              </a:ext>
            </a:extLst>
          </p:cNvPr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BD78A7-9D99-6FB3-B6E5-C8CBCD3B85A0}"/>
              </a:ext>
            </a:extLst>
          </p:cNvPr>
          <p:cNvSpPr txBox="1"/>
          <p:nvPr/>
        </p:nvSpPr>
        <p:spPr>
          <a:xfrm>
            <a:off x="640080" y="274320"/>
            <a:ext cx="991329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sz="2800" b="1" dirty="0">
                <a:solidFill>
                  <a:srgbClr val="FFFFFF"/>
                </a:solidFill>
              </a:rPr>
              <a:t>BanditDB learns from every decision —</a:t>
            </a:r>
            <a:r>
              <a:rPr lang="bg-BG" sz="2800" b="1" dirty="0">
                <a:solidFill>
                  <a:srgbClr val="FFFFFF"/>
                </a:solidFill>
              </a:rPr>
              <a:t> </a:t>
            </a:r>
            <a:r>
              <a:rPr lang="en-US" sz="2800" b="1" dirty="0">
                <a:solidFill>
                  <a:srgbClr val="FFFFFF"/>
                </a:solidFill>
              </a:rPr>
              <a:t>automatically in real-time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BB812B6-58A0-C025-AB99-40B5F2EEE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Five algorithms. One binary. Autonomous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10312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LinUCB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182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Linear rewards
Fastest convergence
Production default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79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97479" y="1508760"/>
            <a:ext cx="210312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39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Thompson
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514600"/>
            <a:ext cx="182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/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A0AABB"/>
                </a:solidFill>
                <a:latin typeface="Calibri"/>
              </a:rPr>
              <a:t>Bayesian exploration
Best under
stochastic rewards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1508760"/>
            <a:ext cx="210312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NeuralLinUCB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51460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/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A0AABB"/>
                </a:solidFill>
                <a:latin typeface="Calibri"/>
              </a:rPr>
              <a:t>Non-linear rewards
MLP embedding
14× less memory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19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60919" y="1508760"/>
            <a:ext cx="210312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NeuralTS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514600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Best long-run
convergence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1508760"/>
            <a:ext cx="210312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800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Progressive
Tournament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51460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Unsure which fits?
BanditDB picks
the winner for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1857" y="5349240"/>
            <a:ext cx="930728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2000" b="1" dirty="0">
                <a:solidFill>
                  <a:srgbClr val="A0AABB"/>
                </a:solidFill>
                <a:latin typeface="Calibri"/>
              </a:rPr>
              <a:t>Written in Rust · Sub-millisecond predictions · </a:t>
            </a:r>
            <a:r>
              <a:rPr lang="en-US" sz="2000" b="1" dirty="0">
                <a:solidFill>
                  <a:srgbClr val="A0AABB"/>
                </a:solidFill>
                <a:latin typeface="Calibri"/>
              </a:rPr>
              <a:t>Full backup and restore</a:t>
            </a:r>
            <a:endParaRPr sz="2000" b="1" dirty="0">
              <a:solidFill>
                <a:srgbClr val="A0AAB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8656" y="5870674"/>
            <a:ext cx="971368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2000" b="1" dirty="0">
                <a:solidFill>
                  <a:srgbClr val="2196F3"/>
                </a:solidFill>
                <a:latin typeface="Calibri"/>
              </a:rPr>
              <a:t>Works natively with Claude</a:t>
            </a:r>
            <a:r>
              <a:rPr lang="en-US" sz="2000" b="1" dirty="0">
                <a:solidFill>
                  <a:srgbClr val="2196F3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2196F3"/>
                </a:solidFill>
                <a:latin typeface="Calibri"/>
              </a:rPr>
              <a:t>and other AI agents via MCP (Model Context Protocol)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D92A895-5250-20A3-59F4-9353BCDAC2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You always know what your model is doing — and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9342" y="2821810"/>
            <a:ext cx="50800" cy="1051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59382" y="2432090"/>
            <a:ext cx="223939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/>
          </a:p>
          <a:p>
            <a:pPr algn="l">
              <a:spcBef>
                <a:spcPts val="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</a:rPr>
              <a:t>Entropy alerting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9382" y="302123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Detects arm collapse before it hurts revenue.
OK / Warning / Critical —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9342" y="4486030"/>
            <a:ext cx="50800" cy="1051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59382" y="4096310"/>
            <a:ext cx="263110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/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Calibri"/>
              </a:rPr>
              <a:t>Convergence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9382" y="468545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95% CI per arm. Tells you exactly when
the experiment is done.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9536" y="2821810"/>
            <a:ext cx="50800" cy="10515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9576" y="2432090"/>
            <a:ext cx="195726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/>
          </a:p>
          <a:p>
            <a:pPr algn="l">
              <a:spcBef>
                <a:spcPts val="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</a:rPr>
              <a:t>Full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576" y="302123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WAL + JSONL audit log. Every predict and
reward recorded for compliance.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536" y="4486030"/>
            <a:ext cx="50800" cy="1051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9576" y="4096310"/>
            <a:ext cx="209794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/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Calibri"/>
              </a:rPr>
              <a:t>Parquet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576" y="468545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Every checkpoint exports matched
predict→reward pairs. Analyze anywhere.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9342" y="6127130"/>
            <a:ext cx="778822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Enterprise-ready: RBAC · Rate limiting · Multi-tenancy · Audit log · OpenAPI spec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3A89320-BF35-51C3-4001-6479768ED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F712F46-ED57-2108-FDDF-2DCFA7FE9250}"/>
              </a:ext>
            </a:extLst>
          </p:cNvPr>
          <p:cNvSpPr txBox="1"/>
          <p:nvPr/>
        </p:nvSpPr>
        <p:spPr>
          <a:xfrm>
            <a:off x="640080" y="1280160"/>
            <a:ext cx="91867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sz="3600" b="1" dirty="0">
                <a:solidFill>
                  <a:srgbClr val="2196F3"/>
                </a:solidFill>
                <a:latin typeface="Calibri"/>
              </a:rPr>
              <a:t>BanditDB ships fill observability out of the box.</a:t>
            </a:r>
            <a:endParaRPr lang="en-US" sz="3600" dirty="0">
              <a:solidFill>
                <a:srgbClr val="A0AAB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Not a vector database. A fundamentally different memory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0" dirty="0">
                <a:solidFill>
                  <a:srgbClr val="A0AABB"/>
                </a:solidFill>
                <a:latin typeface="Calibri"/>
              </a:rPr>
              <a:t>Vector DBs answer: "what's similar?"    BanditDB answers: "what works?"    And it never forgets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256032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627632"/>
            <a:ext cx="23774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63240" y="1536192"/>
            <a:ext cx="411480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72968" y="1627632"/>
            <a:ext cx="39319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Vector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7768" y="1627632"/>
            <a:ext cx="39319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BanditDB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56032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2194560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Storage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103120"/>
            <a:ext cx="411480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2968" y="2194560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O(n) — grows with every document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103120"/>
            <a:ext cx="4114800" cy="566928"/>
          </a:xfrm>
          <a:prstGeom prst="rect">
            <a:avLst/>
          </a:prstGeom>
          <a:solidFill>
            <a:srgbClr val="05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87768" y="2194560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O(d²) — fixed size forever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70048"/>
            <a:ext cx="256032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63240" y="2670048"/>
            <a:ext cx="411480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78040" y="2670048"/>
            <a:ext cx="4114800" cy="566928"/>
          </a:xfrm>
          <a:prstGeom prst="rect">
            <a:avLst/>
          </a:prstGeom>
          <a:solidFill>
            <a:srgbClr val="0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236976"/>
            <a:ext cx="256032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328416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3236976"/>
            <a:ext cx="411480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72968" y="3328416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Find similar items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236976"/>
            <a:ext cx="4114800" cy="566928"/>
          </a:xfrm>
          <a:prstGeom prst="rect">
            <a:avLst/>
          </a:prstGeom>
          <a:solidFill>
            <a:srgbClr val="05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87768" y="3328416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Make optimal decisions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803904"/>
            <a:ext cx="256032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3895344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3803904"/>
            <a:ext cx="411480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72968" y="3895344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None — static index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803904"/>
            <a:ext cx="4114800" cy="566928"/>
          </a:xfrm>
          <a:prstGeom prst="rect">
            <a:avLst/>
          </a:prstGeom>
          <a:solidFill>
            <a:srgbClr val="0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87768" y="3895344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Continuous — every reward updates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370832"/>
            <a:ext cx="256032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" y="4462272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Handles drift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4370832"/>
            <a:ext cx="411480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72968" y="4462272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Delete &amp; re-index old vectors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370832"/>
            <a:ext cx="4114800" cy="566928"/>
          </a:xfrm>
          <a:prstGeom prst="rect">
            <a:avLst/>
          </a:prstGeom>
          <a:solidFill>
            <a:srgbClr val="05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87768" y="4462272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Decay parameter fades old signal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937760"/>
            <a:ext cx="256032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" y="5029200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Query type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4937760"/>
            <a:ext cx="411480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72968" y="5029200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Nearest neighbour search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8040" y="4937760"/>
            <a:ext cx="4114800" cy="566928"/>
          </a:xfrm>
          <a:prstGeom prst="rect">
            <a:avLst/>
          </a:prstGeom>
          <a:solidFill>
            <a:srgbClr val="0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87768" y="5029200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Predict best action for 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5760720"/>
            <a:ext cx="12188952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5852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FF6D00"/>
                </a:solidFill>
                <a:latin typeface="Calibri"/>
              </a:rPr>
              <a:t>Condensed knowledge, not raw data 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217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A_inv and θ compress 1M interactions into a fixed 32×32 matrix.
More data makes it smarter — not bigger.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5806440"/>
            <a:ext cx="12700" cy="9144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5852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2196F3"/>
                </a:solidFill>
                <a:latin typeface="Calibri"/>
              </a:rPr>
              <a:t>Adaptive forgetting — stays current automatically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62179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decay_half_life_hours fades old signal at every checkpoint.
No manual re-training. No stale models. Adapts to concept drift.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99742C47-ED4E-9FA2-40DF-CE27FBC1B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Real results. Measured against ground truth.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91%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of oracle performance
on real customer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0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75.6%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normalized improvement
vs random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74920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&lt;1ms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prediction latency
at 1,000+ req/sec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6640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21×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less memory than
naive ML 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59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38359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799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2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to integrate
predict + 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000" b="0">
                <a:solidFill>
                  <a:srgbClr val="A0AABB"/>
                </a:solidFill>
                <a:latin typeface="Calibri"/>
              </a:rPr>
              <a:t>B2B SaaS churn prevention benchmark · NeuralLinUCB · 384-dim sentence embeddings · 20K interactions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394960"/>
            <a:ext cx="12188952" cy="123444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000" b="1">
                <a:solidFill>
                  <a:srgbClr val="2196F3"/>
                </a:solidFill>
                <a:latin typeface="Calibri"/>
              </a:rPr>
              <a:t>PROVEN USE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Churn prevention  ·  Dynamic pricing  ·  Content recommendation  ·  A/B testing  ·  Clinical trials  ·  AI agent decisions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709E79A7-70D1-FFCE-AB5E-139D5F92D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Every app that makes decisions is a customer.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4800" b="1">
                <a:solidFill>
                  <a:srgbClr val="2196F3"/>
                </a:solidFill>
                <a:latin typeface="Calibri"/>
              </a:rPr>
              <a:t>$47B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A0AABB"/>
                </a:solidFill>
                <a:latin typeface="Calibri"/>
              </a:rPr>
              <a:t>ML/AI
Infrastructure
Market (2026)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4800" b="1">
                <a:solidFill>
                  <a:srgbClr val="2196F3"/>
                </a:solidFill>
                <a:latin typeface="Calibri"/>
              </a:rPr>
              <a:t>$12B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63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A0AABB"/>
                </a:solidFill>
                <a:latin typeface="Calibri"/>
              </a:rPr>
              <a:t>Personalization
Engine
Market (2026)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55448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4800" b="1">
                <a:solidFill>
                  <a:srgbClr val="FF6D00"/>
                </a:solidFill>
                <a:latin typeface="Calibri"/>
              </a:rPr>
              <a:t>$8B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063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A0AABB"/>
                </a:solidFill>
                <a:latin typeface="Calibri"/>
              </a:rPr>
              <a:t>Decision
Intelligence
Market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BanditDB sits at the intersection — a new category: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</a:rPr>
              <a:t>Decision Intelligence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400" b="0" dirty="0">
                <a:solidFill>
                  <a:srgbClr val="2196F3"/>
                </a:solidFill>
                <a:latin typeface="Calibri"/>
              </a:rPr>
              <a:t>The database layer that every AI-native application will need.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3ABCFD1-3F8B-5280-8802-679FC01A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</a:rPr>
              <a:t>AI agents need decision infrastructure.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080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AI agents make
millions of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0" dirty="0">
                <a:solidFill>
                  <a:srgbClr val="A0AABB"/>
                </a:solidFill>
                <a:latin typeface="Calibri"/>
              </a:rPr>
              <a:t>GPT, Claude, and Gemini agents take actions at scale. None of them currently learn which decisions work best. BanditDB closes that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080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The data science
bottleneck is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461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0" dirty="0">
                <a:solidFill>
                  <a:srgbClr val="A0AABB"/>
                </a:solidFill>
                <a:latin typeface="Calibri"/>
              </a:rPr>
              <a:t>73% of ML projects never reach production (Gartner). BanditDB ships learning in an afternoon without a data scientist.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5080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Rust + open source
is the right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A0AABB"/>
                </a:solidFill>
                <a:latin typeface="Calibri"/>
              </a:rPr>
              <a:t>Sub-millisecond latency, 21× memory efficiency, Apache 2.0. The infrastructure layer wins by being fast, cheap, and trusted.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4E64E1C-4142-2D1F-9A5A-FBB4BACEB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Open-core model. Proven at scale by MongoDB, Elastic, and Redis.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57600" cy="4709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0" cy="63500"/>
          </a:xfrm>
          <a:prstGeom prst="rect">
            <a:avLst/>
          </a:prstGeom>
          <a:solidFill>
            <a:srgbClr val="455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6184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45566B"/>
                </a:solidFill>
                <a:latin typeface="Calibri"/>
              </a:rPr>
              <a:t>OPEN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9280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Self-Hosted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8658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45566B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6207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A0AABB"/>
                </a:solidFill>
                <a:latin typeface="Calibri"/>
              </a:rPr>
              <a:t>forever · Apache 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3172968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331927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All 5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66674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WAL + checkpoint durability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014216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Full HTTP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36168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RBAC + 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70916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Parquet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05663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MCP server for AI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54041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Community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1508760"/>
            <a:ext cx="3657600" cy="4709160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07408" y="1508760"/>
            <a:ext cx="365760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16184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2196F3"/>
                </a:solidFill>
                <a:latin typeface="Calibri"/>
              </a:rPr>
              <a:t>BANDITDB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89280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Managed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38658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2196F3"/>
                </a:solidFill>
                <a:latin typeface="Calibri"/>
              </a:rPr>
              <a:t>Usage-based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86207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A0AABB"/>
                </a:solidFill>
                <a:latin typeface="Calibri"/>
              </a:rPr>
              <a:t>from $0.0001 / prediction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172968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31927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Everything in Open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66674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Zero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014216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Auto-scaling to 100K+ req/sec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6168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Web dashboard +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0916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Automatic backups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5663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99.9%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4041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Email + chat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11896" y="1508760"/>
            <a:ext cx="3657600" cy="4709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11896" y="1508760"/>
            <a:ext cx="365760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76488" y="16184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F6D00"/>
                </a:solidFill>
                <a:latin typeface="Calibri"/>
              </a:rPr>
              <a:t>ENTERPRISE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488" y="189280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Private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238658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6D00"/>
                </a:solidFill>
                <a:latin typeface="Calibri"/>
              </a:rPr>
              <a:t>Custom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286207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A0AABB"/>
                </a:solidFill>
                <a:latin typeface="Calibri"/>
              </a:rPr>
              <a:t>annual contract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76488" y="3172968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76488" y="331927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Everything in Cloud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6488" y="366674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On-premise or VPC 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8" y="4014216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SSO / SAML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6488" y="436168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SOC 2 · HIPAA · GDPR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6488" y="470916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Dedicated SLA (99.99%)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8" y="505663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Custom integrations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6488" y="54041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Dedicated success engineer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7F5FA080-5E91-19D2-3289-5C6D9FAAD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</a:rPr>
              <a:t>BanditDB  · 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3400" b="1" dirty="0">
                <a:solidFill>
                  <a:srgbClr val="FFFFFF"/>
                </a:solidFill>
                <a:latin typeface="Calibri"/>
              </a:rPr>
              <a:t>We're raising $2M to make BanditDB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3400" b="1">
                <a:solidFill>
                  <a:srgbClr val="2196F3"/>
                </a:solidFill>
                <a:latin typeface="Calibri"/>
              </a:rPr>
              <a:t>the decision layer for every AI-native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356616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Engineering 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Managed cloud, enterprise auth, Prometheus metrics, horizontal scaling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651760"/>
            <a:ext cx="356616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Go-to-Market 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20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Developer relations, enterprise sales, docs, community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2651760"/>
            <a:ext cx="356616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Operations 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20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Infrastructure, security audit, legal,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400" b="0" dirty="0" err="1">
                <a:solidFill>
                  <a:srgbClr val="FFFFFF"/>
                </a:solidFill>
                <a:latin typeface="Calibri"/>
              </a:rPr>
              <a:t>s.lukov@dynamicpricing.ai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dynamicpricing.ai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 ·  github.com/dynamicpricing-ai/banditdb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100" b="0" dirty="0">
                <a:solidFill>
                  <a:srgbClr val="2196F3"/>
                </a:solidFill>
                <a:latin typeface="Courier New"/>
              </a:rPr>
              <a:t>Try it now:  curl -</a:t>
            </a:r>
            <a:r>
              <a:rPr sz="1100" b="0" dirty="0" err="1">
                <a:solidFill>
                  <a:srgbClr val="2196F3"/>
                </a:solidFill>
                <a:latin typeface="Courier New"/>
              </a:rPr>
              <a:t>fsSL</a:t>
            </a:r>
            <a:r>
              <a:rPr sz="1100" b="0" dirty="0">
                <a:solidFill>
                  <a:srgbClr val="2196F3"/>
                </a:solidFill>
                <a:latin typeface="Courier New"/>
              </a:rPr>
              <a:t> https://</a:t>
            </a:r>
            <a:r>
              <a:rPr sz="1100" b="0" dirty="0" err="1">
                <a:solidFill>
                  <a:srgbClr val="2196F3"/>
                </a:solidFill>
                <a:latin typeface="Courier New"/>
              </a:rPr>
              <a:t>raw.githubusercontent.com</a:t>
            </a:r>
            <a:r>
              <a:rPr sz="1100" b="0" dirty="0">
                <a:solidFill>
                  <a:srgbClr val="2196F3"/>
                </a:solidFill>
                <a:latin typeface="Courier New"/>
              </a:rPr>
              <a:t>/dynamicpricing-ai/banditdb/main/scripts/</a:t>
            </a:r>
            <a:r>
              <a:rPr sz="1100" b="0" dirty="0" err="1">
                <a:solidFill>
                  <a:srgbClr val="2196F3"/>
                </a:solidFill>
                <a:latin typeface="Courier New"/>
              </a:rPr>
              <a:t>install.sh</a:t>
            </a:r>
            <a:r>
              <a:rPr sz="1100" b="0" dirty="0">
                <a:solidFill>
                  <a:srgbClr val="2196F3"/>
                </a:solidFill>
                <a:latin typeface="Courier New"/>
              </a:rPr>
              <a:t> | </a:t>
            </a:r>
            <a:r>
              <a:rPr sz="1100" b="0" dirty="0" err="1">
                <a:solidFill>
                  <a:srgbClr val="2196F3"/>
                </a:solidFill>
                <a:latin typeface="Courier New"/>
              </a:rPr>
              <a:t>sh</a:t>
            </a:r>
            <a:endParaRPr sz="1100" b="0" dirty="0">
              <a:solidFill>
                <a:srgbClr val="2196F3"/>
              </a:solidFill>
              <a:latin typeface="Courier New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C4A1CEB-F475-ABC8-74C9-660E084893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4322</TotalTime>
  <Words>999</Words>
  <Application>Microsoft Macintosh PowerPoint</Application>
  <PresentationFormat>Custom</PresentationFormat>
  <Paragraphs>284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Simeon Lukov</cp:lastModifiedBy>
  <cp:revision>2</cp:revision>
  <dcterms:created xsi:type="dcterms:W3CDTF">2013-01-27T09:14:16Z</dcterms:created>
  <dcterms:modified xsi:type="dcterms:W3CDTF">2026-06-08T15:20:23Z</dcterms:modified>
  <cp:category/>
</cp:coreProperties>
</file>