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EE0C5-4E6F-054B-BC18-D1820C2BC5C1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36018-D559-6144-94CE-093755614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5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5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6C47-B709-4462-5514-1BD66CBF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6EFA4-7BB6-52FA-107D-E5A2D69A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C25D3-400E-1D70-FFE5-192C66B90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90DA6-A567-ADE5-E621-A8D2B4D4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8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EC65-7197-DD8E-6A07-84BA67CF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9D978-B965-9B69-52E2-EA4F430C0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249E7-50B2-E529-2FF2-8A4860E1A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944A0-B6B7-9770-75D5-AFDA9D91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65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844B7-A6C7-FB42-EB2A-D1732E78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70898-FC98-94FD-E1B2-BF4BE64C0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C950C-DD20-67C3-E610-3B27D79CF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59F65-54BC-BE38-D75A-D344ECE11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21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1CE2-A89E-66AC-DDD2-9A4E55DC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2081C-E851-3AF6-83CB-ADF28FE95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BFD11A-7973-077F-BF79-27638B30A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075C4-1D10-0EE7-36B1-BE5408261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53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4280-64D4-8888-145D-032EE258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7DF7B-5D75-DC4D-905D-0AC3F65DE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E670-FB36-4118-F272-3F1092BCD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CA88-D8A4-1FB9-E45E-E6D0308BB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22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E518-F44B-F6B3-1B8A-580C8603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35106-69FB-CBA4-D821-A67BA59F3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F440A-96B1-F435-F434-524367AB2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5B99D-EB76-1FA9-44C4-7ECFE3100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90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ABB7-415B-67C3-3114-34F4DE5F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4AABF-9562-603F-A862-5FC6A759B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63CD4-6E40-5F5E-C7DF-8ABCE86DE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10E5B-108F-E7D3-D532-DABB50C03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96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DF5E-EADD-5537-D9DF-54712EA2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76939-C4E4-0449-6F5F-B08EDA217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77C99-4297-B0CE-75AD-880563A0A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93731-CBA5-7584-719E-1BFE1BC3A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1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4DD2-6D19-66D5-2601-6A758D7E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D7AB1-5389-090E-6848-094DDD7E6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6F3C-A28F-1875-3010-4C7458781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82EC8-F141-2F90-6314-B6029566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53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AD87-C63B-A385-3779-19D0DBD1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81E0-E275-54F1-D09E-A359C8430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2E73E-4A8B-18F1-FEB7-47EEB5264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9F60-AF87-AF43-AC4E-B279D1CD2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B3CD-526F-ED82-58CE-6FEC63C2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9854C-1D67-9470-14C6-278F15F3C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C6F42-CB3C-3E6D-91B2-D1EAFD48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6970D-8A47-4E6A-C902-27C499B3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F266B-DF83-6862-B28C-017769F9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8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FBB3-F186-33F1-2253-15599EF3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0427-8FC6-6C0F-E963-4163DD97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27727-836F-D4F9-166F-8F0E6356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8291-BE63-44AB-2A49-FBB137C0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25E37-F721-2B31-E671-365B85D3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0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8F53-07F8-DD20-DAE1-1B41A36A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171F7-CB26-E415-0517-23E566556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5FB7-754A-6CBA-DCB7-1540B8D5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CB4D-CCF7-73F9-E7BD-65640BA2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BEE2-6CB6-8470-E607-F356085E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4847-3639-46E4-9D47-AF769AF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1E193-7062-5BB5-30BF-63076AE3A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4D3BB-CD57-EFF1-0184-9404EB753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2D554-F002-D1AC-74F5-1721D256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AE47-CF08-D8A1-FE2A-B0A461C0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D4654-CE6D-1433-CFAD-B02053AF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AB61-7880-E34B-7124-4C29BF47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E15EA-5203-DBC4-3D92-1118B185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3D7D3-9CA1-BFA6-72B1-2E38C7FB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BA08B-D9E5-6DEB-0632-D349F0F8B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226E5-E866-50F1-F497-CE8419597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88BFE-C322-F375-9FDF-E893471B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92C2A-1CB2-7222-88F5-10F70E41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0B05F-593D-39B6-25E9-3338D13A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1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781E-D33F-6A89-2565-8302EB8B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7891-25F0-2752-C9AB-DCB87D6E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F9CD9-89A3-BB63-A50F-24AEAFB8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1D2E5-13AE-91D0-18E3-6838E023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1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83DFA-0A3D-1A0C-E420-28D8ACEC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39716-6D7A-8E6F-3D7E-DA2C2F6B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D701E-BAF4-5349-ED7C-A1A76032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C23-FAF1-0B53-AB03-59C7D202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6FF7-2FC7-E056-607D-7815278B5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9EE2B-3C2B-B9F3-677D-FD41AD68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BDE96-3045-8159-BFE3-CC561749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BBEDA-1ACE-7E0C-55C2-986C9987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5100D-E7B9-78AB-8124-8DA8F461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9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E33E-5495-D9D3-CCD3-46AFA32DE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FDE62-668B-9D59-061B-3C6D82D35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1B3E3-C803-F275-8246-26B45EEB7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4EC63-435C-EB55-56DF-1D83EBBF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FC0B3-0064-BCE9-D5BE-46FDBC92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B077A-8A24-9745-C647-69242F2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0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9A54-CA4E-2F35-ADFD-0F954302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60868-78CD-DA25-DED8-E61C7D8FC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A15D-656B-74A7-723E-60C32B83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C59A-E3D4-8A8C-E14D-3F38932E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D226-AD73-5290-9EB1-C1FA88E6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3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B26C0-958C-86F2-3FDA-EA6B882CD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5CF10-7539-85EF-5DB7-FFD7D34A7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F718-9177-EB1B-0E37-E877A0F1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6D97-4D99-BCAB-053E-DE5D7AD1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3BACA-EF85-6B12-91E3-C569320D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6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6AD40-33FB-AF91-5F08-50C5C356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5295-8084-FC88-AA19-78678E678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9037-9DCF-3991-CFE8-E668549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98202-5ED3-3231-CA57-50AB0D9E4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18F7-426A-9575-72C0-A3FF2E898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1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.lukov@dynamicpricing.ai" TargetMode="External"/><Relationship Id="rId4" Type="http://schemas.openxmlformats.org/officeDocument/2006/relationships/hyperlink" Target="https://banditdb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.lukov@dynamicpricing.ai" TargetMode="External"/><Relationship Id="rId4" Type="http://schemas.openxmlformats.org/officeDocument/2006/relationships/hyperlink" Target="https://banditd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021198-97F4-6FD4-03B1-4927CD8561A9}"/>
              </a:ext>
            </a:extLst>
          </p:cNvPr>
          <p:cNvSpPr txBox="1"/>
          <p:nvPr/>
        </p:nvSpPr>
        <p:spPr>
          <a:xfrm>
            <a:off x="5486410" y="531627"/>
            <a:ext cx="1219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INTRODUCING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B86F044-BA91-CEB9-42C8-D757FCA27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8733" y="1586876"/>
            <a:ext cx="5394533" cy="2809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F9823-82A0-28F2-112A-8D076FC352AB}"/>
              </a:ext>
            </a:extLst>
          </p:cNvPr>
          <p:cNvSpPr txBox="1"/>
          <p:nvPr/>
        </p:nvSpPr>
        <p:spPr>
          <a:xfrm>
            <a:off x="3810011" y="4070003"/>
            <a:ext cx="4602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Decision Memory Database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E7406-3E54-EA6E-D1D3-82524C77DE72}"/>
              </a:ext>
            </a:extLst>
          </p:cNvPr>
          <p:cNvSpPr txBox="1"/>
          <p:nvPr/>
        </p:nvSpPr>
        <p:spPr>
          <a:xfrm>
            <a:off x="3024635" y="6157096"/>
            <a:ext cx="6680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4"/>
              </a:rPr>
              <a:t>https://banditdb.com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contact: Simeon Lukov,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5"/>
              </a:rPr>
              <a:t>s.lukov@dynamicpricing.ai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2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A4E8-0D2A-2E21-56FC-B51AC21B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60B7F3F-052E-E5A3-3703-91298014E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86AAF3-01A3-9DC6-2599-3E0DA54DE734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4F3D8-EBAB-FC0E-615F-DB760771E4E9}"/>
              </a:ext>
            </a:extLst>
          </p:cNvPr>
          <p:cNvSpPr txBox="1"/>
          <p:nvPr/>
        </p:nvSpPr>
        <p:spPr>
          <a:xfrm>
            <a:off x="820833" y="676631"/>
            <a:ext cx="7561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Every AI Agent and App make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3B981-1776-C88B-3271-1B0608CEAFFA}"/>
              </a:ext>
            </a:extLst>
          </p:cNvPr>
          <p:cNvSpPr txBox="1"/>
          <p:nvPr/>
        </p:nvSpPr>
        <p:spPr>
          <a:xfrm>
            <a:off x="820833" y="1638062"/>
            <a:ext cx="4415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Most of them never learn.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BB0EE-D6F5-8E4C-17E4-DDAAE0FAE9AC}"/>
              </a:ext>
            </a:extLst>
          </p:cNvPr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82507-8376-52A4-648C-249729A4E3F2}"/>
              </a:ext>
            </a:extLst>
          </p:cNvPr>
          <p:cNvSpPr txBox="1"/>
          <p:nvPr/>
        </p:nvSpPr>
        <p:spPr>
          <a:xfrm>
            <a:off x="685800" y="2764971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ML pipelines
</a:t>
            </a:r>
            <a:r>
              <a:rPr sz="2000" b="1" u="sng" dirty="0">
                <a:solidFill>
                  <a:srgbClr val="FFC000"/>
                </a:solidFill>
                <a:latin typeface="Aptos" panose="020B0004020202020204" pitchFamily="34" charset="0"/>
              </a:rPr>
              <a:t>take months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6E666E-2D7B-9B0A-7B83-A0EEBEE347A8}"/>
              </a:ext>
            </a:extLst>
          </p:cNvPr>
          <p:cNvSpPr txBox="1"/>
          <p:nvPr/>
        </p:nvSpPr>
        <p:spPr>
          <a:xfrm>
            <a:off x="68580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Data science team, feature stores, model training</a:t>
            </a:r>
            <a:r>
              <a:rPr lang="en-US"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 and pipelines takes time</a:t>
            </a:r>
            <a:endParaRPr b="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4258E8-04CF-10E3-FA25-D71AA0749605}"/>
              </a:ext>
            </a:extLst>
          </p:cNvPr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0B73EE-D21D-6FE5-6E69-531EC9CAB82D}"/>
              </a:ext>
            </a:extLst>
          </p:cNvPr>
          <p:cNvSpPr txBox="1"/>
          <p:nvPr/>
        </p:nvSpPr>
        <p:spPr>
          <a:xfrm>
            <a:off x="4526280" y="2764971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A/B tests are
</a:t>
            </a:r>
            <a:r>
              <a:rPr sz="2000" b="1" u="sng" dirty="0">
                <a:solidFill>
                  <a:srgbClr val="FFC000"/>
                </a:solidFill>
                <a:latin typeface="Aptos" panose="020B0004020202020204" pitchFamily="34" charset="0"/>
              </a:rPr>
              <a:t>too slow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AE0BAA-7A96-6497-25DB-0F0F74EF9C64}"/>
              </a:ext>
            </a:extLst>
          </p:cNvPr>
          <p:cNvSpPr txBox="1"/>
          <p:nvPr/>
        </p:nvSpPr>
        <p:spPr>
          <a:xfrm>
            <a:off x="4526280" y="3725091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Split traffic 50/50 for weeks to reach significance. Revenue lost to the losing variant every day.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9C6A5B-6753-4C2F-4C93-81E7BDDCD7DC}"/>
              </a:ext>
            </a:extLst>
          </p:cNvPr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F7413-BEAF-4FA7-599C-81538E47B903}"/>
              </a:ext>
            </a:extLst>
          </p:cNvPr>
          <p:cNvSpPr txBox="1"/>
          <p:nvPr/>
        </p:nvSpPr>
        <p:spPr>
          <a:xfrm>
            <a:off x="8366760" y="2764971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Personalization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is </a:t>
            </a:r>
            <a:r>
              <a:rPr sz="2000" b="1" u="sng" dirty="0">
                <a:solidFill>
                  <a:srgbClr val="FFC000"/>
                </a:solidFill>
                <a:latin typeface="Aptos" panose="020B0004020202020204" pitchFamily="34" charset="0"/>
              </a:rPr>
              <a:t>expensive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8C8DA8-1DC3-3054-FABE-B46E39CCE261}"/>
              </a:ext>
            </a:extLst>
          </p:cNvPr>
          <p:cNvSpPr txBox="1"/>
          <p:nvPr/>
        </p:nvSpPr>
        <p:spPr>
          <a:xfrm>
            <a:off x="8366760" y="3725091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Real-time recommendation engines cost </a:t>
            </a:r>
            <a:r>
              <a:rPr lang="en-US"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hundred thousands </a:t>
            </a:r>
            <a:r>
              <a:rPr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to build and operate at scale.</a:t>
            </a:r>
          </a:p>
        </p:txBody>
      </p:sp>
    </p:spTree>
    <p:extLst>
      <p:ext uri="{BB962C8B-B14F-4D97-AF65-F5344CB8AC3E}">
        <p14:creationId xmlns:p14="http://schemas.microsoft.com/office/powerpoint/2010/main" val="32078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A8B5-BA5C-39B3-2B74-34A90120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7AEF266-AF46-48D1-69B0-24449B140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1E7036-951F-3DBD-E42C-DDCB2C5C302A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5DC98-79DD-95F5-2539-E8ADF22D5397}"/>
              </a:ext>
            </a:extLst>
          </p:cNvPr>
          <p:cNvSpPr txBox="1"/>
          <p:nvPr/>
        </p:nvSpPr>
        <p:spPr>
          <a:xfrm>
            <a:off x="820833" y="676631"/>
            <a:ext cx="8503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BanditDB learns from experience in real-time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5EB481-6405-D31E-5AD0-4003189A2641}"/>
              </a:ext>
            </a:extLst>
          </p:cNvPr>
          <p:cNvSpPr/>
          <p:nvPr/>
        </p:nvSpPr>
        <p:spPr>
          <a:xfrm>
            <a:off x="54864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DE238-6D20-81EC-4C2C-AE85E60FC9F5}"/>
              </a:ext>
            </a:extLst>
          </p:cNvPr>
          <p:cNvSpPr txBox="1"/>
          <p:nvPr/>
        </p:nvSpPr>
        <p:spPr>
          <a:xfrm>
            <a:off x="715455" y="2119184"/>
            <a:ext cx="39696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1. A</a:t>
            </a: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gent as</a:t>
            </a: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k</a:t>
            </a: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s</a:t>
            </a: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 for a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C8413-515B-678C-52E1-A6CD37A1F762}"/>
              </a:ext>
            </a:extLst>
          </p:cNvPr>
          <p:cNvSpPr txBox="1"/>
          <p:nvPr/>
        </p:nvSpPr>
        <p:spPr>
          <a:xfrm>
            <a:off x="797950" y="2486674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dirty="0">
                <a:solidFill>
                  <a:srgbClr val="FFFFFF"/>
                </a:solidFill>
                <a:latin typeface="Courier New"/>
              </a:rPr>
              <a:t>/predict
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6F0B7E-D25E-C795-9D84-18F55BAC38BD}"/>
              </a:ext>
            </a:extLst>
          </p:cNvPr>
          <p:cNvSpPr/>
          <p:nvPr/>
        </p:nvSpPr>
        <p:spPr>
          <a:xfrm>
            <a:off x="640080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0D4A69-D85E-6952-7C89-EEA8DEAB0C5C}"/>
              </a:ext>
            </a:extLst>
          </p:cNvPr>
          <p:cNvSpPr txBox="1"/>
          <p:nvPr/>
        </p:nvSpPr>
        <p:spPr>
          <a:xfrm>
            <a:off x="6567615" y="2119184"/>
            <a:ext cx="4611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C000"/>
                </a:solidFill>
                <a:latin typeface="Aptos" panose="020B0004020202020204" pitchFamily="34" charset="0"/>
              </a:rPr>
              <a:t>2. Tell it what happened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DB737-CCD5-D6E3-1FA8-5E068E48F795}"/>
              </a:ext>
            </a:extLst>
          </p:cNvPr>
          <p:cNvSpPr txBox="1"/>
          <p:nvPr/>
        </p:nvSpPr>
        <p:spPr>
          <a:xfrm>
            <a:off x="6664265" y="2501019"/>
            <a:ext cx="50993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dirty="0">
                <a:solidFill>
                  <a:srgbClr val="FFFFFF"/>
                </a:solidFill>
                <a:latin typeface="Courier New"/>
              </a:rPr>
              <a:t>/reward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6DC651-2206-B209-485E-D737D9F911D1}"/>
              </a:ext>
            </a:extLst>
          </p:cNvPr>
          <p:cNvSpPr txBox="1"/>
          <p:nvPr/>
        </p:nvSpPr>
        <p:spPr>
          <a:xfrm>
            <a:off x="1672866" y="5757252"/>
            <a:ext cx="884626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sz="2000" b="1" dirty="0">
                <a:latin typeface="Aptos" panose="020B0004020202020204" pitchFamily="34" charset="0"/>
              </a:rPr>
              <a:t>No model training.  No ML team.  No infrastructure.  Ship in an afternoon.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67887C-EDEA-8189-48FC-44A82E5AA24C}"/>
              </a:ext>
            </a:extLst>
          </p:cNvPr>
          <p:cNvSpPr txBox="1"/>
          <p:nvPr/>
        </p:nvSpPr>
        <p:spPr>
          <a:xfrm>
            <a:off x="755641" y="3554834"/>
            <a:ext cx="51385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Model-Tool-Skill selection  · Routing  · Orchestration </a:t>
            </a:r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· Experimentation</a:t>
            </a:r>
          </a:p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Personalization </a:t>
            </a:r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· Recommendation</a:t>
            </a:r>
          </a:p>
          <a:p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Education · Advertising </a:t>
            </a:r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· </a:t>
            </a:r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Engagement</a:t>
            </a:r>
          </a:p>
          <a:p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Clinical Trials · Fraud &amp; Risk · Dynamic Pricing</a:t>
            </a:r>
          </a:p>
          <a:p>
            <a:r>
              <a:rPr lang="en-US" b="0" dirty="0">
                <a:solidFill>
                  <a:schemeClr val="bg2"/>
                </a:solidFill>
                <a:latin typeface="Aptos" panose="020B0004020202020204" pitchFamily="34" charset="0"/>
              </a:rPr>
              <a:t>Churn Prevention </a:t>
            </a:r>
            <a:r>
              <a:rPr lang="en-US" dirty="0">
                <a:solidFill>
                  <a:schemeClr val="bg2"/>
                </a:solidFill>
                <a:latin typeface="Aptos" panose="020B0004020202020204" pitchFamily="34" charset="0"/>
              </a:rPr>
              <a:t> · · · </a:t>
            </a:r>
            <a:endParaRPr b="0" dirty="0">
              <a:solidFill>
                <a:schemeClr val="bg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75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6540A-FF1D-62B4-2A32-BB460478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AE3EF8-33B8-E939-15BA-A1B21F754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9B8F2B-0DA6-60BA-3DF2-098A979FE3A0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C4BF8-33FD-91CF-9C8D-DA0D5C9E0A09}"/>
              </a:ext>
            </a:extLst>
          </p:cNvPr>
          <p:cNvSpPr txBox="1"/>
          <p:nvPr/>
        </p:nvSpPr>
        <p:spPr>
          <a:xfrm>
            <a:off x="820833" y="676631"/>
            <a:ext cx="67313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Under the hood - 4 Models. 1 Binary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A8C386-9BE8-D0F8-AB2D-26D3877FE378}"/>
              </a:ext>
            </a:extLst>
          </p:cNvPr>
          <p:cNvSpPr/>
          <p:nvPr/>
        </p:nvSpPr>
        <p:spPr>
          <a:xfrm>
            <a:off x="365760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C6C815-0B7F-6D88-A764-3A7CD05BE4EC}"/>
              </a:ext>
            </a:extLst>
          </p:cNvPr>
          <p:cNvSpPr txBox="1"/>
          <p:nvPr/>
        </p:nvSpPr>
        <p:spPr>
          <a:xfrm>
            <a:off x="502920" y="2161196"/>
            <a:ext cx="1828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 dirty="0">
                <a:solidFill>
                  <a:srgbClr val="FFFFFF"/>
                </a:solidFill>
                <a:latin typeface="Aptos" panose="020B0004020202020204" pitchFamily="34" charset="0"/>
              </a:rPr>
              <a:t>LinUCB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9C101F-FC91-529D-63AE-9223037B37E4}"/>
              </a:ext>
            </a:extLst>
          </p:cNvPr>
          <p:cNvSpPr txBox="1"/>
          <p:nvPr/>
        </p:nvSpPr>
        <p:spPr>
          <a:xfrm>
            <a:off x="502920" y="2984156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Linear rewards
Fastest convergence
Production default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F640B-5C58-6242-864E-AEF26D7CC981}"/>
              </a:ext>
            </a:extLst>
          </p:cNvPr>
          <p:cNvSpPr/>
          <p:nvPr/>
        </p:nvSpPr>
        <p:spPr>
          <a:xfrm>
            <a:off x="2697479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EB637C-272D-C221-4489-55C606E8E931}"/>
              </a:ext>
            </a:extLst>
          </p:cNvPr>
          <p:cNvSpPr txBox="1"/>
          <p:nvPr/>
        </p:nvSpPr>
        <p:spPr>
          <a:xfrm>
            <a:off x="2834639" y="2161196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Thompson
Sampling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769C7-012E-F09A-4BCA-6300B7E0FF42}"/>
              </a:ext>
            </a:extLst>
          </p:cNvPr>
          <p:cNvSpPr txBox="1"/>
          <p:nvPr/>
        </p:nvSpPr>
        <p:spPr>
          <a:xfrm>
            <a:off x="2834639" y="2984156"/>
            <a:ext cx="1828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Bayesian exploration
Best under
stochastic rewards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65249-D8FF-78D1-B766-3A52C2ED1524}"/>
              </a:ext>
            </a:extLst>
          </p:cNvPr>
          <p:cNvSpPr/>
          <p:nvPr/>
        </p:nvSpPr>
        <p:spPr>
          <a:xfrm>
            <a:off x="5029200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AA6890-EF1D-AA6E-AEC1-7DB953807650}"/>
              </a:ext>
            </a:extLst>
          </p:cNvPr>
          <p:cNvSpPr txBox="1"/>
          <p:nvPr/>
        </p:nvSpPr>
        <p:spPr>
          <a:xfrm>
            <a:off x="5166360" y="2161196"/>
            <a:ext cx="1828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NeuralLinUCB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50D5C-DF95-F26C-476A-DBE4D2B15F0A}"/>
              </a:ext>
            </a:extLst>
          </p:cNvPr>
          <p:cNvSpPr txBox="1"/>
          <p:nvPr/>
        </p:nvSpPr>
        <p:spPr>
          <a:xfrm>
            <a:off x="5166360" y="2984156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Non-linear rewards
MLP embedding
14× less memory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900A56-C445-47F4-E2F6-9F2C0F581359}"/>
              </a:ext>
            </a:extLst>
          </p:cNvPr>
          <p:cNvSpPr/>
          <p:nvPr/>
        </p:nvSpPr>
        <p:spPr>
          <a:xfrm>
            <a:off x="7360919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AEE8A4-6934-6EC9-7C31-CF5F5D750F6F}"/>
              </a:ext>
            </a:extLst>
          </p:cNvPr>
          <p:cNvSpPr txBox="1"/>
          <p:nvPr/>
        </p:nvSpPr>
        <p:spPr>
          <a:xfrm>
            <a:off x="7498079" y="2161196"/>
            <a:ext cx="18288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NeuralTS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F1AC47-E60E-BBF6-26EB-96051DD6DA37}"/>
              </a:ext>
            </a:extLst>
          </p:cNvPr>
          <p:cNvSpPr txBox="1"/>
          <p:nvPr/>
        </p:nvSpPr>
        <p:spPr>
          <a:xfrm>
            <a:off x="7498079" y="2984156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Best long-run
convergence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D590A9-B8F2-EAAF-0DA3-82EA4264A177}"/>
              </a:ext>
            </a:extLst>
          </p:cNvPr>
          <p:cNvSpPr/>
          <p:nvPr/>
        </p:nvSpPr>
        <p:spPr>
          <a:xfrm>
            <a:off x="9692640" y="1978316"/>
            <a:ext cx="2103120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D4174F-7542-1115-4A22-49F9C1A8FE49}"/>
              </a:ext>
            </a:extLst>
          </p:cNvPr>
          <p:cNvSpPr/>
          <p:nvPr/>
        </p:nvSpPr>
        <p:spPr>
          <a:xfrm>
            <a:off x="9692640" y="1978316"/>
            <a:ext cx="2103120" cy="121095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875AAF-DE01-D250-6FEF-283BEE7905AF}"/>
              </a:ext>
            </a:extLst>
          </p:cNvPr>
          <p:cNvSpPr txBox="1"/>
          <p:nvPr/>
        </p:nvSpPr>
        <p:spPr>
          <a:xfrm>
            <a:off x="9829800" y="2161196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Aptos" panose="020B0004020202020204" pitchFamily="34" charset="0"/>
              </a:rPr>
              <a:t>Progressive
Tournament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6D768D-618F-E456-5407-92980DFA3D98}"/>
              </a:ext>
            </a:extLst>
          </p:cNvPr>
          <p:cNvSpPr txBox="1"/>
          <p:nvPr/>
        </p:nvSpPr>
        <p:spPr>
          <a:xfrm>
            <a:off x="9829800" y="2984156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accent4">
                  <a:lumMod val="20000"/>
                  <a:lumOff val="80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accent4">
                    <a:lumMod val="20000"/>
                    <a:lumOff val="80000"/>
                  </a:schemeClr>
                </a:solidFill>
                <a:latin typeface="Aptos" panose="020B0004020202020204" pitchFamily="34" charset="0"/>
              </a:rPr>
              <a:t>Unsure which fits?
BanditDB picks
the winner for you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0458B9-36F9-4434-6932-D03952C2F3B5}"/>
              </a:ext>
            </a:extLst>
          </p:cNvPr>
          <p:cNvSpPr txBox="1"/>
          <p:nvPr/>
        </p:nvSpPr>
        <p:spPr>
          <a:xfrm>
            <a:off x="1" y="541102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000" b="1" dirty="0">
                <a:latin typeface="Aptos" panose="020B0004020202020204" pitchFamily="34" charset="0"/>
              </a:rPr>
              <a:t>In-memory database ·  </a:t>
            </a:r>
            <a:r>
              <a:rPr sz="2000" b="1" dirty="0">
                <a:latin typeface="Aptos" panose="020B0004020202020204" pitchFamily="34" charset="0"/>
              </a:rPr>
              <a:t>Written in Rust · Sub-millisecond predictions · </a:t>
            </a:r>
            <a:r>
              <a:rPr lang="en-US" sz="2000" b="1" dirty="0">
                <a:latin typeface="Aptos" panose="020B0004020202020204" pitchFamily="34" charset="0"/>
              </a:rPr>
              <a:t>Full backup and restore</a:t>
            </a:r>
            <a:endParaRPr sz="2000" b="1" dirty="0"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BD68EA-A7DA-1153-F6EE-BFDCE432F254}"/>
              </a:ext>
            </a:extLst>
          </p:cNvPr>
          <p:cNvSpPr txBox="1"/>
          <p:nvPr/>
        </p:nvSpPr>
        <p:spPr>
          <a:xfrm>
            <a:off x="0" y="587067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sz="2000" b="1" dirty="0">
                <a:latin typeface="Aptos" panose="020B0004020202020204" pitchFamily="34" charset="0"/>
              </a:rPr>
              <a:t>Works natively with Claude</a:t>
            </a:r>
            <a:r>
              <a:rPr lang="en-US" sz="2000" b="1" dirty="0">
                <a:latin typeface="Aptos" panose="020B0004020202020204" pitchFamily="34" charset="0"/>
              </a:rPr>
              <a:t> </a:t>
            </a:r>
            <a:r>
              <a:rPr sz="2000" b="1" dirty="0">
                <a:latin typeface="Aptos" panose="020B0004020202020204" pitchFamily="34" charset="0"/>
              </a:rPr>
              <a:t>and other AI agents via MCP (Model Context Protocol)</a:t>
            </a:r>
          </a:p>
        </p:txBody>
      </p:sp>
    </p:spTree>
    <p:extLst>
      <p:ext uri="{BB962C8B-B14F-4D97-AF65-F5344CB8AC3E}">
        <p14:creationId xmlns:p14="http://schemas.microsoft.com/office/powerpoint/2010/main" val="1533729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30B2-1294-B4FD-CECA-84E9CAE2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5970FEC-8D81-05FF-F1B6-BE8EDF346B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0F0811-B3DF-F339-D4DE-985B2E3858DB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89880-106A-526C-F15F-4C5489519240}"/>
              </a:ext>
            </a:extLst>
          </p:cNvPr>
          <p:cNvSpPr txBox="1"/>
          <p:nvPr/>
        </p:nvSpPr>
        <p:spPr>
          <a:xfrm>
            <a:off x="820833" y="676631"/>
            <a:ext cx="8783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AI Observability &amp; Transparency out-of-the-box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D5AB6C-FD45-0343-5808-ADEA00546E5F}"/>
              </a:ext>
            </a:extLst>
          </p:cNvPr>
          <p:cNvSpPr/>
          <p:nvPr/>
        </p:nvSpPr>
        <p:spPr>
          <a:xfrm>
            <a:off x="1079846" y="279661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08784-03CD-A6A1-B519-783BC2C76E04}"/>
              </a:ext>
            </a:extLst>
          </p:cNvPr>
          <p:cNvSpPr txBox="1"/>
          <p:nvPr/>
        </p:nvSpPr>
        <p:spPr>
          <a:xfrm>
            <a:off x="1399886" y="2345109"/>
            <a:ext cx="239995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 dirty="0">
                <a:latin typeface="Aptos" panose="020B0004020202020204" pitchFamily="34" charset="0"/>
              </a:rPr>
              <a:t>Entropy alerting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B153D-8341-9CD8-810B-4D7F0D3CD0E0}"/>
              </a:ext>
            </a:extLst>
          </p:cNvPr>
          <p:cNvSpPr txBox="1"/>
          <p:nvPr/>
        </p:nvSpPr>
        <p:spPr>
          <a:xfrm>
            <a:off x="1399886" y="293424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Detects arm collapse before it hurts revenue.
OK / Warning / Critical — live</a:t>
            </a:r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dashboard</a:t>
            </a: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4C1AF5-5F72-A01B-0343-D06EA57C5F88}"/>
              </a:ext>
            </a:extLst>
          </p:cNvPr>
          <p:cNvSpPr/>
          <p:nvPr/>
        </p:nvSpPr>
        <p:spPr>
          <a:xfrm>
            <a:off x="1079846" y="446083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0054D5-2DB8-447E-04BD-2640F2A87C9C}"/>
              </a:ext>
            </a:extLst>
          </p:cNvPr>
          <p:cNvSpPr txBox="1"/>
          <p:nvPr/>
        </p:nvSpPr>
        <p:spPr>
          <a:xfrm>
            <a:off x="1399886" y="4009329"/>
            <a:ext cx="29280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 dirty="0">
                <a:latin typeface="Aptos" panose="020B0004020202020204" pitchFamily="34" charset="0"/>
              </a:rPr>
              <a:t>Convergence signal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17A468-31CA-FF82-979E-F97C8C156C1F}"/>
              </a:ext>
            </a:extLst>
          </p:cNvPr>
          <p:cNvSpPr txBox="1"/>
          <p:nvPr/>
        </p:nvSpPr>
        <p:spPr>
          <a:xfrm>
            <a:off x="1399886" y="459846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95% CI per arm. Tells you exactly when
the experiment is done.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3845EF-A4E8-5F44-0075-23A1CEDEE6BD}"/>
              </a:ext>
            </a:extLst>
          </p:cNvPr>
          <p:cNvSpPr/>
          <p:nvPr/>
        </p:nvSpPr>
        <p:spPr>
          <a:xfrm>
            <a:off x="6159536" y="279661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0B2845-5E61-1655-7016-74A1D4B4F250}"/>
              </a:ext>
            </a:extLst>
          </p:cNvPr>
          <p:cNvSpPr txBox="1"/>
          <p:nvPr/>
        </p:nvSpPr>
        <p:spPr>
          <a:xfrm>
            <a:off x="6479576" y="2345109"/>
            <a:ext cx="211365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 dirty="0">
                <a:latin typeface="Aptos" panose="020B0004020202020204" pitchFamily="34" charset="0"/>
              </a:rPr>
              <a:t>Full audit trail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9A32BF-5141-129D-C42F-02467AEC6740}"/>
              </a:ext>
            </a:extLst>
          </p:cNvPr>
          <p:cNvSpPr txBox="1"/>
          <p:nvPr/>
        </p:nvSpPr>
        <p:spPr>
          <a:xfrm>
            <a:off x="6479576" y="293424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WAL + JSONL audit log. Every predict and
reward recorded for compliance.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CF0D1D-CA18-D86C-288B-4B40110D42AC}"/>
              </a:ext>
            </a:extLst>
          </p:cNvPr>
          <p:cNvSpPr/>
          <p:nvPr/>
        </p:nvSpPr>
        <p:spPr>
          <a:xfrm>
            <a:off x="6159536" y="446083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DE4786-94A6-F99C-7A5D-D7845391B129}"/>
              </a:ext>
            </a:extLst>
          </p:cNvPr>
          <p:cNvSpPr txBox="1"/>
          <p:nvPr/>
        </p:nvSpPr>
        <p:spPr>
          <a:xfrm>
            <a:off x="6479576" y="4009329"/>
            <a:ext cx="224439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400" b="1">
                <a:latin typeface="Aptos" panose="020B0004020202020204" pitchFamily="34" charset="0"/>
              </a:rPr>
              <a:t>Parquet export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B8001D-426D-C61A-12B8-B1BC5E573BBE}"/>
              </a:ext>
            </a:extLst>
          </p:cNvPr>
          <p:cNvSpPr txBox="1"/>
          <p:nvPr/>
        </p:nvSpPr>
        <p:spPr>
          <a:xfrm>
            <a:off x="6479576" y="459846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Every checkpoint exports matched
predict→reward pairs. Analyze anywhere.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3D619-B413-B716-1FAF-74113A4CDDC6}"/>
              </a:ext>
            </a:extLst>
          </p:cNvPr>
          <p:cNvSpPr txBox="1"/>
          <p:nvPr/>
        </p:nvSpPr>
        <p:spPr>
          <a:xfrm>
            <a:off x="-78800" y="5669561"/>
            <a:ext cx="1234959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sz="2000" b="1" dirty="0">
                <a:latin typeface="Aptos" panose="020B0004020202020204" pitchFamily="34" charset="0"/>
              </a:rPr>
              <a:t>Enterprise-ready: R</a:t>
            </a:r>
            <a:r>
              <a:rPr lang="en-US" sz="2000" b="1" dirty="0">
                <a:latin typeface="Aptos" panose="020B0004020202020204" pitchFamily="34" charset="0"/>
              </a:rPr>
              <a:t>ole-Based Access Control </a:t>
            </a:r>
            <a:r>
              <a:rPr sz="2000" b="1" dirty="0">
                <a:latin typeface="Aptos" panose="020B0004020202020204" pitchFamily="34" charset="0"/>
              </a:rPr>
              <a:t>· Rate limiting · Multi-tenancy · Audit log · OpenAPI spec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3B0BE2-24AE-AFD6-E769-26850A5EC210}"/>
              </a:ext>
            </a:extLst>
          </p:cNvPr>
          <p:cNvSpPr txBox="1"/>
          <p:nvPr/>
        </p:nvSpPr>
        <p:spPr>
          <a:xfrm>
            <a:off x="3192514" y="1628976"/>
            <a:ext cx="5380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Causal inference after every decision</a:t>
            </a:r>
          </a:p>
        </p:txBody>
      </p:sp>
    </p:spTree>
    <p:extLst>
      <p:ext uri="{BB962C8B-B14F-4D97-AF65-F5344CB8AC3E}">
        <p14:creationId xmlns:p14="http://schemas.microsoft.com/office/powerpoint/2010/main" val="253785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A4F3-60E7-B48F-F9E0-338FA03C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F29A4C0-4C45-D723-4E67-6C5588E9A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AB7B5-E3F0-A2AC-9B43-BDA7A151E4E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25991-6880-EE49-BC5F-24EB31EB7F16}"/>
              </a:ext>
            </a:extLst>
          </p:cNvPr>
          <p:cNvSpPr txBox="1"/>
          <p:nvPr/>
        </p:nvSpPr>
        <p:spPr>
          <a:xfrm>
            <a:off x="820833" y="676631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Competition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21020E-43CF-5EE7-5057-FD8C67688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717978"/>
              </p:ext>
            </p:extLst>
          </p:nvPr>
        </p:nvGraphicFramePr>
        <p:xfrm>
          <a:off x="820833" y="2680451"/>
          <a:ext cx="9975745" cy="29389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15214">
                  <a:extLst>
                    <a:ext uri="{9D8B030D-6E8A-4147-A177-3AD203B41FA5}">
                      <a16:colId xmlns:a16="http://schemas.microsoft.com/office/drawing/2014/main" val="573623447"/>
                    </a:ext>
                  </a:extLst>
                </a:gridCol>
                <a:gridCol w="3291664">
                  <a:extLst>
                    <a:ext uri="{9D8B030D-6E8A-4147-A177-3AD203B41FA5}">
                      <a16:colId xmlns:a16="http://schemas.microsoft.com/office/drawing/2014/main" val="2241853812"/>
                    </a:ext>
                  </a:extLst>
                </a:gridCol>
                <a:gridCol w="4468867">
                  <a:extLst>
                    <a:ext uri="{9D8B030D-6E8A-4147-A177-3AD203B41FA5}">
                      <a16:colId xmlns:a16="http://schemas.microsoft.com/office/drawing/2014/main" val="2029423232"/>
                    </a:ext>
                  </a:extLst>
                </a:gridCol>
              </a:tblGrid>
              <a:tr h="485268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Vector Database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C000"/>
                          </a:solidFill>
                        </a:rPr>
                        <a:t>BanditDB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15887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Find similar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Make optimal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952814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Storage grow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Grow with every 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Fixed size forever – condensed knowledge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383335"/>
                  </a:ext>
                </a:extLst>
              </a:tr>
              <a:tr h="512596">
                <a:tc>
                  <a:txBody>
                    <a:bodyPr/>
                    <a:lstStyle/>
                    <a:p>
                      <a:r>
                        <a:rPr lang="en-US" sz="1600" b="1" dirty="0"/>
                        <a:t>Query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Nearest neighbor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Predict best action for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965494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Non – static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Learn on every reword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178862"/>
                  </a:ext>
                </a:extLst>
              </a:tr>
              <a:tr h="485268">
                <a:tc>
                  <a:txBody>
                    <a:bodyPr/>
                    <a:lstStyle/>
                    <a:p>
                      <a:r>
                        <a:rPr lang="en-US" sz="1600" b="1" dirty="0"/>
                        <a:t>Answer: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What’s similar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ptos" panose="020B0004020202020204" pitchFamily="34" charset="0"/>
                        </a:rPr>
                        <a:t>What 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2494860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57CF9402-E33B-23D7-5D87-F8ECCC47C7B6}"/>
              </a:ext>
            </a:extLst>
          </p:cNvPr>
          <p:cNvGrpSpPr/>
          <p:nvPr/>
        </p:nvGrpSpPr>
        <p:grpSpPr>
          <a:xfrm>
            <a:off x="703444" y="1343484"/>
            <a:ext cx="10093134" cy="1017339"/>
            <a:chOff x="1049433" y="1767797"/>
            <a:chExt cx="10093134" cy="101733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2D249D-1C57-337A-20CC-9B4023F0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21667" y="2013252"/>
              <a:ext cx="2120900" cy="7493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8F9C3E0-6C44-0450-5523-9CCC78999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92864" y="1905074"/>
              <a:ext cx="2701846" cy="88006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AC802E-5763-8392-B986-582C0D5E1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9433" y="2212091"/>
              <a:ext cx="2829697" cy="468174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D4DC0D2-139A-D0C0-A52C-F28B9CD9B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52125" y="1767797"/>
              <a:ext cx="1767744" cy="912384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AAB3BF6-9995-CB74-5E44-F233804A1F50}"/>
              </a:ext>
            </a:extLst>
          </p:cNvPr>
          <p:cNvSpPr txBox="1"/>
          <p:nvPr/>
        </p:nvSpPr>
        <p:spPr>
          <a:xfrm>
            <a:off x="0" y="5551587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000" b="1" dirty="0">
                <a:latin typeface="Aptos" panose="020B0004020202020204" pitchFamily="34" charset="0"/>
              </a:rPr>
              <a:t>BanditDB sits at the intersection between:</a:t>
            </a:r>
          </a:p>
          <a:p>
            <a:pPr algn="ctr">
              <a:spcBef>
                <a:spcPts val="0"/>
              </a:spcBef>
            </a:pPr>
            <a:r>
              <a:rPr lang="en-US" sz="2000" b="1" dirty="0">
                <a:latin typeface="Aptos" panose="020B0004020202020204" pitchFamily="34" charset="0"/>
              </a:rPr>
              <a:t> new category database layer and decision intelligence </a:t>
            </a:r>
            <a:endParaRPr sz="20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0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42C8-CBBC-A19B-C258-74C51FEA3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698AE6-1542-B11A-043D-356CCF890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8896FC-B7C1-2AC3-2BAC-0129C85FF5E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2A2CC-1162-8406-0DE8-B9F3E3510799}"/>
              </a:ext>
            </a:extLst>
          </p:cNvPr>
          <p:cNvSpPr txBox="1"/>
          <p:nvPr/>
        </p:nvSpPr>
        <p:spPr>
          <a:xfrm>
            <a:off x="820833" y="676631"/>
            <a:ext cx="8377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Why now</a:t>
            </a:r>
            <a:r>
              <a:rPr lang="bg-BG" sz="3200" b="1" dirty="0"/>
              <a:t>: </a:t>
            </a:r>
            <a:r>
              <a:rPr lang="en-US" sz="3200" b="1" dirty="0"/>
              <a:t>AI Agents needs decision memory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C491F1-CA8F-4D51-8041-72C88039B5CD}"/>
              </a:ext>
            </a:extLst>
          </p:cNvPr>
          <p:cNvSpPr/>
          <p:nvPr/>
        </p:nvSpPr>
        <p:spPr>
          <a:xfrm>
            <a:off x="548640" y="1842392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C2029-740E-265E-6C91-8C55C2D7FA6D}"/>
              </a:ext>
            </a:extLst>
          </p:cNvPr>
          <p:cNvSpPr txBox="1"/>
          <p:nvPr/>
        </p:nvSpPr>
        <p:spPr>
          <a:xfrm>
            <a:off x="822960" y="197955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1" dirty="0">
                <a:solidFill>
                  <a:srgbClr val="FFFFFF"/>
                </a:solidFill>
                <a:latin typeface="Aptos" panose="020B0004020202020204" pitchFamily="34" charset="0"/>
              </a:rPr>
              <a:t>AI agents make
millions of decisions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754B5-06FC-EF01-930B-47A1E638C968}"/>
              </a:ext>
            </a:extLst>
          </p:cNvPr>
          <p:cNvSpPr txBox="1"/>
          <p:nvPr/>
        </p:nvSpPr>
        <p:spPr>
          <a:xfrm>
            <a:off x="3566159" y="1979552"/>
            <a:ext cx="79132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Aptos" panose="020B0004020202020204" pitchFamily="34" charset="0"/>
              </a:rPr>
              <a:t>GPT, Claude, and Gemini agents take actions at scale. None of them currently learn which decisions work best. BanditDB closes that loop.</a:t>
            </a:r>
            <a:r>
              <a:rPr lang="en-US" sz="1600" b="0" dirty="0">
                <a:solidFill>
                  <a:srgbClr val="A0AABB"/>
                </a:solidFill>
                <a:latin typeface="Aptos" panose="020B0004020202020204" pitchFamily="34" charset="0"/>
              </a:rPr>
              <a:t> No .md files, No contexts or wikis</a:t>
            </a:r>
            <a:endParaRPr sz="1600" b="0" dirty="0">
              <a:solidFill>
                <a:srgbClr val="A0AAB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8FF91A-0AA4-BAA2-9F4B-075AC6F390FD}"/>
              </a:ext>
            </a:extLst>
          </p:cNvPr>
          <p:cNvSpPr/>
          <p:nvPr/>
        </p:nvSpPr>
        <p:spPr>
          <a:xfrm>
            <a:off x="548640" y="3442592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E6178-553C-E17C-B40A-67C3E0A9DD3E}"/>
              </a:ext>
            </a:extLst>
          </p:cNvPr>
          <p:cNvSpPr txBox="1"/>
          <p:nvPr/>
        </p:nvSpPr>
        <p:spPr>
          <a:xfrm>
            <a:off x="822960" y="357975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b="1" dirty="0">
                <a:solidFill>
                  <a:srgbClr val="FFFFFF"/>
                </a:solidFill>
                <a:latin typeface="Aptos" panose="020B0004020202020204" pitchFamily="34" charset="0"/>
              </a:rPr>
              <a:t>The data science
bottleneck is real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21315-3054-EA2F-5158-1298177E56B8}"/>
              </a:ext>
            </a:extLst>
          </p:cNvPr>
          <p:cNvSpPr txBox="1"/>
          <p:nvPr/>
        </p:nvSpPr>
        <p:spPr>
          <a:xfrm>
            <a:off x="3566160" y="3579752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Aptos" panose="020B0004020202020204" pitchFamily="34" charset="0"/>
              </a:rPr>
              <a:t>73% of ML projects never reach production (Gartner). BanditDB ships learning in an afternoon without a data scientist.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7C07A-CDED-676A-76F9-538880B65175}"/>
              </a:ext>
            </a:extLst>
          </p:cNvPr>
          <p:cNvSpPr/>
          <p:nvPr/>
        </p:nvSpPr>
        <p:spPr>
          <a:xfrm>
            <a:off x="548640" y="5042792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E30E44-2EBB-B93E-802B-F39276CF348D}"/>
              </a:ext>
            </a:extLst>
          </p:cNvPr>
          <p:cNvSpPr txBox="1"/>
          <p:nvPr/>
        </p:nvSpPr>
        <p:spPr>
          <a:xfrm>
            <a:off x="822960" y="5179952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1" dirty="0">
                <a:solidFill>
                  <a:srgbClr val="FFFFFF"/>
                </a:solidFill>
                <a:latin typeface="Calibri"/>
              </a:rPr>
              <a:t>Rust + open source
is the right moat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38D80F-54EB-92C3-941E-40B9D249122B}"/>
              </a:ext>
            </a:extLst>
          </p:cNvPr>
          <p:cNvSpPr txBox="1"/>
          <p:nvPr/>
        </p:nvSpPr>
        <p:spPr>
          <a:xfrm>
            <a:off x="3566160" y="5179952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Aptos" panose="020B0004020202020204" pitchFamily="34" charset="0"/>
              </a:rPr>
              <a:t>Sub-millisecond latency, 21× memory efficiency, Apache 2.0. The infrastructure layer wins by being fast, cheap, and trusted.</a:t>
            </a:r>
          </a:p>
        </p:txBody>
      </p:sp>
    </p:spTree>
    <p:extLst>
      <p:ext uri="{BB962C8B-B14F-4D97-AF65-F5344CB8AC3E}">
        <p14:creationId xmlns:p14="http://schemas.microsoft.com/office/powerpoint/2010/main" val="330543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A461-0404-44EB-BFC4-DC61A3E0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2DE5D74-275C-4CD0-D098-39DCC62F41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51AA0A-807D-8BF5-FF5F-9C3C418803A4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F4DCD-D122-29C5-01EA-854130ABB5C0}"/>
              </a:ext>
            </a:extLst>
          </p:cNvPr>
          <p:cNvSpPr txBox="1"/>
          <p:nvPr/>
        </p:nvSpPr>
        <p:spPr>
          <a:xfrm>
            <a:off x="820833" y="676631"/>
            <a:ext cx="2238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Market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005E0D-E659-5726-2AD4-F43B450EA4DB}"/>
              </a:ext>
            </a:extLst>
          </p:cNvPr>
          <p:cNvSpPr/>
          <p:nvPr/>
        </p:nvSpPr>
        <p:spPr>
          <a:xfrm>
            <a:off x="914400" y="192024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052F9-940C-6CCB-E8A9-6E5EF57FC5AC}"/>
              </a:ext>
            </a:extLst>
          </p:cNvPr>
          <p:cNvSpPr txBox="1"/>
          <p:nvPr/>
        </p:nvSpPr>
        <p:spPr>
          <a:xfrm>
            <a:off x="1097280" y="2194560"/>
            <a:ext cx="155202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4800" b="1" dirty="0">
                <a:solidFill>
                  <a:srgbClr val="2196F3"/>
                </a:solidFill>
                <a:latin typeface="Aptos" panose="020B0004020202020204" pitchFamily="34" charset="0"/>
              </a:rPr>
              <a:t>$47B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67D50-0407-9F3D-CBC2-6C6C512EF8DC}"/>
              </a:ext>
            </a:extLst>
          </p:cNvPr>
          <p:cNvSpPr txBox="1"/>
          <p:nvPr/>
        </p:nvSpPr>
        <p:spPr>
          <a:xfrm>
            <a:off x="1097280" y="3038267"/>
            <a:ext cx="2651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/>
                </a:solidFill>
                <a:latin typeface="Aptos" panose="020B0004020202020204" pitchFamily="34" charset="0"/>
              </a:rPr>
              <a:t>ML/AI
Infrastructure
Market (2026)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85DC53-A8E5-B6D3-B172-CF6BDC7AA513}"/>
              </a:ext>
            </a:extLst>
          </p:cNvPr>
          <p:cNvSpPr/>
          <p:nvPr/>
        </p:nvSpPr>
        <p:spPr>
          <a:xfrm>
            <a:off x="4389120" y="192024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8F4B5-8D21-929C-E6AA-FE0F5B185A39}"/>
              </a:ext>
            </a:extLst>
          </p:cNvPr>
          <p:cNvSpPr txBox="1"/>
          <p:nvPr/>
        </p:nvSpPr>
        <p:spPr>
          <a:xfrm>
            <a:off x="4572000" y="2194560"/>
            <a:ext cx="155202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4800" b="1" dirty="0">
                <a:solidFill>
                  <a:srgbClr val="2196F3"/>
                </a:solidFill>
                <a:latin typeface="Aptos" panose="020B0004020202020204" pitchFamily="34" charset="0"/>
              </a:rPr>
              <a:t>$12B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ECA73-5AAD-90B5-F206-DAE888E2FEC0}"/>
              </a:ext>
            </a:extLst>
          </p:cNvPr>
          <p:cNvSpPr txBox="1"/>
          <p:nvPr/>
        </p:nvSpPr>
        <p:spPr>
          <a:xfrm>
            <a:off x="4572000" y="3047881"/>
            <a:ext cx="2651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/>
                </a:solidFill>
                <a:latin typeface="Aptos" panose="020B0004020202020204" pitchFamily="34" charset="0"/>
              </a:rPr>
              <a:t>Personalization
Engine
Market (2026)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31BAEF-36AC-8A9C-F606-515928020600}"/>
              </a:ext>
            </a:extLst>
          </p:cNvPr>
          <p:cNvSpPr/>
          <p:nvPr/>
        </p:nvSpPr>
        <p:spPr>
          <a:xfrm>
            <a:off x="7863840" y="192024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E67981-6D1F-ED6C-1CC4-C6F58D51359A}"/>
              </a:ext>
            </a:extLst>
          </p:cNvPr>
          <p:cNvSpPr txBox="1"/>
          <p:nvPr/>
        </p:nvSpPr>
        <p:spPr>
          <a:xfrm>
            <a:off x="8046720" y="2194560"/>
            <a:ext cx="122341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4800" b="1" dirty="0">
                <a:solidFill>
                  <a:srgbClr val="FF6D00"/>
                </a:solidFill>
                <a:latin typeface="Aptos" panose="020B0004020202020204" pitchFamily="34" charset="0"/>
              </a:rPr>
              <a:t>$8B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DCC6D1-A8DE-CD3B-3EEF-D9EF43CF8A13}"/>
              </a:ext>
            </a:extLst>
          </p:cNvPr>
          <p:cNvSpPr txBox="1"/>
          <p:nvPr/>
        </p:nvSpPr>
        <p:spPr>
          <a:xfrm>
            <a:off x="8046720" y="3010810"/>
            <a:ext cx="2651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/>
                </a:solidFill>
                <a:latin typeface="Aptos" panose="020B0004020202020204" pitchFamily="34" charset="0"/>
              </a:rPr>
              <a:t>Decision
Intelligence
Market (2026)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BD523C-520C-DEFE-E288-134F81C7DCC8}"/>
              </a:ext>
            </a:extLst>
          </p:cNvPr>
          <p:cNvSpPr txBox="1"/>
          <p:nvPr/>
        </p:nvSpPr>
        <p:spPr>
          <a:xfrm>
            <a:off x="0" y="5119092"/>
            <a:ext cx="1219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SAM 2026 ~$5.8B ·  SAM 2031 ~$14B ·  SAM 2036 ~$35B</a:t>
            </a:r>
          </a:p>
          <a:p>
            <a:pPr algn="ctr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SOM 2036 ~$10B - $15B (data source: Garthner)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64BB9D-EE2F-2AF7-2950-3570D862696C}"/>
              </a:ext>
            </a:extLst>
          </p:cNvPr>
          <p:cNvSpPr txBox="1"/>
          <p:nvPr/>
        </p:nvSpPr>
        <p:spPr>
          <a:xfrm>
            <a:off x="1097280" y="4078414"/>
            <a:ext cx="206498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2196F3"/>
                </a:solidFill>
                <a:latin typeface="Aptos" panose="020B0004020202020204" pitchFamily="34" charset="0"/>
              </a:rPr>
              <a:t>~3% / $1.4B</a:t>
            </a:r>
            <a:endParaRPr sz="2800" b="1" dirty="0">
              <a:solidFill>
                <a:srgbClr val="2196F3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DD2C1C-C18E-E694-259E-72DB4D3DCB15}"/>
              </a:ext>
            </a:extLst>
          </p:cNvPr>
          <p:cNvSpPr txBox="1"/>
          <p:nvPr/>
        </p:nvSpPr>
        <p:spPr>
          <a:xfrm>
            <a:off x="4525006" y="4096950"/>
            <a:ext cx="225734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2196F3"/>
                </a:solidFill>
                <a:latin typeface="Aptos" panose="020B0004020202020204" pitchFamily="34" charset="0"/>
              </a:rPr>
              <a:t>~20% / $2.4B</a:t>
            </a:r>
            <a:endParaRPr sz="2800" b="1" dirty="0">
              <a:solidFill>
                <a:srgbClr val="2196F3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9ECBFB-850D-93C0-D6BF-8518F46C4B57}"/>
              </a:ext>
            </a:extLst>
          </p:cNvPr>
          <p:cNvSpPr txBox="1"/>
          <p:nvPr/>
        </p:nvSpPr>
        <p:spPr>
          <a:xfrm>
            <a:off x="8057899" y="4109161"/>
            <a:ext cx="195758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2196F3"/>
                </a:solidFill>
                <a:latin typeface="Aptos" panose="020B0004020202020204" pitchFamily="34" charset="0"/>
              </a:rPr>
              <a:t>~25% / $2B</a:t>
            </a:r>
            <a:endParaRPr sz="2800" b="1" dirty="0">
              <a:solidFill>
                <a:srgbClr val="2196F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98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3491-58EF-FB68-61E2-747A2C6E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D8FDA60-0096-E73C-F89E-8B52FA134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9C98E0-8A9C-C274-18CC-5FC6262E048D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DB08B-EE46-1D19-7E20-224E6A48E9A1}"/>
              </a:ext>
            </a:extLst>
          </p:cNvPr>
          <p:cNvSpPr txBox="1"/>
          <p:nvPr/>
        </p:nvSpPr>
        <p:spPr>
          <a:xfrm>
            <a:off x="820833" y="676631"/>
            <a:ext cx="3889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Business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6609F-F7FF-4ADD-9FD5-5117373B5925}"/>
              </a:ext>
            </a:extLst>
          </p:cNvPr>
          <p:cNvSpPr txBox="1"/>
          <p:nvPr/>
        </p:nvSpPr>
        <p:spPr>
          <a:xfrm>
            <a:off x="556054" y="162897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Open-source drives adoption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Cloud converts power users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Enterprise converts revenue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6374B-9D0E-4F75-EE6D-98B1ECAADD96}"/>
              </a:ext>
            </a:extLst>
          </p:cNvPr>
          <p:cNvSpPr/>
          <p:nvPr/>
        </p:nvSpPr>
        <p:spPr>
          <a:xfrm>
            <a:off x="556054" y="2373593"/>
            <a:ext cx="3657600" cy="427815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F10E5A-F046-845E-3D56-4CD46C5B3FF5}"/>
              </a:ext>
            </a:extLst>
          </p:cNvPr>
          <p:cNvSpPr txBox="1"/>
          <p:nvPr/>
        </p:nvSpPr>
        <p:spPr>
          <a:xfrm>
            <a:off x="720646" y="2373593"/>
            <a:ext cx="9685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45566B"/>
                </a:solidFill>
                <a:latin typeface="Aptos" panose="020B0004020202020204" pitchFamily="34" charset="0"/>
              </a:rPr>
              <a:t>OPEN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9444D-4050-7934-FB5D-BB1443A6876E}"/>
              </a:ext>
            </a:extLst>
          </p:cNvPr>
          <p:cNvSpPr txBox="1"/>
          <p:nvPr/>
        </p:nvSpPr>
        <p:spPr>
          <a:xfrm>
            <a:off x="720646" y="2598489"/>
            <a:ext cx="157831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Self-Hosted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53E63-6593-3B0A-1E36-5C5D502A990E}"/>
              </a:ext>
            </a:extLst>
          </p:cNvPr>
          <p:cNvSpPr txBox="1"/>
          <p:nvPr/>
        </p:nvSpPr>
        <p:spPr>
          <a:xfrm>
            <a:off x="720646" y="3092265"/>
            <a:ext cx="8536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</a:rPr>
              <a:t>Free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09FE13-C786-ED0E-14CB-1654966B6E5D}"/>
              </a:ext>
            </a:extLst>
          </p:cNvPr>
          <p:cNvSpPr/>
          <p:nvPr/>
        </p:nvSpPr>
        <p:spPr>
          <a:xfrm>
            <a:off x="720646" y="3878649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78641F-8B3E-5C26-7E0C-66ACCA4C0DF7}"/>
              </a:ext>
            </a:extLst>
          </p:cNvPr>
          <p:cNvSpPr txBox="1"/>
          <p:nvPr/>
        </p:nvSpPr>
        <p:spPr>
          <a:xfrm>
            <a:off x="720646" y="3753099"/>
            <a:ext cx="15891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All 5 algorithms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DEF9D2-BEA2-33D4-4EEC-F396F5659401}"/>
              </a:ext>
            </a:extLst>
          </p:cNvPr>
          <p:cNvSpPr txBox="1"/>
          <p:nvPr/>
        </p:nvSpPr>
        <p:spPr>
          <a:xfrm>
            <a:off x="720646" y="4100571"/>
            <a:ext cx="25507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WAL + checkpoint durability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A64199-8EEB-A4BD-2603-294322E1A1EA}"/>
              </a:ext>
            </a:extLst>
          </p:cNvPr>
          <p:cNvSpPr txBox="1"/>
          <p:nvPr/>
        </p:nvSpPr>
        <p:spPr>
          <a:xfrm>
            <a:off x="720646" y="4448043"/>
            <a:ext cx="1414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Full HTTP API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9C5726-EF43-058D-0635-990A2124C865}"/>
              </a:ext>
            </a:extLst>
          </p:cNvPr>
          <p:cNvSpPr txBox="1"/>
          <p:nvPr/>
        </p:nvSpPr>
        <p:spPr>
          <a:xfrm>
            <a:off x="720646" y="4795515"/>
            <a:ext cx="1916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RBAC + rate limiting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C2AD3-E713-AEF4-C0F8-8AF0D7050F48}"/>
              </a:ext>
            </a:extLst>
          </p:cNvPr>
          <p:cNvSpPr txBox="1"/>
          <p:nvPr/>
        </p:nvSpPr>
        <p:spPr>
          <a:xfrm>
            <a:off x="720646" y="5142987"/>
            <a:ext cx="15248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Parquet export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49689-69D6-6AB8-4F41-EDB4B9684DCC}"/>
              </a:ext>
            </a:extLst>
          </p:cNvPr>
          <p:cNvSpPr txBox="1"/>
          <p:nvPr/>
        </p:nvSpPr>
        <p:spPr>
          <a:xfrm>
            <a:off x="720646" y="5490459"/>
            <a:ext cx="22699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MCP server for AI agents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9EE8BF-3E6C-0449-219C-8113350711DA}"/>
              </a:ext>
            </a:extLst>
          </p:cNvPr>
          <p:cNvSpPr txBox="1"/>
          <p:nvPr/>
        </p:nvSpPr>
        <p:spPr>
          <a:xfrm>
            <a:off x="720646" y="5837931"/>
            <a:ext cx="19511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Community support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3B2D8F-168D-D391-5263-A5F75577C475}"/>
              </a:ext>
            </a:extLst>
          </p:cNvPr>
          <p:cNvSpPr/>
          <p:nvPr/>
        </p:nvSpPr>
        <p:spPr>
          <a:xfrm>
            <a:off x="4460542" y="2373593"/>
            <a:ext cx="3657600" cy="4278154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F8AD52-92B1-8ECA-C525-0933B90E6F96}"/>
              </a:ext>
            </a:extLst>
          </p:cNvPr>
          <p:cNvSpPr txBox="1"/>
          <p:nvPr/>
        </p:nvSpPr>
        <p:spPr>
          <a:xfrm>
            <a:off x="4625134" y="2373593"/>
            <a:ext cx="11512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2196F3"/>
                </a:solidFill>
                <a:latin typeface="Aptos" panose="020B0004020202020204" pitchFamily="34" charset="0"/>
              </a:rPr>
              <a:t>BANDITDB CLOUD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008320-3D2D-53D4-BD0B-C360D127D573}"/>
              </a:ext>
            </a:extLst>
          </p:cNvPr>
          <p:cNvSpPr txBox="1"/>
          <p:nvPr/>
        </p:nvSpPr>
        <p:spPr>
          <a:xfrm>
            <a:off x="4625134" y="2598489"/>
            <a:ext cx="200413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Managed Cloud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BD8A9D-F3E9-1CAA-B6AF-56B16B08A20A}"/>
              </a:ext>
            </a:extLst>
          </p:cNvPr>
          <p:cNvSpPr txBox="1"/>
          <p:nvPr/>
        </p:nvSpPr>
        <p:spPr>
          <a:xfrm>
            <a:off x="4625134" y="3092265"/>
            <a:ext cx="21704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2196F3"/>
                </a:solidFill>
                <a:latin typeface="Aptos" panose="020B0004020202020204" pitchFamily="34" charset="0"/>
              </a:rPr>
              <a:t>Usage-based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881904-1F2A-B2DB-8E24-3D2178729E07}"/>
              </a:ext>
            </a:extLst>
          </p:cNvPr>
          <p:cNvSpPr/>
          <p:nvPr/>
        </p:nvSpPr>
        <p:spPr>
          <a:xfrm>
            <a:off x="4625134" y="3878649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184C06-B1A9-073F-3AFF-D58BD9BFD3E0}"/>
              </a:ext>
            </a:extLst>
          </p:cNvPr>
          <p:cNvSpPr txBox="1"/>
          <p:nvPr/>
        </p:nvSpPr>
        <p:spPr>
          <a:xfrm>
            <a:off x="4625134" y="3753099"/>
            <a:ext cx="24246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Everything in Open Source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1A1520-1311-A45D-E291-0D7B7FF30AF1}"/>
              </a:ext>
            </a:extLst>
          </p:cNvPr>
          <p:cNvSpPr txBox="1"/>
          <p:nvPr/>
        </p:nvSpPr>
        <p:spPr>
          <a:xfrm>
            <a:off x="4625134" y="4100571"/>
            <a:ext cx="18293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Zero infrastructure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06D4F8-60DD-B4B2-A507-BF56B3C4B856}"/>
              </a:ext>
            </a:extLst>
          </p:cNvPr>
          <p:cNvSpPr txBox="1"/>
          <p:nvPr/>
        </p:nvSpPr>
        <p:spPr>
          <a:xfrm>
            <a:off x="4625134" y="4448043"/>
            <a:ext cx="27045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Auto-scaling to 100K+ req/sec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841143-A9AD-C5DA-8875-B4E6BF0910BE}"/>
              </a:ext>
            </a:extLst>
          </p:cNvPr>
          <p:cNvSpPr txBox="1"/>
          <p:nvPr/>
        </p:nvSpPr>
        <p:spPr>
          <a:xfrm>
            <a:off x="4625134" y="4795515"/>
            <a:ext cx="2490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Web dashboard + analytics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B020E6-0623-5C3F-AE6F-43FDF2A890D0}"/>
              </a:ext>
            </a:extLst>
          </p:cNvPr>
          <p:cNvSpPr txBox="1"/>
          <p:nvPr/>
        </p:nvSpPr>
        <p:spPr>
          <a:xfrm>
            <a:off x="4625134" y="5142987"/>
            <a:ext cx="1902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Automatic backups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0E66AE-CEA3-B1AF-DEDC-53790B0F7681}"/>
              </a:ext>
            </a:extLst>
          </p:cNvPr>
          <p:cNvSpPr txBox="1"/>
          <p:nvPr/>
        </p:nvSpPr>
        <p:spPr>
          <a:xfrm>
            <a:off x="4625134" y="5490459"/>
            <a:ext cx="12175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99.9% SLA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743316-1B81-7FAC-7102-B2388CEFC15E}"/>
              </a:ext>
            </a:extLst>
          </p:cNvPr>
          <p:cNvSpPr txBox="1"/>
          <p:nvPr/>
        </p:nvSpPr>
        <p:spPr>
          <a:xfrm>
            <a:off x="4625134" y="5837931"/>
            <a:ext cx="1991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Aptos" panose="020B0004020202020204" pitchFamily="34" charset="0"/>
              </a:rPr>
              <a:t>✓  Email + chat support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430BAD-1905-8BB8-D0CD-C5EFA91E7329}"/>
              </a:ext>
            </a:extLst>
          </p:cNvPr>
          <p:cNvSpPr/>
          <p:nvPr/>
        </p:nvSpPr>
        <p:spPr>
          <a:xfrm>
            <a:off x="8365030" y="2373593"/>
            <a:ext cx="3657600" cy="427815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CBC8B3-5064-63A8-B40A-C97C4C5799FE}"/>
              </a:ext>
            </a:extLst>
          </p:cNvPr>
          <p:cNvSpPr txBox="1"/>
          <p:nvPr/>
        </p:nvSpPr>
        <p:spPr>
          <a:xfrm>
            <a:off x="8529622" y="2373593"/>
            <a:ext cx="8435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F6D00"/>
                </a:solidFill>
                <a:latin typeface="Aptos" panose="020B0004020202020204" pitchFamily="34" charset="0"/>
              </a:rPr>
              <a:t>ENTERPRISE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D3390-EABD-CB44-7D76-548DADCBABD1}"/>
              </a:ext>
            </a:extLst>
          </p:cNvPr>
          <p:cNvSpPr txBox="1"/>
          <p:nvPr/>
        </p:nvSpPr>
        <p:spPr>
          <a:xfrm>
            <a:off x="8529622" y="2598489"/>
            <a:ext cx="24823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Private Deployment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0BD197-33E2-915C-99B8-32EB49CC8B5F}"/>
              </a:ext>
            </a:extLst>
          </p:cNvPr>
          <p:cNvSpPr txBox="1"/>
          <p:nvPr/>
        </p:nvSpPr>
        <p:spPr>
          <a:xfrm>
            <a:off x="8529622" y="3092265"/>
            <a:ext cx="13873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6D00"/>
                </a:solidFill>
                <a:latin typeface="Aptos" panose="020B0004020202020204" pitchFamily="34" charset="0"/>
              </a:rPr>
              <a:t>Custom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BDE6C04-810D-40EA-1DB0-05584E0302E5}"/>
              </a:ext>
            </a:extLst>
          </p:cNvPr>
          <p:cNvSpPr/>
          <p:nvPr/>
        </p:nvSpPr>
        <p:spPr>
          <a:xfrm>
            <a:off x="8529622" y="3878649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EDDD6D-2540-4FF8-0D0D-64327C07CABE}"/>
              </a:ext>
            </a:extLst>
          </p:cNvPr>
          <p:cNvSpPr txBox="1"/>
          <p:nvPr/>
        </p:nvSpPr>
        <p:spPr>
          <a:xfrm>
            <a:off x="8529622" y="3753099"/>
            <a:ext cx="18868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Aptos" panose="020B0004020202020204" pitchFamily="34" charset="0"/>
              </a:rPr>
              <a:t>✓  Everything in Cloud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24E68B-AA56-D6FE-2CA3-24CF78DD4C59}"/>
              </a:ext>
            </a:extLst>
          </p:cNvPr>
          <p:cNvSpPr txBox="1"/>
          <p:nvPr/>
        </p:nvSpPr>
        <p:spPr>
          <a:xfrm>
            <a:off x="8529622" y="4100571"/>
            <a:ext cx="2442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On-premise or VPC deploy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2184E8-A412-0B01-7381-C407A906C239}"/>
              </a:ext>
            </a:extLst>
          </p:cNvPr>
          <p:cNvSpPr txBox="1"/>
          <p:nvPr/>
        </p:nvSpPr>
        <p:spPr>
          <a:xfrm>
            <a:off x="8529622" y="4448043"/>
            <a:ext cx="12985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SSO / SAML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903328-CAB3-5342-4C90-DB302449402B}"/>
              </a:ext>
            </a:extLst>
          </p:cNvPr>
          <p:cNvSpPr txBox="1"/>
          <p:nvPr/>
        </p:nvSpPr>
        <p:spPr>
          <a:xfrm>
            <a:off x="8529622" y="4795515"/>
            <a:ext cx="20769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SOC 2 · HIPAA · GDPR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18B3C8-1315-B91C-3F44-DB92B5B38E5F}"/>
              </a:ext>
            </a:extLst>
          </p:cNvPr>
          <p:cNvSpPr txBox="1"/>
          <p:nvPr/>
        </p:nvSpPr>
        <p:spPr>
          <a:xfrm>
            <a:off x="8529622" y="5142987"/>
            <a:ext cx="22592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Dedicated SLA (99.99%)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1833F1-39C6-1448-6007-B70AC50E23D8}"/>
              </a:ext>
            </a:extLst>
          </p:cNvPr>
          <p:cNvSpPr txBox="1"/>
          <p:nvPr/>
        </p:nvSpPr>
        <p:spPr>
          <a:xfrm>
            <a:off x="8529622" y="5490459"/>
            <a:ext cx="19670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Custom integrations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321D68-F4FA-97AB-66E4-66B2FAFFA5BC}"/>
              </a:ext>
            </a:extLst>
          </p:cNvPr>
          <p:cNvSpPr txBox="1"/>
          <p:nvPr/>
        </p:nvSpPr>
        <p:spPr>
          <a:xfrm>
            <a:off x="8529622" y="5837931"/>
            <a:ext cx="25856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0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400" b="0">
                <a:solidFill>
                  <a:srgbClr val="A0AABB"/>
                </a:solidFill>
                <a:latin typeface="Aptos" panose="020B0004020202020204" pitchFamily="34" charset="0"/>
              </a:rPr>
              <a:t>✓  Dedicated success engineer</a:t>
            </a:r>
          </a:p>
        </p:txBody>
      </p:sp>
    </p:spTree>
    <p:extLst>
      <p:ext uri="{BB962C8B-B14F-4D97-AF65-F5344CB8AC3E}">
        <p14:creationId xmlns:p14="http://schemas.microsoft.com/office/powerpoint/2010/main" val="2326641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EB09-72D0-5784-BA33-7A49D5FD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EEEB53-E541-D2D3-D508-A1F1358BE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6F967F-4941-75C0-75B6-CE24950578BE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5E823-5DC1-BBBF-4088-17C905FC6657}"/>
              </a:ext>
            </a:extLst>
          </p:cNvPr>
          <p:cNvSpPr txBox="1"/>
          <p:nvPr/>
        </p:nvSpPr>
        <p:spPr>
          <a:xfrm>
            <a:off x="820833" y="676631"/>
            <a:ext cx="1630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035F7-6EC4-D5ED-6AD0-CFFE155A0638}"/>
              </a:ext>
            </a:extLst>
          </p:cNvPr>
          <p:cNvSpPr txBox="1"/>
          <p:nvPr/>
        </p:nvSpPr>
        <p:spPr>
          <a:xfrm>
            <a:off x="0" y="1628976"/>
            <a:ext cx="12192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We are raising $600K pre – seed to finish the BanditDB Cloud and run the Go-to-market motion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56B07-7BC2-482B-ACCF-9D8D4AC14D6F}"/>
              </a:ext>
            </a:extLst>
          </p:cNvPr>
          <p:cNvSpPr/>
          <p:nvPr/>
        </p:nvSpPr>
        <p:spPr>
          <a:xfrm>
            <a:off x="50292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983B7-1157-3255-C3D4-07404C7976DF}"/>
              </a:ext>
            </a:extLst>
          </p:cNvPr>
          <p:cNvSpPr txBox="1"/>
          <p:nvPr/>
        </p:nvSpPr>
        <p:spPr>
          <a:xfrm>
            <a:off x="685800" y="2834640"/>
            <a:ext cx="215475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Engineering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387AF8-F65B-52DA-9BF6-BDD719915632}"/>
              </a:ext>
            </a:extLst>
          </p:cNvPr>
          <p:cNvSpPr txBox="1"/>
          <p:nvPr/>
        </p:nvSpPr>
        <p:spPr>
          <a:xfrm>
            <a:off x="685800" y="3520440"/>
            <a:ext cx="3200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Managed cloud, enterprise auth, Prometheus metrics, horizontal scaling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32B224-A848-72AF-63FE-1FD7CDDED13D}"/>
              </a:ext>
            </a:extLst>
          </p:cNvPr>
          <p:cNvSpPr/>
          <p:nvPr/>
        </p:nvSpPr>
        <p:spPr>
          <a:xfrm>
            <a:off x="434340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3EC628-5DD9-B587-02FD-42D9D6431C1A}"/>
              </a:ext>
            </a:extLst>
          </p:cNvPr>
          <p:cNvSpPr txBox="1"/>
          <p:nvPr/>
        </p:nvSpPr>
        <p:spPr>
          <a:xfrm>
            <a:off x="4526280" y="2834640"/>
            <a:ext cx="233230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Go-to-Market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7C628D-03D6-3A59-5DFF-81895EBD2E71}"/>
              </a:ext>
            </a:extLst>
          </p:cNvPr>
          <p:cNvSpPr txBox="1"/>
          <p:nvPr/>
        </p:nvSpPr>
        <p:spPr>
          <a:xfrm>
            <a:off x="4526280" y="352044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Developer relations, enterprise sales, docs, community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17ED15-4665-C5FA-E6C5-8677267B8445}"/>
              </a:ext>
            </a:extLst>
          </p:cNvPr>
          <p:cNvSpPr/>
          <p:nvPr/>
        </p:nvSpPr>
        <p:spPr>
          <a:xfrm>
            <a:off x="818388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FE9DB-1E9A-1C23-048C-5C4BFACC9759}"/>
              </a:ext>
            </a:extLst>
          </p:cNvPr>
          <p:cNvSpPr txBox="1"/>
          <p:nvPr/>
        </p:nvSpPr>
        <p:spPr>
          <a:xfrm>
            <a:off x="8366760" y="2834640"/>
            <a:ext cx="207819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Operations  20%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F7C4C8-DB16-ECAA-A46E-A5E9FB33E533}"/>
              </a:ext>
            </a:extLst>
          </p:cNvPr>
          <p:cNvSpPr txBox="1"/>
          <p:nvPr/>
        </p:nvSpPr>
        <p:spPr>
          <a:xfrm>
            <a:off x="8366760" y="352044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</a:rPr>
              <a:t>Infrastructure, security audit, legal, compliance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3C42CC-C320-B9DC-B140-7D4E52D919BC}"/>
              </a:ext>
            </a:extLst>
          </p:cNvPr>
          <p:cNvSpPr txBox="1"/>
          <p:nvPr/>
        </p:nvSpPr>
        <p:spPr>
          <a:xfrm>
            <a:off x="0" y="5488871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b="1" dirty="0">
              <a:latin typeface="Aptos" panose="020B00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Try it now at: </a:t>
            </a:r>
            <a:r>
              <a:rPr lang="en-US" sz="2800" b="1" dirty="0" err="1">
                <a:latin typeface="Aptos" panose="020B0004020202020204" pitchFamily="34" charset="0"/>
              </a:rPr>
              <a:t>sandbox.banditdb.com</a:t>
            </a:r>
            <a:endParaRPr lang="en-US" sz="2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54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E1E7-1D1A-1AFB-BC88-0DA2D0F4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FABD28-312F-12D1-E62F-F0D1B3845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088" y="2710760"/>
            <a:ext cx="4336597" cy="2258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4501B-C3F4-2A8A-404A-4A53957A90C4}"/>
              </a:ext>
            </a:extLst>
          </p:cNvPr>
          <p:cNvSpPr txBox="1"/>
          <p:nvPr/>
        </p:nvSpPr>
        <p:spPr>
          <a:xfrm>
            <a:off x="4390779" y="1195053"/>
            <a:ext cx="2707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4B528-2670-AC5B-2BE4-DB9D59129050}"/>
              </a:ext>
            </a:extLst>
          </p:cNvPr>
          <p:cNvSpPr txBox="1"/>
          <p:nvPr/>
        </p:nvSpPr>
        <p:spPr>
          <a:xfrm>
            <a:off x="3024635" y="6157096"/>
            <a:ext cx="6680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4"/>
              </a:rPr>
              <a:t>https://banditdb.com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contact: Simeon Lukov,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5"/>
              </a:rPr>
              <a:t>s.lukov@dynamicpricing.ai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93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837</Words>
  <Application>Microsoft Macintosh PowerPoint</Application>
  <PresentationFormat>Widescreen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Simeon Lukov</dc:creator>
  <cp:lastModifiedBy>Simeon Lukov</cp:lastModifiedBy>
  <cp:revision>5</cp:revision>
  <dcterms:created xsi:type="dcterms:W3CDTF">2026-06-08T07:26:40Z</dcterms:created>
  <dcterms:modified xsi:type="dcterms:W3CDTF">2026-06-21T14:51:44Z</dcterms:modified>
</cp:coreProperties>
</file>