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7" r:id="rId4"/>
    <p:sldId id="258" r:id="rId5"/>
    <p:sldId id="268" r:id="rId6"/>
    <p:sldId id="261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72"/>
  </p:normalViewPr>
  <p:slideViewPr>
    <p:cSldViewPr snapToGrid="0">
      <p:cViewPr varScale="1">
        <p:scale>
          <a:sx n="142" d="100"/>
          <a:sy n="142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EE0C5-4E6F-054B-BC18-D1820C2BC5C1}" type="datetimeFigureOut">
              <a:rPr lang="en-US" smtClean="0"/>
              <a:t>6/21/26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036018-D559-6144-94CE-093755614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056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85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76C47-B709-4462-5514-1BD66CBF7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76EFA4-7BB6-52FA-107D-E5A2D69AF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9C25D3-400E-1D70-FFE5-192C66B90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90DA6-A567-ADE5-E621-A8D2B4D427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810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DBFC7-C6B6-666D-23AA-F539099C7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3E7B6C-A107-1493-ECEF-3BBF7D4540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F8A7AD-F737-8080-50D8-96769940E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CB1A6-6D7B-70F3-6AA6-4FC93A65CE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936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4EC65-7197-DD8E-6A07-84BA67CFF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99D978-B965-9B69-52E2-EA4F430C0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249E7-50B2-E529-2FF2-8A4860E1A9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8944A0-B6B7-9770-75D5-AFDA9D91F3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5651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62E79-88B2-36AF-F91E-B8F5BA08B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BE2A1C-EA95-8B22-53EC-78F7C0283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B6259D-BF1B-78BF-B9CE-90A7C9EAE1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CC5BF-C4DE-711C-3A0C-8498341848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48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24280-64D4-8888-145D-032EE2585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97DF7B-5D75-DC4D-905D-0AC3F65DE2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65E670-FB36-4118-F272-3F1092BCD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2CA88-D8A4-1FB9-E45E-E6D0308BB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6227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CDF5E-EADD-5537-D9DF-54712EA27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F76939-C4E4-0449-6F5F-B08EDA217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977C99-4297-B0CE-75AD-880563A0AA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B93731-CBA5-7584-719E-1BFE1BC3A4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9613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C4DD2-6D19-66D5-2601-6A758D7E8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ED7AB1-5389-090E-6848-094DDD7E6E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3A6F3C-A28F-1875-3010-4C7458781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82EC8-F141-2F90-6314-B60295663F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9530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1AD87-C63B-A385-3779-19D0DBD16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C481E0-E275-54F1-D09E-A359C8430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D2E73E-4A8B-18F1-FEB7-47EEB5264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99F60-AF87-AF43-AC4E-B279D1CD24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8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0B3CD-526F-ED82-58CE-6FEC63C2A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79854C-1D67-9470-14C6-278F15F3C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C6F42-CB3C-3E6D-91B2-D1EAFD485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6970D-8A47-4E6A-C902-27C499B3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F266B-DF83-6862-B28C-017769F9B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38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FFBB3-F186-33F1-2253-15599EF36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30427-8FC6-6C0F-E963-4163DD975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27727-836F-D4F9-166F-8F0E63568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68291-BE63-44AB-2A49-FBB137C0E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25E37-F721-2B31-E671-365B85D32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005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C8F53-07F8-DD20-DAE1-1B41A36A4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171F7-CB26-E415-0517-23E566556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95FB7-754A-6CBA-DCB7-1540B8D5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9CB4D-CCF7-73F9-E7BD-65640BA29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0BEE2-6CB6-8470-E607-F356085EE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8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04847-3639-46E4-9D47-AF769AF1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1E193-7062-5BB5-30BF-63076AE3A1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24D3BB-CD57-EFF1-0184-9404EB753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52D554-F002-D1AC-74F5-1721D2562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BAE47-CF08-D8A1-FE2A-B0A461C0F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9D4654-CE6D-1433-CFAD-B02053AF8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27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AB61-7880-E34B-7124-4C29BF47B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E15EA-5203-DBC4-3D92-1118B185F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F3D7D3-9CA1-BFA6-72B1-2E38C7FBB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CBA08B-D9E5-6DEB-0632-D349F0F8BB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2226E5-E866-50F1-F497-CE8419597F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A88BFE-C322-F375-9FDF-E893471B4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92C2A-1CB2-7222-88F5-10F70E41A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90B05F-593D-39B6-25E9-3338D13A6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719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D781E-D33F-6A89-2565-8302EB8B2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757891-25F0-2752-C9AB-DCB87D6E7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9F9CD9-89A3-BB63-A50F-24AEAFB8E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11D2E5-13AE-91D0-18E3-6838E0230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319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983DFA-0A3D-1A0C-E420-28D8ACEC7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E39716-6D7A-8E6F-3D7E-DA2C2F6B2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D701E-BAF4-5349-ED7C-A1A760327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948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9C23-FAF1-0B53-AB03-59C7D202A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86FF7-2FC7-E056-607D-7815278B5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C9EE2B-3C2B-B9F3-677D-FD41AD680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3BDE96-3045-8159-BFE3-CC561749E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9BBEDA-1ACE-7E0C-55C2-986C99870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5100D-E7B9-78AB-8124-8DA8F4613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195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AE33E-5495-D9D3-CCD3-46AFA32DE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9FDE62-668B-9D59-061B-3C6D82D359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B1B3E3-C803-F275-8246-26B45EEB7F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4EC63-435C-EB55-56DF-1D83EBBF0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0FC0B3-0064-BCE9-D5BE-46FDBC921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B077A-8A24-9745-C647-69242F2D2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03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69A54-CA4E-2F35-ADFD-0F954302E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560868-78CD-DA25-DED8-E61C7D8FC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A15D-656B-74A7-723E-60C32B83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EC59A-E3D4-8A8C-E14D-3F38932E2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6D226-AD73-5290-9EB1-C1FA88E61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838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7B26C0-958C-86F2-3FDA-EA6B882CD7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45CF10-7539-85EF-5DB7-FFD7D34A7B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AF718-9177-EB1B-0E37-E877A0F1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26D97-4D99-BCAB-053E-DE5D7AD1E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3BACA-EF85-6B12-91E3-C569320D6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65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46AD40-33FB-AF91-5F08-50C5C356D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AC5295-8084-FC88-AA19-78678E678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F9037-9DCF-3991-CFE8-E6685495B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98202-5ED3-3231-CA57-50AB0D9E4B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718F7-426A-9575-72C0-A3FF2E898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71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s.lukov@dynamicpricing.ai" TargetMode="External"/><Relationship Id="rId4" Type="http://schemas.openxmlformats.org/officeDocument/2006/relationships/hyperlink" Target="https://banditdb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B86F044-BA91-CEB9-42C8-D757FCA273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1412" y="1040067"/>
            <a:ext cx="5226424" cy="27220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BF9823-82A0-28F2-112A-8D076FC352AB}"/>
              </a:ext>
            </a:extLst>
          </p:cNvPr>
          <p:cNvSpPr txBox="1"/>
          <p:nvPr/>
        </p:nvSpPr>
        <p:spPr>
          <a:xfrm>
            <a:off x="2030089" y="4180872"/>
            <a:ext cx="81318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Decision Memory</a:t>
            </a:r>
            <a:r>
              <a:rPr lang="en-US" sz="2400" dirty="0"/>
              <a:t> </a:t>
            </a:r>
            <a:r>
              <a:rPr lang="en-US" sz="2400" b="1" dirty="0"/>
              <a:t>Database for</a:t>
            </a:r>
            <a:r>
              <a:rPr lang="en-US" sz="2400" dirty="0"/>
              <a:t> </a:t>
            </a:r>
            <a:r>
              <a:rPr lang="en-US" sz="2400" b="1" dirty="0"/>
              <a:t>Adaptive AI Agents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43237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2A4E8-0D2A-2E21-56FC-B51AC21B6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C60B7F3F-052E-E5A3-3703-91298014E7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786AAF3-01A3-9DC6-2599-3E0DA54DE734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44F3D8-EBAB-FC0E-615F-DB760771E4E9}"/>
              </a:ext>
            </a:extLst>
          </p:cNvPr>
          <p:cNvSpPr txBox="1"/>
          <p:nvPr/>
        </p:nvSpPr>
        <p:spPr>
          <a:xfrm>
            <a:off x="820833" y="676631"/>
            <a:ext cx="75614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Every AI Agent and App make decisions.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C3B981-1776-C88B-3271-1B0608CEAFFA}"/>
              </a:ext>
            </a:extLst>
          </p:cNvPr>
          <p:cNvSpPr txBox="1"/>
          <p:nvPr/>
        </p:nvSpPr>
        <p:spPr>
          <a:xfrm>
            <a:off x="820833" y="1638062"/>
            <a:ext cx="44153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Most of them never learn.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9C6A5B-6753-4C2F-4C93-81E7BDDCD7DC}"/>
              </a:ext>
            </a:extLst>
          </p:cNvPr>
          <p:cNvSpPr/>
          <p:nvPr/>
        </p:nvSpPr>
        <p:spPr>
          <a:xfrm>
            <a:off x="8153400" y="3944726"/>
            <a:ext cx="3566160" cy="3566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0F7413-BEAF-4FA7-599C-81538E47B903}"/>
              </a:ext>
            </a:extLst>
          </p:cNvPr>
          <p:cNvSpPr txBox="1"/>
          <p:nvPr/>
        </p:nvSpPr>
        <p:spPr>
          <a:xfrm>
            <a:off x="8336280" y="4413714"/>
            <a:ext cx="332232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3300" b="1" dirty="0">
                <a:solidFill>
                  <a:srgbClr val="FFFFFF"/>
                </a:solidFill>
                <a:latin typeface="Aptos" panose="020B0004020202020204" pitchFamily="34" charset="0"/>
              </a:rPr>
              <a:t>Feedback loops </a:t>
            </a:r>
            <a:r>
              <a:rPr lang="en-US" sz="3200" b="1" dirty="0">
                <a:solidFill>
                  <a:srgbClr val="FFC000"/>
                </a:solidFill>
                <a:latin typeface="Aptos" panose="020B0004020202020204" pitchFamily="34" charset="0"/>
              </a:rPr>
              <a:t>are hard to build</a:t>
            </a:r>
            <a:endParaRPr sz="3200" b="1" dirty="0">
              <a:solidFill>
                <a:srgbClr val="FFC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863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762C4-E888-63AF-EB44-BB968BB62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48AB356-C311-6003-DC63-32F1E0E58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A5B722F-D057-00AD-F801-2B132F347B26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32809A-6C1C-EF5D-012C-2F03E7E36868}"/>
              </a:ext>
            </a:extLst>
          </p:cNvPr>
          <p:cNvSpPr txBox="1"/>
          <p:nvPr/>
        </p:nvSpPr>
        <p:spPr>
          <a:xfrm>
            <a:off x="820833" y="676631"/>
            <a:ext cx="85593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BanditDB learns from experience in real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4A9608-B413-38B5-4604-994EF4F4959B}"/>
              </a:ext>
            </a:extLst>
          </p:cNvPr>
          <p:cNvSpPr txBox="1"/>
          <p:nvPr/>
        </p:nvSpPr>
        <p:spPr>
          <a:xfrm>
            <a:off x="820833" y="1638062"/>
            <a:ext cx="39812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The Self-Learning Loop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2E026A-0DD0-3581-2419-1BB4B8474FDA}"/>
              </a:ext>
            </a:extLst>
          </p:cNvPr>
          <p:cNvSpPr/>
          <p:nvPr/>
        </p:nvSpPr>
        <p:spPr>
          <a:xfrm>
            <a:off x="4343400" y="2582091"/>
            <a:ext cx="3566160" cy="3566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45167A-BA1F-68B1-2F3C-0E6E59C4833A}"/>
              </a:ext>
            </a:extLst>
          </p:cNvPr>
          <p:cNvSpPr txBox="1"/>
          <p:nvPr/>
        </p:nvSpPr>
        <p:spPr>
          <a:xfrm>
            <a:off x="4463525" y="2351825"/>
            <a:ext cx="338328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Action</a:t>
            </a:r>
          </a:p>
          <a:p>
            <a:pPr algn="l">
              <a:spcBef>
                <a:spcPts val="0"/>
              </a:spcBef>
            </a:pPr>
            <a:endParaRPr lang="en-US" sz="2800" b="1" dirty="0">
              <a:solidFill>
                <a:srgbClr val="FFFFFF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900" b="1" dirty="0">
                <a:solidFill>
                  <a:srgbClr val="FFFFFF"/>
                </a:solidFill>
                <a:latin typeface="Aptos" panose="020B0004020202020204" pitchFamily="34" charset="0"/>
              </a:rPr>
              <a:t>DB Computes Optimal Decision</a:t>
            </a:r>
          </a:p>
          <a:p>
            <a:pPr algn="l">
              <a:spcBef>
                <a:spcPts val="0"/>
              </a:spcBef>
            </a:pPr>
            <a:endParaRPr lang="en-US" sz="2800" b="1" dirty="0">
              <a:solidFill>
                <a:srgbClr val="FFFFFF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800" b="1" dirty="0">
                <a:solidFill>
                  <a:srgbClr val="FFC000"/>
                </a:solidFill>
                <a:latin typeface="Aptos" panose="020B0004020202020204" pitchFamily="34" charset="0"/>
              </a:rPr>
              <a:t>predict</a:t>
            </a:r>
            <a:endParaRPr sz="2800" b="1" dirty="0">
              <a:solidFill>
                <a:srgbClr val="FFC000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D6005F-BAC8-AB61-8A45-F894B346FE5E}"/>
              </a:ext>
            </a:extLst>
          </p:cNvPr>
          <p:cNvSpPr/>
          <p:nvPr/>
        </p:nvSpPr>
        <p:spPr>
          <a:xfrm>
            <a:off x="8183880" y="2582091"/>
            <a:ext cx="3566160" cy="3566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2AD850-9FE3-41EE-63E1-D7DCFFC5E3B6}"/>
              </a:ext>
            </a:extLst>
          </p:cNvPr>
          <p:cNvSpPr txBox="1"/>
          <p:nvPr/>
        </p:nvSpPr>
        <p:spPr>
          <a:xfrm>
            <a:off x="8304005" y="2351825"/>
            <a:ext cx="332232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Update</a:t>
            </a:r>
          </a:p>
          <a:p>
            <a:pPr algn="l">
              <a:spcBef>
                <a:spcPts val="0"/>
              </a:spcBef>
            </a:pPr>
            <a:endParaRPr lang="en-US" sz="2800" b="1" dirty="0">
              <a:solidFill>
                <a:srgbClr val="FFFFFF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900" b="1" dirty="0">
                <a:solidFill>
                  <a:srgbClr val="FFFFFF"/>
                </a:solidFill>
                <a:latin typeface="Aptos" panose="020B0004020202020204" pitchFamily="34" charset="0"/>
              </a:rPr>
              <a:t>Agent Reports Actual Outcome</a:t>
            </a:r>
          </a:p>
          <a:p>
            <a:endParaRPr lang="en-US" sz="2800" b="1" dirty="0">
              <a:solidFill>
                <a:srgbClr val="FFC000"/>
              </a:solidFill>
              <a:latin typeface="Aptos" panose="020B0004020202020204" pitchFamily="34" charset="0"/>
            </a:endParaRPr>
          </a:p>
          <a:p>
            <a:r>
              <a:rPr lang="en-US" sz="2800" b="1" dirty="0">
                <a:solidFill>
                  <a:srgbClr val="FFC000"/>
                </a:solidFill>
                <a:latin typeface="Aptos" panose="020B0004020202020204" pitchFamily="34" charset="0"/>
              </a:rPr>
              <a:t>reward</a:t>
            </a:r>
            <a:endParaRPr sz="2800" b="1" dirty="0">
              <a:solidFill>
                <a:srgbClr val="FFC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310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7A8B5-BA5C-39B3-2B74-34A90120E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97AEF266-AF46-48D1-69B0-24449B1404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71E7036-951F-3DBD-E42C-DDCB2C5C302A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5DC98-79DD-95F5-2539-E8ADF22D5397}"/>
              </a:ext>
            </a:extLst>
          </p:cNvPr>
          <p:cNvSpPr txBox="1"/>
          <p:nvPr/>
        </p:nvSpPr>
        <p:spPr>
          <a:xfrm>
            <a:off x="820833" y="676631"/>
            <a:ext cx="8520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10x Faster Optimization. Ship in an afternoon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5F3E36-BA8E-1D97-B553-40C81426BA28}"/>
              </a:ext>
            </a:extLst>
          </p:cNvPr>
          <p:cNvSpPr/>
          <p:nvPr/>
        </p:nvSpPr>
        <p:spPr>
          <a:xfrm>
            <a:off x="1079846" y="2852109"/>
            <a:ext cx="50800" cy="10515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A9A3B7-EA0B-063B-7482-59CFB23D4F92}"/>
              </a:ext>
            </a:extLst>
          </p:cNvPr>
          <p:cNvSpPr txBox="1"/>
          <p:nvPr/>
        </p:nvSpPr>
        <p:spPr>
          <a:xfrm>
            <a:off x="1399886" y="2400604"/>
            <a:ext cx="3267176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800" b="1" dirty="0">
                <a:latin typeface="Aptos" panose="020B0004020202020204" pitchFamily="34" charset="0"/>
              </a:rPr>
              <a:t>Optimization Core:</a:t>
            </a:r>
            <a:endParaRPr sz="2800" b="1" dirty="0"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0C27AB-11B4-9EC4-46D0-83350E071896}"/>
              </a:ext>
            </a:extLst>
          </p:cNvPr>
          <p:cNvSpPr txBox="1"/>
          <p:nvPr/>
        </p:nvSpPr>
        <p:spPr>
          <a:xfrm>
            <a:off x="1399886" y="3051529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dirty="0"/>
              <a:t>AI Agents, Tools, Skills, Routings, </a:t>
            </a:r>
          </a:p>
          <a:p>
            <a:r>
              <a:rPr lang="en-US" dirty="0"/>
              <a:t>Orchestrations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D49DD4-C59E-626A-EC91-AD38A8D18C6E}"/>
              </a:ext>
            </a:extLst>
          </p:cNvPr>
          <p:cNvSpPr/>
          <p:nvPr/>
        </p:nvSpPr>
        <p:spPr>
          <a:xfrm>
            <a:off x="1079846" y="4676970"/>
            <a:ext cx="50800" cy="10515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5D3CF3-9C4D-927A-D247-3C1B7478B0AE}"/>
              </a:ext>
            </a:extLst>
          </p:cNvPr>
          <p:cNvSpPr txBox="1"/>
          <p:nvPr/>
        </p:nvSpPr>
        <p:spPr>
          <a:xfrm>
            <a:off x="1399886" y="4225465"/>
            <a:ext cx="3278526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800" b="1" dirty="0">
                <a:latin typeface="Aptos" panose="020B0004020202020204" pitchFamily="34" charset="0"/>
              </a:rPr>
              <a:t>Business Revenue:</a:t>
            </a:r>
            <a:endParaRPr sz="2800" b="1" dirty="0"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8F75BA-D4B6-C199-AA69-12C43FE4AE09}"/>
              </a:ext>
            </a:extLst>
          </p:cNvPr>
          <p:cNvSpPr txBox="1"/>
          <p:nvPr/>
        </p:nvSpPr>
        <p:spPr>
          <a:xfrm>
            <a:off x="1399886" y="4876390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dirty="0"/>
              <a:t>Advertising, Dynamic Pricing, Churn Prevention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F5B548-C698-AFF8-6EE8-4D36E3662AF0}"/>
              </a:ext>
            </a:extLst>
          </p:cNvPr>
          <p:cNvSpPr/>
          <p:nvPr/>
        </p:nvSpPr>
        <p:spPr>
          <a:xfrm>
            <a:off x="6159536" y="2852109"/>
            <a:ext cx="50800" cy="10515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BCA7F0-5F38-1C34-DEF4-A49BC5978305}"/>
              </a:ext>
            </a:extLst>
          </p:cNvPr>
          <p:cNvSpPr txBox="1"/>
          <p:nvPr/>
        </p:nvSpPr>
        <p:spPr>
          <a:xfrm>
            <a:off x="6479576" y="2400604"/>
            <a:ext cx="2952796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800" b="1" dirty="0">
                <a:latin typeface="Aptos" panose="020B0004020202020204" pitchFamily="34" charset="0"/>
              </a:rPr>
              <a:t>User experience:</a:t>
            </a:r>
            <a:endParaRPr sz="2800" b="1" dirty="0"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91EF1F-A2FF-CD61-4DD5-C29B3D5900F0}"/>
              </a:ext>
            </a:extLst>
          </p:cNvPr>
          <p:cNvSpPr txBox="1"/>
          <p:nvPr/>
        </p:nvSpPr>
        <p:spPr>
          <a:xfrm>
            <a:off x="6479576" y="3051529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dirty="0"/>
              <a:t>Experimentation, Personalization, Recommendation, Education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EDDFAA-B76B-DD9D-1CD5-BB7C24C69459}"/>
              </a:ext>
            </a:extLst>
          </p:cNvPr>
          <p:cNvSpPr/>
          <p:nvPr/>
        </p:nvSpPr>
        <p:spPr>
          <a:xfrm>
            <a:off x="6159536" y="4676970"/>
            <a:ext cx="50800" cy="10515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847BB5-C167-CAC1-D34B-78B8FFB1AD8E}"/>
              </a:ext>
            </a:extLst>
          </p:cNvPr>
          <p:cNvSpPr txBox="1"/>
          <p:nvPr/>
        </p:nvSpPr>
        <p:spPr>
          <a:xfrm>
            <a:off x="6479576" y="4225465"/>
            <a:ext cx="3558282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800" b="1" dirty="0">
                <a:latin typeface="Aptos" panose="020B0004020202020204" pitchFamily="34" charset="0"/>
              </a:rPr>
              <a:t>High-Stakes Critical:</a:t>
            </a:r>
            <a:endParaRPr sz="2800" b="1" dirty="0"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32874E-01A6-AC2C-FF7F-E258A9F39F9B}"/>
              </a:ext>
            </a:extLst>
          </p:cNvPr>
          <p:cNvSpPr txBox="1"/>
          <p:nvPr/>
        </p:nvSpPr>
        <p:spPr>
          <a:xfrm>
            <a:off x="6479576" y="4876390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dirty="0"/>
              <a:t>Clinical Trials, Public Health,</a:t>
            </a:r>
          </a:p>
          <a:p>
            <a:r>
              <a:rPr lang="en-US" dirty="0"/>
              <a:t>Fraud &amp; Risk, </a:t>
            </a: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Fintech, Edge devices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4A81A8-BE91-582D-53E9-372A52220E23}"/>
              </a:ext>
            </a:extLst>
          </p:cNvPr>
          <p:cNvSpPr txBox="1"/>
          <p:nvPr/>
        </p:nvSpPr>
        <p:spPr>
          <a:xfrm>
            <a:off x="820833" y="1638062"/>
            <a:ext cx="6083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Democratizing Decision Intelligence</a:t>
            </a:r>
          </a:p>
        </p:txBody>
      </p:sp>
    </p:spTree>
    <p:extLst>
      <p:ext uri="{BB962C8B-B14F-4D97-AF65-F5344CB8AC3E}">
        <p14:creationId xmlns:p14="http://schemas.microsoft.com/office/powerpoint/2010/main" val="2208755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B17D6-FEBD-570E-AA6E-CE65F2686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C297DFC8-5BD8-1633-88C2-1CCBD3700D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3394F9-8B38-EDBC-A531-6C409C1D1E79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69D3FD-F315-A4A2-B70A-26B69C6017DA}"/>
              </a:ext>
            </a:extLst>
          </p:cNvPr>
          <p:cNvSpPr txBox="1"/>
          <p:nvPr/>
        </p:nvSpPr>
        <p:spPr>
          <a:xfrm>
            <a:off x="820833" y="676631"/>
            <a:ext cx="79927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The Control Plane for AI Decision Learning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315FFD-A684-2EA3-EB21-E1210BDB302D}"/>
              </a:ext>
            </a:extLst>
          </p:cNvPr>
          <p:cNvSpPr/>
          <p:nvPr/>
        </p:nvSpPr>
        <p:spPr>
          <a:xfrm>
            <a:off x="1079846" y="2574194"/>
            <a:ext cx="50800" cy="10515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58FE15-DCB8-F485-C67E-850389DDEDB3}"/>
              </a:ext>
            </a:extLst>
          </p:cNvPr>
          <p:cNvSpPr txBox="1"/>
          <p:nvPr/>
        </p:nvSpPr>
        <p:spPr>
          <a:xfrm>
            <a:off x="1399886" y="2122689"/>
            <a:ext cx="3802388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800" b="1" dirty="0">
                <a:latin typeface="Aptos" panose="020B0004020202020204" pitchFamily="34" charset="0"/>
              </a:rPr>
              <a:t>Instant Causal Impact</a:t>
            </a:r>
            <a:endParaRPr sz="2800" b="1" dirty="0"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31FEA6-CF2F-86C8-23A6-145E41921A8A}"/>
              </a:ext>
            </a:extLst>
          </p:cNvPr>
          <p:cNvSpPr txBox="1"/>
          <p:nvPr/>
        </p:nvSpPr>
        <p:spPr>
          <a:xfrm>
            <a:off x="1399886" y="2773614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dirty="0"/>
              <a:t>Decision confidence  tracking. Turns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stochasticity in deterministic rules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78F6AF-F4AD-CA89-D4EA-237EC957C3A5}"/>
              </a:ext>
            </a:extLst>
          </p:cNvPr>
          <p:cNvSpPr/>
          <p:nvPr/>
        </p:nvSpPr>
        <p:spPr>
          <a:xfrm>
            <a:off x="1079846" y="4399055"/>
            <a:ext cx="50800" cy="10515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4D18FF-17D5-292F-92E9-D0A5DD75BB69}"/>
              </a:ext>
            </a:extLst>
          </p:cNvPr>
          <p:cNvSpPr txBox="1"/>
          <p:nvPr/>
        </p:nvSpPr>
        <p:spPr>
          <a:xfrm>
            <a:off x="1399886" y="3947550"/>
            <a:ext cx="2165336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800" b="1" dirty="0">
                <a:latin typeface="Aptos" panose="020B0004020202020204" pitchFamily="34" charset="0"/>
              </a:rPr>
              <a:t>Governance</a:t>
            </a:r>
            <a:endParaRPr sz="2800" b="1" dirty="0"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236C41-D4F2-6CA2-D782-31732671DFA1}"/>
              </a:ext>
            </a:extLst>
          </p:cNvPr>
          <p:cNvSpPr txBox="1"/>
          <p:nvPr/>
        </p:nvSpPr>
        <p:spPr>
          <a:xfrm>
            <a:off x="1399886" y="4598475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dirty="0"/>
              <a:t>Predict-and-reward history for governance</a:t>
            </a:r>
          </a:p>
          <a:p>
            <a:r>
              <a:rPr lang="en-US" dirty="0"/>
              <a:t>and compliance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3D8D95-1BB9-2DD5-9EF4-B9A139BA3523}"/>
              </a:ext>
            </a:extLst>
          </p:cNvPr>
          <p:cNvSpPr/>
          <p:nvPr/>
        </p:nvSpPr>
        <p:spPr>
          <a:xfrm>
            <a:off x="6159536" y="2574194"/>
            <a:ext cx="50800" cy="10515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E58239-52C6-6953-0F74-2FBE2979BC5E}"/>
              </a:ext>
            </a:extLst>
          </p:cNvPr>
          <p:cNvSpPr txBox="1"/>
          <p:nvPr/>
        </p:nvSpPr>
        <p:spPr>
          <a:xfrm>
            <a:off x="6479576" y="2122689"/>
            <a:ext cx="2850652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800" b="1" dirty="0">
                <a:latin typeface="Aptos" panose="020B0004020202020204" pitchFamily="34" charset="0"/>
              </a:rPr>
              <a:t>Safe Exploration</a:t>
            </a:r>
            <a:endParaRPr sz="2800" b="1" dirty="0"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BFB839-4EC3-AE1C-3C4A-059FF480D723}"/>
              </a:ext>
            </a:extLst>
          </p:cNvPr>
          <p:cNvSpPr txBox="1"/>
          <p:nvPr/>
        </p:nvSpPr>
        <p:spPr>
          <a:xfrm>
            <a:off x="6479576" y="2773614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dirty="0"/>
              <a:t>Monitor exploration, convergence, </a:t>
            </a:r>
          </a:p>
          <a:p>
            <a:r>
              <a:rPr lang="en-US" dirty="0"/>
              <a:t>confidence, and policy health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1DEAD28-1735-5DC3-7EDF-D9E6BCBB6914}"/>
              </a:ext>
            </a:extLst>
          </p:cNvPr>
          <p:cNvSpPr/>
          <p:nvPr/>
        </p:nvSpPr>
        <p:spPr>
          <a:xfrm>
            <a:off x="6159536" y="4399055"/>
            <a:ext cx="50800" cy="10515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7D4325-C4D9-D995-871A-68B2C446ABF5}"/>
              </a:ext>
            </a:extLst>
          </p:cNvPr>
          <p:cNvSpPr txBox="1"/>
          <p:nvPr/>
        </p:nvSpPr>
        <p:spPr>
          <a:xfrm>
            <a:off x="6479576" y="3947550"/>
            <a:ext cx="2873544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800" b="1" dirty="0">
                <a:latin typeface="Aptos" panose="020B0004020202020204" pitchFamily="34" charset="0"/>
              </a:rPr>
              <a:t>Enterprise ready</a:t>
            </a:r>
            <a:endParaRPr sz="2800" b="1" dirty="0"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FA1983-737C-02CF-2D3E-4629AECD8598}"/>
              </a:ext>
            </a:extLst>
          </p:cNvPr>
          <p:cNvSpPr txBox="1"/>
          <p:nvPr/>
        </p:nvSpPr>
        <p:spPr>
          <a:xfrm>
            <a:off x="6479576" y="4598475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dirty="0"/>
              <a:t>Backup, restore, multi-tenancy, access control, and rate limits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058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CA4F3-60E7-B48F-F9E0-338FA03C9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1F29A4C0-4C45-D723-4E67-6C5588E9A6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B5AB7B5-E3F0-A2AC-9B43-BDA7A151E4E9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E25991-6880-EE49-BC5F-24EB31EB7F16}"/>
              </a:ext>
            </a:extLst>
          </p:cNvPr>
          <p:cNvSpPr txBox="1"/>
          <p:nvPr/>
        </p:nvSpPr>
        <p:spPr>
          <a:xfrm>
            <a:off x="820833" y="676631"/>
            <a:ext cx="38194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Legacy Alternatives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9D7DB8-8913-2E44-8BD7-E434DCD6303B}"/>
              </a:ext>
            </a:extLst>
          </p:cNvPr>
          <p:cNvGrpSpPr/>
          <p:nvPr/>
        </p:nvGrpSpPr>
        <p:grpSpPr>
          <a:xfrm>
            <a:off x="1133756" y="1388179"/>
            <a:ext cx="9517814" cy="963970"/>
            <a:chOff x="703445" y="1237076"/>
            <a:chExt cx="9517814" cy="96397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02D249D-1C57-337A-20CC-9B4023F05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73772" y="1645812"/>
              <a:ext cx="1391687" cy="491674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8F9C3E0-6C44-0450-5523-9CCC78999B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11746" y="1567108"/>
              <a:ext cx="1946231" cy="633938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8AC802E-5763-8392-B986-582C0D5E1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03445" y="1787778"/>
              <a:ext cx="2344556" cy="387907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D4DC0D2-139A-D0C0-A52C-F28B9CD9B9D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46048" y="1429830"/>
              <a:ext cx="1494229" cy="77121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7038B21-CADF-FA0B-A3F7-2C38E2BF3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346141" y="1237076"/>
              <a:ext cx="1875118" cy="963969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08134722-3130-A30B-5987-DB1DD71F1C66}"/>
              </a:ext>
            </a:extLst>
          </p:cNvPr>
          <p:cNvSpPr/>
          <p:nvPr/>
        </p:nvSpPr>
        <p:spPr>
          <a:xfrm>
            <a:off x="1196791" y="2678897"/>
            <a:ext cx="4415119" cy="8800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1C6F4B-7FCF-ABAD-0363-11AC1E4FC37D}"/>
              </a:ext>
            </a:extLst>
          </p:cNvPr>
          <p:cNvSpPr/>
          <p:nvPr/>
        </p:nvSpPr>
        <p:spPr>
          <a:xfrm>
            <a:off x="5809135" y="2678897"/>
            <a:ext cx="4559791" cy="880091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19B17E-A534-B83C-5F5B-EA694A4E4A69}"/>
              </a:ext>
            </a:extLst>
          </p:cNvPr>
          <p:cNvSpPr txBox="1"/>
          <p:nvPr/>
        </p:nvSpPr>
        <p:spPr>
          <a:xfrm>
            <a:off x="5934354" y="2819311"/>
            <a:ext cx="36847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1" dirty="0">
                <a:solidFill>
                  <a:srgbClr val="FFC000"/>
                </a:solidFill>
                <a:latin typeface="Aptos" panose="020B0004020202020204" pitchFamily="34" charset="0"/>
              </a:rPr>
              <a:t>Vector Database</a:t>
            </a:r>
          </a:p>
          <a:p>
            <a:pPr algn="l">
              <a:spcBef>
                <a:spcPts val="0"/>
              </a:spcBef>
            </a:pPr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</a:rPr>
              <a:t>Finds similar items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96FCF0-C636-36B0-2085-7E9208F33FE9}"/>
              </a:ext>
            </a:extLst>
          </p:cNvPr>
          <p:cNvSpPr txBox="1"/>
          <p:nvPr/>
        </p:nvSpPr>
        <p:spPr>
          <a:xfrm>
            <a:off x="1318475" y="2819311"/>
            <a:ext cx="39707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1" dirty="0">
                <a:latin typeface="Aptos" panose="020B0004020202020204" pitchFamily="34" charset="0"/>
              </a:rPr>
              <a:t>BanditDB</a:t>
            </a:r>
          </a:p>
          <a:p>
            <a:pPr algn="l">
              <a:spcBef>
                <a:spcPts val="0"/>
              </a:spcBef>
            </a:pPr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</a:rPr>
              <a:t>Make optimal decisions in-memory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2B6C42-6411-D3F6-258B-F3B4515F682B}"/>
              </a:ext>
            </a:extLst>
          </p:cNvPr>
          <p:cNvSpPr/>
          <p:nvPr/>
        </p:nvSpPr>
        <p:spPr>
          <a:xfrm>
            <a:off x="820833" y="4641794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E83A59-B345-2D5D-1E28-5D3BEA9518F1}"/>
              </a:ext>
            </a:extLst>
          </p:cNvPr>
          <p:cNvSpPr txBox="1"/>
          <p:nvPr/>
        </p:nvSpPr>
        <p:spPr>
          <a:xfrm>
            <a:off x="820833" y="3949296"/>
            <a:ext cx="58927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Decision Infrastructure Market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45C4E0E-91AC-3047-29AA-493403B89316}"/>
              </a:ext>
            </a:extLst>
          </p:cNvPr>
          <p:cNvSpPr/>
          <p:nvPr/>
        </p:nvSpPr>
        <p:spPr>
          <a:xfrm>
            <a:off x="7584146" y="5251127"/>
            <a:ext cx="2784780" cy="880091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8E94DC9-700F-6DFB-C1D8-451CEE76954B}"/>
              </a:ext>
            </a:extLst>
          </p:cNvPr>
          <p:cNvSpPr/>
          <p:nvPr/>
        </p:nvSpPr>
        <p:spPr>
          <a:xfrm>
            <a:off x="1202401" y="5251127"/>
            <a:ext cx="2784780" cy="880091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23F5175-F696-8F61-73AC-FC4FFE7DCDA9}"/>
              </a:ext>
            </a:extLst>
          </p:cNvPr>
          <p:cNvSpPr/>
          <p:nvPr/>
        </p:nvSpPr>
        <p:spPr>
          <a:xfrm>
            <a:off x="4393273" y="5251127"/>
            <a:ext cx="2784780" cy="880091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688F1F-2D24-39BA-E1E7-C6F1AFDE6D59}"/>
              </a:ext>
            </a:extLst>
          </p:cNvPr>
          <p:cNvSpPr txBox="1"/>
          <p:nvPr/>
        </p:nvSpPr>
        <p:spPr>
          <a:xfrm>
            <a:off x="1605717" y="5406203"/>
            <a:ext cx="19602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3200" b="1" dirty="0">
                <a:solidFill>
                  <a:schemeClr val="bg1"/>
                </a:solidFill>
                <a:latin typeface="Aptos" panose="020B0004020202020204" pitchFamily="34" charset="0"/>
              </a:rPr>
              <a:t>TAM </a:t>
            </a:r>
            <a:r>
              <a:rPr sz="3200" b="1" dirty="0">
                <a:solidFill>
                  <a:schemeClr val="bg1"/>
                </a:solidFill>
                <a:latin typeface="Aptos" panose="020B0004020202020204" pitchFamily="34" charset="0"/>
              </a:rPr>
              <a:t>$</a:t>
            </a:r>
            <a:r>
              <a:rPr lang="en-US" sz="3200" b="1" dirty="0">
                <a:solidFill>
                  <a:schemeClr val="bg1"/>
                </a:solidFill>
                <a:latin typeface="Aptos" panose="020B0004020202020204" pitchFamily="34" charset="0"/>
              </a:rPr>
              <a:t>17</a:t>
            </a:r>
            <a:r>
              <a:rPr sz="3200" b="1" dirty="0">
                <a:solidFill>
                  <a:schemeClr val="bg1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38D28B-AED5-64BD-9E77-A2645C493F97}"/>
              </a:ext>
            </a:extLst>
          </p:cNvPr>
          <p:cNvSpPr txBox="1"/>
          <p:nvPr/>
        </p:nvSpPr>
        <p:spPr>
          <a:xfrm>
            <a:off x="4888825" y="5412831"/>
            <a:ext cx="179748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3200" b="1" dirty="0">
                <a:solidFill>
                  <a:schemeClr val="bg1"/>
                </a:solidFill>
                <a:latin typeface="Aptos" panose="020B0004020202020204" pitchFamily="34" charset="0"/>
              </a:rPr>
              <a:t>SAM </a:t>
            </a:r>
            <a:r>
              <a:rPr sz="3200" b="1" dirty="0">
                <a:solidFill>
                  <a:schemeClr val="bg1"/>
                </a:solidFill>
                <a:latin typeface="Aptos" panose="020B0004020202020204" pitchFamily="34" charset="0"/>
              </a:rPr>
              <a:t>$</a:t>
            </a:r>
            <a:r>
              <a:rPr lang="en-US" sz="3200" b="1" dirty="0">
                <a:solidFill>
                  <a:schemeClr val="bg1"/>
                </a:solidFill>
                <a:latin typeface="Aptos" panose="020B0004020202020204" pitchFamily="34" charset="0"/>
              </a:rPr>
              <a:t>5</a:t>
            </a:r>
            <a:r>
              <a:rPr sz="3200" b="1" dirty="0">
                <a:solidFill>
                  <a:schemeClr val="bg1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A451FC-6866-A71F-63FE-39C38BE2060B}"/>
              </a:ext>
            </a:extLst>
          </p:cNvPr>
          <p:cNvSpPr txBox="1"/>
          <p:nvPr/>
        </p:nvSpPr>
        <p:spPr>
          <a:xfrm>
            <a:off x="8052447" y="5412830"/>
            <a:ext cx="184698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3200" b="1" dirty="0">
                <a:solidFill>
                  <a:schemeClr val="bg1"/>
                </a:solidFill>
                <a:latin typeface="Aptos" panose="020B0004020202020204" pitchFamily="34" charset="0"/>
              </a:rPr>
              <a:t>SOM </a:t>
            </a:r>
            <a:r>
              <a:rPr sz="3200" b="1" dirty="0">
                <a:solidFill>
                  <a:schemeClr val="bg1"/>
                </a:solidFill>
                <a:latin typeface="Aptos" panose="020B0004020202020204" pitchFamily="34" charset="0"/>
              </a:rPr>
              <a:t>$</a:t>
            </a:r>
            <a:r>
              <a:rPr lang="en-US" sz="3200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r>
              <a:rPr sz="3200" b="1" dirty="0">
                <a:solidFill>
                  <a:schemeClr val="bg1"/>
                </a:solidFill>
                <a:latin typeface="Aptos" panose="020B0004020202020204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793021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C3491-58EF-FB68-61E2-747A2C6E6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D8FDA60-0096-E73C-F89E-8B52FA1349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89C98E0-8A9C-C274-18CC-5FC6262E048D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FDB08B-EE46-1D19-7E20-224E6A48E9A1}"/>
              </a:ext>
            </a:extLst>
          </p:cNvPr>
          <p:cNvSpPr txBox="1"/>
          <p:nvPr/>
        </p:nvSpPr>
        <p:spPr>
          <a:xfrm>
            <a:off x="820833" y="676631"/>
            <a:ext cx="38892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The Business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06609F-F7FF-4ADD-9FD5-5117373B5925}"/>
              </a:ext>
            </a:extLst>
          </p:cNvPr>
          <p:cNvSpPr txBox="1"/>
          <p:nvPr/>
        </p:nvSpPr>
        <p:spPr>
          <a:xfrm>
            <a:off x="556054" y="1664836"/>
            <a:ext cx="11737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Open-source drives adoption </a:t>
            </a:r>
            <a:r>
              <a:rPr lang="en-US" sz="2000" b="0" dirty="0">
                <a:solidFill>
                  <a:srgbClr val="A0AABB"/>
                </a:solidFill>
                <a:latin typeface="Aptos" panose="020B0004020202020204" pitchFamily="34" charset="0"/>
              </a:rPr>
              <a:t>→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Cloud converts power users </a:t>
            </a:r>
            <a:r>
              <a:rPr lang="en-US" sz="2000" b="0" dirty="0">
                <a:solidFill>
                  <a:srgbClr val="A0AABB"/>
                </a:solidFill>
                <a:latin typeface="Aptos" panose="020B0004020202020204" pitchFamily="34" charset="0"/>
              </a:rPr>
              <a:t>→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Enterprise converts revenue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D6374B-9D0E-4F75-EE6D-98B1ECAADD96}"/>
              </a:ext>
            </a:extLst>
          </p:cNvPr>
          <p:cNvSpPr/>
          <p:nvPr/>
        </p:nvSpPr>
        <p:spPr>
          <a:xfrm>
            <a:off x="556054" y="2140509"/>
            <a:ext cx="3657600" cy="1517089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F10E5A-F046-845E-3D56-4CD46C5B3FF5}"/>
              </a:ext>
            </a:extLst>
          </p:cNvPr>
          <p:cNvSpPr txBox="1"/>
          <p:nvPr/>
        </p:nvSpPr>
        <p:spPr>
          <a:xfrm>
            <a:off x="720646" y="2140509"/>
            <a:ext cx="96853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900" b="1" dirty="0">
                <a:solidFill>
                  <a:schemeClr val="bg1"/>
                </a:solidFill>
                <a:latin typeface="Aptos" panose="020B0004020202020204" pitchFamily="34" charset="0"/>
              </a:rPr>
              <a:t>OPEN SOURCE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A9444D-4050-7934-FB5D-BB1443A6876E}"/>
              </a:ext>
            </a:extLst>
          </p:cNvPr>
          <p:cNvSpPr txBox="1"/>
          <p:nvPr/>
        </p:nvSpPr>
        <p:spPr>
          <a:xfrm>
            <a:off x="720646" y="2365405"/>
            <a:ext cx="1578317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000" b="1" dirty="0">
                <a:solidFill>
                  <a:srgbClr val="FFFFFF"/>
                </a:solidFill>
                <a:latin typeface="Aptos" panose="020B0004020202020204" pitchFamily="34" charset="0"/>
              </a:rPr>
              <a:t>Self-Hosted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353E63-6593-3B0A-1E36-5C5D502A990E}"/>
              </a:ext>
            </a:extLst>
          </p:cNvPr>
          <p:cNvSpPr txBox="1"/>
          <p:nvPr/>
        </p:nvSpPr>
        <p:spPr>
          <a:xfrm>
            <a:off x="720646" y="2661951"/>
            <a:ext cx="85369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600" b="1" dirty="0">
                <a:solidFill>
                  <a:schemeClr val="bg1"/>
                </a:solidFill>
                <a:latin typeface="Aptos" panose="020B0004020202020204" pitchFamily="34" charset="0"/>
              </a:rPr>
              <a:t>Free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D3B2D8F-168D-D391-5263-A5F75577C475}"/>
              </a:ext>
            </a:extLst>
          </p:cNvPr>
          <p:cNvSpPr/>
          <p:nvPr/>
        </p:nvSpPr>
        <p:spPr>
          <a:xfrm>
            <a:off x="4460542" y="2140509"/>
            <a:ext cx="3657600" cy="1517089"/>
          </a:xfrm>
          <a:prstGeom prst="rect">
            <a:avLst/>
          </a:prstGeom>
          <a:solidFill>
            <a:srgbClr val="0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F8AD52-92B1-8ECA-C525-0933B90E6F96}"/>
              </a:ext>
            </a:extLst>
          </p:cNvPr>
          <p:cNvSpPr txBox="1"/>
          <p:nvPr/>
        </p:nvSpPr>
        <p:spPr>
          <a:xfrm>
            <a:off x="4625134" y="2140509"/>
            <a:ext cx="115127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900" b="1" dirty="0">
                <a:solidFill>
                  <a:srgbClr val="2196F3"/>
                </a:solidFill>
                <a:latin typeface="Aptos" panose="020B0004020202020204" pitchFamily="34" charset="0"/>
              </a:rPr>
              <a:t>BANDITDB CLOUD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1008320-3D2D-53D4-BD0B-C360D127D573}"/>
              </a:ext>
            </a:extLst>
          </p:cNvPr>
          <p:cNvSpPr txBox="1"/>
          <p:nvPr/>
        </p:nvSpPr>
        <p:spPr>
          <a:xfrm>
            <a:off x="4625134" y="2365405"/>
            <a:ext cx="2004138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Aptos" panose="020B0004020202020204" pitchFamily="34" charset="0"/>
              </a:rPr>
              <a:t>Managed Cloud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BD8A9D-F3E9-1CAA-B6AF-56B16B08A20A}"/>
              </a:ext>
            </a:extLst>
          </p:cNvPr>
          <p:cNvSpPr txBox="1"/>
          <p:nvPr/>
        </p:nvSpPr>
        <p:spPr>
          <a:xfrm>
            <a:off x="4625134" y="2661951"/>
            <a:ext cx="217040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600" b="1" dirty="0">
                <a:solidFill>
                  <a:srgbClr val="2196F3"/>
                </a:solidFill>
                <a:latin typeface="Aptos" panose="020B0004020202020204" pitchFamily="34" charset="0"/>
              </a:rPr>
              <a:t>Usage-based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4430BAD-1905-8BB8-D0CD-C5EFA91E7329}"/>
              </a:ext>
            </a:extLst>
          </p:cNvPr>
          <p:cNvSpPr/>
          <p:nvPr/>
        </p:nvSpPr>
        <p:spPr>
          <a:xfrm>
            <a:off x="8365030" y="2140509"/>
            <a:ext cx="3657600" cy="1517089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8CBC8B3-5064-63A8-B40A-C97C4C5799FE}"/>
              </a:ext>
            </a:extLst>
          </p:cNvPr>
          <p:cNvSpPr txBox="1"/>
          <p:nvPr/>
        </p:nvSpPr>
        <p:spPr>
          <a:xfrm>
            <a:off x="8529622" y="2140509"/>
            <a:ext cx="84350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900" b="1">
                <a:solidFill>
                  <a:srgbClr val="FF6D00"/>
                </a:solidFill>
                <a:latin typeface="Aptos" panose="020B0004020202020204" pitchFamily="34" charset="0"/>
              </a:rPr>
              <a:t>ENTERPRISE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8CD3390-EABD-CB44-7D76-548DADCBABD1}"/>
              </a:ext>
            </a:extLst>
          </p:cNvPr>
          <p:cNvSpPr txBox="1"/>
          <p:nvPr/>
        </p:nvSpPr>
        <p:spPr>
          <a:xfrm>
            <a:off x="8529622" y="2365405"/>
            <a:ext cx="2482346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Aptos" panose="020B0004020202020204" pitchFamily="34" charset="0"/>
              </a:rPr>
              <a:t>Private Deployment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F0BD197-33E2-915C-99B8-32EB49CC8B5F}"/>
              </a:ext>
            </a:extLst>
          </p:cNvPr>
          <p:cNvSpPr txBox="1"/>
          <p:nvPr/>
        </p:nvSpPr>
        <p:spPr>
          <a:xfrm>
            <a:off x="8529622" y="2661951"/>
            <a:ext cx="138736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600" b="1">
                <a:solidFill>
                  <a:srgbClr val="FF6D00"/>
                </a:solidFill>
                <a:latin typeface="Aptos" panose="020B0004020202020204" pitchFamily="34" charset="0"/>
              </a:rPr>
              <a:t>Custom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369923-DB82-E5F1-617F-8D70F6FDB8CB}"/>
              </a:ext>
            </a:extLst>
          </p:cNvPr>
          <p:cNvSpPr/>
          <p:nvPr/>
        </p:nvSpPr>
        <p:spPr>
          <a:xfrm>
            <a:off x="820833" y="4677654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364430-42E0-41B1-281A-086AA11FA76F}"/>
              </a:ext>
            </a:extLst>
          </p:cNvPr>
          <p:cNvSpPr txBox="1"/>
          <p:nvPr/>
        </p:nvSpPr>
        <p:spPr>
          <a:xfrm>
            <a:off x="820833" y="3985156"/>
            <a:ext cx="16303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The Ask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2B3869-C8B5-FA2A-2B6D-E56B9698696C}"/>
              </a:ext>
            </a:extLst>
          </p:cNvPr>
          <p:cNvSpPr/>
          <p:nvPr/>
        </p:nvSpPr>
        <p:spPr>
          <a:xfrm>
            <a:off x="556054" y="5330030"/>
            <a:ext cx="3657600" cy="868217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FA2848-F109-4797-1A65-FBD75C13AB64}"/>
              </a:ext>
            </a:extLst>
          </p:cNvPr>
          <p:cNvSpPr/>
          <p:nvPr/>
        </p:nvSpPr>
        <p:spPr>
          <a:xfrm>
            <a:off x="4460542" y="5330030"/>
            <a:ext cx="3657600" cy="868217"/>
          </a:xfrm>
          <a:prstGeom prst="rect">
            <a:avLst/>
          </a:prstGeom>
          <a:solidFill>
            <a:srgbClr val="0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CA5B33-BBF1-825E-FDFF-511FBDBDCD0C}"/>
              </a:ext>
            </a:extLst>
          </p:cNvPr>
          <p:cNvSpPr/>
          <p:nvPr/>
        </p:nvSpPr>
        <p:spPr>
          <a:xfrm>
            <a:off x="8365030" y="5330030"/>
            <a:ext cx="3657600" cy="868217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E608F6-B06E-7AD7-B564-57CDC3671D98}"/>
              </a:ext>
            </a:extLst>
          </p:cNvPr>
          <p:cNvSpPr txBox="1"/>
          <p:nvPr/>
        </p:nvSpPr>
        <p:spPr>
          <a:xfrm>
            <a:off x="556054" y="4804906"/>
            <a:ext cx="11737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$600K to finish BanditDB Cloud and run the Go-To-Market motion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B0EB9F-0216-7698-5B6F-6D80C2616ECA}"/>
              </a:ext>
            </a:extLst>
          </p:cNvPr>
          <p:cNvSpPr txBox="1"/>
          <p:nvPr/>
        </p:nvSpPr>
        <p:spPr>
          <a:xfrm>
            <a:off x="900953" y="5302722"/>
            <a:ext cx="2154757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000" b="1" dirty="0">
                <a:solidFill>
                  <a:srgbClr val="FFFFFF"/>
                </a:solidFill>
                <a:latin typeface="Aptos" panose="020B0004020202020204" pitchFamily="34" charset="0"/>
              </a:rPr>
              <a:t>Engineering  </a:t>
            </a:r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  <a:r>
              <a:rPr sz="2000" b="1" dirty="0">
                <a:solidFill>
                  <a:srgbClr val="FFFFFF"/>
                </a:solidFill>
                <a:latin typeface="Aptos" panose="020B0004020202020204" pitchFamily="34" charset="0"/>
              </a:rPr>
              <a:t>0%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A97414-BCE7-B587-07A3-DD0A6DD25BBB}"/>
              </a:ext>
            </a:extLst>
          </p:cNvPr>
          <p:cNvSpPr txBox="1"/>
          <p:nvPr/>
        </p:nvSpPr>
        <p:spPr>
          <a:xfrm>
            <a:off x="4741433" y="5302722"/>
            <a:ext cx="2332305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000" b="1" dirty="0">
                <a:solidFill>
                  <a:srgbClr val="FFFFFF"/>
                </a:solidFill>
                <a:latin typeface="Aptos" panose="020B0004020202020204" pitchFamily="34" charset="0"/>
              </a:rPr>
              <a:t>Go-to-Market  </a:t>
            </a:r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7</a:t>
            </a:r>
            <a:r>
              <a:rPr sz="2000" b="1" dirty="0">
                <a:solidFill>
                  <a:srgbClr val="FFFFFF"/>
                </a:solidFill>
                <a:latin typeface="Aptos" panose="020B0004020202020204" pitchFamily="34" charset="0"/>
              </a:rPr>
              <a:t>0%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474863-67E5-587A-74AA-86FACA491C62}"/>
              </a:ext>
            </a:extLst>
          </p:cNvPr>
          <p:cNvSpPr txBox="1"/>
          <p:nvPr/>
        </p:nvSpPr>
        <p:spPr>
          <a:xfrm>
            <a:off x="8581913" y="5302722"/>
            <a:ext cx="2078198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Aptos" panose="020B0004020202020204" pitchFamily="34" charset="0"/>
              </a:rPr>
              <a:t>Operations  20%</a:t>
            </a:r>
          </a:p>
        </p:txBody>
      </p:sp>
    </p:spTree>
    <p:extLst>
      <p:ext uri="{BB962C8B-B14F-4D97-AF65-F5344CB8AC3E}">
        <p14:creationId xmlns:p14="http://schemas.microsoft.com/office/powerpoint/2010/main" val="2326641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6EB09-72D0-5784-BA33-7A49D5FD2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E9EEEB53-E541-D2D3-D508-A1F1358BE2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E6F967F-4941-75C0-75B6-CE24950578BE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55E823-5DC1-BBBF-4088-17C905FC6657}"/>
              </a:ext>
            </a:extLst>
          </p:cNvPr>
          <p:cNvSpPr txBox="1"/>
          <p:nvPr/>
        </p:nvSpPr>
        <p:spPr>
          <a:xfrm>
            <a:off x="820833" y="676631"/>
            <a:ext cx="24494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The Traction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399BD6-4B79-AACE-59A8-58FA1508A293}"/>
              </a:ext>
            </a:extLst>
          </p:cNvPr>
          <p:cNvSpPr/>
          <p:nvPr/>
        </p:nvSpPr>
        <p:spPr>
          <a:xfrm>
            <a:off x="903642" y="2117947"/>
            <a:ext cx="2453142" cy="33709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520C36-26B8-CAF1-432F-3ECB3E1073BB}"/>
              </a:ext>
            </a:extLst>
          </p:cNvPr>
          <p:cNvSpPr/>
          <p:nvPr/>
        </p:nvSpPr>
        <p:spPr>
          <a:xfrm>
            <a:off x="3642858" y="2117947"/>
            <a:ext cx="2453142" cy="3370924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61A783-6E79-D560-50F4-9388726AB426}"/>
              </a:ext>
            </a:extLst>
          </p:cNvPr>
          <p:cNvSpPr/>
          <p:nvPr/>
        </p:nvSpPr>
        <p:spPr>
          <a:xfrm>
            <a:off x="6382074" y="2117947"/>
            <a:ext cx="2453142" cy="3370924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E6931D-306D-DE56-F7E7-D11096D19650}"/>
              </a:ext>
            </a:extLst>
          </p:cNvPr>
          <p:cNvSpPr/>
          <p:nvPr/>
        </p:nvSpPr>
        <p:spPr>
          <a:xfrm>
            <a:off x="9121290" y="2117947"/>
            <a:ext cx="2453142" cy="3370924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2C49DF-9133-63B6-26A3-E08A0876CADC}"/>
              </a:ext>
            </a:extLst>
          </p:cNvPr>
          <p:cNvSpPr txBox="1"/>
          <p:nvPr/>
        </p:nvSpPr>
        <p:spPr>
          <a:xfrm>
            <a:off x="1049433" y="2782669"/>
            <a:ext cx="215096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1" dirty="0">
                <a:latin typeface="Aptos" panose="020B0004020202020204" pitchFamily="34" charset="0"/>
              </a:rPr>
              <a:t>Dynamic Pricing AI</a:t>
            </a:r>
          </a:p>
          <a:p>
            <a:pPr algn="l">
              <a:spcBef>
                <a:spcPts val="0"/>
              </a:spcBef>
            </a:pPr>
            <a:endParaRPr 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Handling $2M/month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DAD199-D162-4194-7A00-FACF5C828E39}"/>
              </a:ext>
            </a:extLst>
          </p:cNvPr>
          <p:cNvSpPr txBox="1"/>
          <p:nvPr/>
        </p:nvSpPr>
        <p:spPr>
          <a:xfrm>
            <a:off x="3793945" y="2782669"/>
            <a:ext cx="215096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1" dirty="0">
                <a:solidFill>
                  <a:schemeClr val="bg1"/>
                </a:solidFill>
                <a:latin typeface="Aptos" panose="020B0004020202020204" pitchFamily="34" charset="0"/>
              </a:rPr>
              <a:t>Accenture &gt;</a:t>
            </a:r>
          </a:p>
          <a:p>
            <a:pPr algn="l">
              <a:spcBef>
                <a:spcPts val="0"/>
              </a:spcBef>
            </a:pPr>
            <a:endParaRPr 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400" b="1" dirty="0">
                <a:solidFill>
                  <a:srgbClr val="FFC000"/>
                </a:solidFill>
                <a:latin typeface="Aptos" panose="020B0004020202020204" pitchFamily="34" charset="0"/>
              </a:rPr>
              <a:t>AI Agents</a:t>
            </a:r>
          </a:p>
          <a:p>
            <a:pPr algn="l">
              <a:spcBef>
                <a:spcPts val="0"/>
              </a:spcBef>
            </a:pPr>
            <a:r>
              <a:rPr lang="en-US" sz="2400" b="1" dirty="0">
                <a:solidFill>
                  <a:srgbClr val="FFC000"/>
                </a:solidFill>
                <a:latin typeface="Aptos" panose="020B0004020202020204" pitchFamily="34" charset="0"/>
              </a:rPr>
              <a:t>Orchestration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DCEC79-5FE3-A320-DFA4-A031CD863784}"/>
              </a:ext>
            </a:extLst>
          </p:cNvPr>
          <p:cNvSpPr txBox="1"/>
          <p:nvPr/>
        </p:nvSpPr>
        <p:spPr>
          <a:xfrm>
            <a:off x="6533161" y="2782669"/>
            <a:ext cx="215096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1" dirty="0">
                <a:solidFill>
                  <a:schemeClr val="bg1"/>
                </a:solidFill>
                <a:latin typeface="Aptos" panose="020B0004020202020204" pitchFamily="34" charset="0"/>
              </a:rPr>
              <a:t>Clinical Trials</a:t>
            </a:r>
          </a:p>
          <a:p>
            <a:pPr algn="l">
              <a:spcBef>
                <a:spcPts val="0"/>
              </a:spcBef>
            </a:pPr>
            <a:endParaRPr 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400" b="1" dirty="0">
                <a:solidFill>
                  <a:srgbClr val="FFC000"/>
                </a:solidFill>
                <a:latin typeface="Aptos" panose="020B0004020202020204" pitchFamily="34" charset="0"/>
              </a:rPr>
              <a:t>Right dosage</a:t>
            </a:r>
          </a:p>
          <a:p>
            <a:pPr algn="l">
              <a:spcBef>
                <a:spcPts val="0"/>
              </a:spcBef>
            </a:pPr>
            <a:r>
              <a:rPr lang="en-US" sz="2400" b="1" dirty="0">
                <a:solidFill>
                  <a:srgbClr val="FFC000"/>
                </a:solidFill>
                <a:latin typeface="Aptos" panose="020B0004020202020204" pitchFamily="34" charset="0"/>
              </a:rPr>
              <a:t>prescription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B6D771-C298-C74E-E39D-2F0FA613961E}"/>
              </a:ext>
            </a:extLst>
          </p:cNvPr>
          <p:cNvSpPr txBox="1"/>
          <p:nvPr/>
        </p:nvSpPr>
        <p:spPr>
          <a:xfrm>
            <a:off x="9357043" y="2782669"/>
            <a:ext cx="215096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1" dirty="0">
                <a:solidFill>
                  <a:schemeClr val="bg1"/>
                </a:solidFill>
                <a:latin typeface="Aptos" panose="020B0004020202020204" pitchFamily="34" charset="0"/>
              </a:rPr>
              <a:t>Ed Tech</a:t>
            </a:r>
          </a:p>
          <a:p>
            <a:pPr algn="l">
              <a:spcBef>
                <a:spcPts val="0"/>
              </a:spcBef>
            </a:pPr>
            <a:endParaRPr 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400" b="1" dirty="0">
                <a:solidFill>
                  <a:srgbClr val="FFC000"/>
                </a:solidFill>
                <a:latin typeface="Aptos" panose="020B0004020202020204" pitchFamily="34" charset="0"/>
              </a:rPr>
              <a:t>Personalized</a:t>
            </a:r>
          </a:p>
          <a:p>
            <a:pPr algn="l">
              <a:spcBef>
                <a:spcPts val="0"/>
              </a:spcBef>
            </a:pPr>
            <a:r>
              <a:rPr lang="en-US" sz="2400" b="1" dirty="0">
                <a:solidFill>
                  <a:srgbClr val="FFC000"/>
                </a:solidFill>
                <a:latin typeface="Aptos" panose="020B0004020202020204" pitchFamily="34" charset="0"/>
              </a:rPr>
              <a:t>education</a:t>
            </a:r>
          </a:p>
        </p:txBody>
      </p:sp>
    </p:spTree>
    <p:extLst>
      <p:ext uri="{BB962C8B-B14F-4D97-AF65-F5344CB8AC3E}">
        <p14:creationId xmlns:p14="http://schemas.microsoft.com/office/powerpoint/2010/main" val="772547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7E1E7-1D1A-1AFB-BC88-0DA2D0F45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6FABD28-312F-12D1-E62F-F0D1B38453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76088" y="2710760"/>
            <a:ext cx="4336597" cy="22586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54501B-C3F4-2A8A-404A-4A53957A90C4}"/>
              </a:ext>
            </a:extLst>
          </p:cNvPr>
          <p:cNvSpPr txBox="1"/>
          <p:nvPr/>
        </p:nvSpPr>
        <p:spPr>
          <a:xfrm>
            <a:off x="4390779" y="1195053"/>
            <a:ext cx="27072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Thank You!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C4B528-2670-AC5B-2BE4-DB9D59129050}"/>
              </a:ext>
            </a:extLst>
          </p:cNvPr>
          <p:cNvSpPr txBox="1"/>
          <p:nvPr/>
        </p:nvSpPr>
        <p:spPr>
          <a:xfrm>
            <a:off x="3024635" y="6157096"/>
            <a:ext cx="66808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hlinkClick r:id="rId4"/>
              </a:rPr>
              <a:t>https://banditdb.com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, contact: Simeon Lukov,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hlinkClick r:id="rId5"/>
              </a:rPr>
              <a:t>s.lukov@dynamicpricing.ai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393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37365</TotalTime>
  <Words>295</Words>
  <Application>Microsoft Macintosh PowerPoint</Application>
  <PresentationFormat>Widescreen</PresentationFormat>
  <Paragraphs>123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Simeon Lukov</dc:creator>
  <cp:lastModifiedBy>Simeon Lukov</cp:lastModifiedBy>
  <cp:revision>13</cp:revision>
  <dcterms:created xsi:type="dcterms:W3CDTF">2026-06-08T07:26:40Z</dcterms:created>
  <dcterms:modified xsi:type="dcterms:W3CDTF">2026-07-16T09:22:54Z</dcterms:modified>
</cp:coreProperties>
</file>