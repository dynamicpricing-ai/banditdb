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3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073A0DAA-6AF3-43AB-8588-CEC1D06C72B9}" styleName="Medium Style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dk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1"/>
    <p:restoredTop sz="94658"/>
  </p:normalViewPr>
  <p:slideViewPr>
    <p:cSldViewPr snapToGrid="0">
      <p:cViewPr varScale="1">
        <p:scale>
          <a:sx n="104" d="100"/>
          <a:sy n="104" d="100"/>
        </p:scale>
        <p:origin x="232" y="54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viewProps" Target="view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6CAEE0C5-4E6F-054B-BC18-D1820C2BC5C1}" type="datetimeFigureOut">
              <a:rPr lang="en-US" smtClean="0"/>
              <a:t>6/8/26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23036018-D559-6144-94CE-093755614F6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9105629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3036018-D559-6144-94CE-093755614F64}" type="slidenum">
              <a:rPr lang="en-US" smtClean="0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47185969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5F76C47-B709-4462-5514-1BD66CBF7EA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9B76EFA4-7BB6-52FA-107D-E5A2D69AF390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2A9C25D3-400E-1D70-FFE5-192C66B90B3D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2890DA6-A567-ADE5-E621-A8D2B4D427A0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3036018-D559-6144-94CE-093755614F64}" type="slidenum">
              <a:rPr lang="en-US" smtClean="0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2178105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B44EC65-7197-DD8E-6A07-84BA67CFF1B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7899D978-B965-9B69-52E2-EA4F430C0D0D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729249E7-50B2-E529-2FF2-8A4860E1A9CF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98944A0-B6B7-9770-75D5-AFDA9D91F389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3036018-D559-6144-94CE-093755614F64}" type="slidenum">
              <a:rPr lang="en-US" smtClean="0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09565127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AF844B7-A6C7-FB42-EB2A-D1732E7811F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EAE70898-FC98-94FD-E1B2-BF4BE64C06F0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77EC950C-DD20-67C3-E610-3B27D79CF61D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C159F65-54BC-BE38-D75A-D344ECE11161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3036018-D559-6144-94CE-093755614F64}" type="slidenum">
              <a:rPr lang="en-US" smtClean="0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38721770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B0B1CE2-A89E-66AC-DDD2-9A4E55DC994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7612081C-E851-3AF6-83CB-ADF28FE95A93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4ABFD11A-7973-077F-BF79-27638B30A96C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DA075C4-1D10-0EE7-36B1-BE5408261D2D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3036018-D559-6144-94CE-093755614F64}" type="slidenum">
              <a:rPr lang="en-US" smtClean="0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32653049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ED24280-64D4-8888-145D-032EE25858C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8D97DF7B-5D75-DC4D-905D-0AC3F65DE2A4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CB65E670-FB36-4118-F272-3F1092BCD139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B62CA88-D8A4-1FB9-E45E-E6D0308BB7CB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3036018-D559-6144-94CE-093755614F64}" type="slidenum">
              <a:rPr lang="en-US" smtClean="0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07622773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630E518-F44B-F6B3-1B8A-580C8603F31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94A35106-69FB-CBA4-D821-A67BA59F3D56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512F440A-96B1-F435-F434-524367AB25AF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455B99D-EB76-1FA9-44C4-7ECFE31007DE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3036018-D559-6144-94CE-093755614F64}" type="slidenum">
              <a:rPr lang="en-US" smtClean="0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21690513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8EBABB7-415B-67C3-3114-34F4DE5F97A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2874AABF-9562-603F-A862-5FC6A759BDD0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60063CD4-6E40-5F5E-C7DF-8ABCE86DE605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6010E5B-108F-E7D3-D532-DABB50C03673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3036018-D559-6144-94CE-093755614F64}" type="slidenum">
              <a:rPr lang="en-US" smtClean="0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21996486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4ECDF5E-EADD-5537-D9DF-54712EA2725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A9F76939-C4E4-0449-6F5F-B08EDA217227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B7977C99-4297-B0CE-75AD-880563A0AABD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2B93731-CBA5-7584-719E-1BFE1BC3A452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3036018-D559-6144-94CE-093755614F64}" type="slidenum">
              <a:rPr lang="en-US" smtClean="0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71961362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3FC4DD2-6D19-66D5-2601-6A758D7E8EB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EBED7AB1-5389-090E-6848-094DDD7E6E1B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FB3A6F3C-A28F-1875-3010-4C745878154F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2B82EC8-F141-2F90-6314-B60295663FF9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3036018-D559-6144-94CE-093755614F64}" type="slidenum">
              <a:rPr lang="en-US" smtClean="0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77953033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961AD87-C63B-A385-3779-19D0DBD162A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FAC481E0-E275-54F1-D09E-A359C84308B5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97D2E73E-4A8B-18F1-FEB7-47EEB5264736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7499F60-AF87-AF43-AC4E-B279D1CD247D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3036018-D559-6144-94CE-093755614F64}" type="slidenum">
              <a:rPr lang="en-US" smtClean="0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8447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D70B3CD-526F-ED82-58CE-6FEC63C2ADE7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0879854C-1D67-9470-14C6-278F15F3C1BF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9BC6F42-CB3C-3E6D-91B2-D1EAFD48512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4920E3B-3AAD-E14C-814B-9F97D455116A}" type="datetimeFigureOut">
              <a:rPr lang="en-US" smtClean="0"/>
              <a:t>6/8/26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CC6970D-8A47-4E6A-C902-27C499B3F6F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B8F266B-DF83-6862-B28C-017769F9B48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5A0CE3A-1035-EB44-A7EE-CF43DD42F48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3638734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8BFFBB3-F186-33F1-2253-15599EF3666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FA30427-8FC6-6C0F-E963-4163DD975DB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1327727-836F-D4F9-166F-8F0E63568A0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4920E3B-3AAD-E14C-814B-9F97D455116A}" type="datetimeFigureOut">
              <a:rPr lang="en-US" smtClean="0"/>
              <a:t>6/8/26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0768291-BE63-44AB-2A49-FBB137C0E1A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D625E37-F721-2B31-E671-365B85D3260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5A0CE3A-1035-EB44-A7EE-CF43DD42F48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7900548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91C8F53-07F8-DD20-DAE1-1B41A36A4CD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57171F7-CB26-E415-0517-23E5665566B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0C95FB7-754A-6CBA-DCB7-1540B8D5B89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4920E3B-3AAD-E14C-814B-9F97D455116A}" type="datetimeFigureOut">
              <a:rPr lang="en-US" smtClean="0"/>
              <a:t>6/8/26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DA9CB4D-CCF7-73F9-E7BD-65640BA2993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9D0BEE2-6CB6-8470-E607-F356085EE90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5A0CE3A-1035-EB44-A7EE-CF43DD42F48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458113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2F04847-3639-46E4-9D47-AF769AF1FE6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A81E193-7062-5BB5-30BF-63076AE3A1B3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5D24D3BB-CD57-EFF1-0184-9404EB753700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0A52D554-F002-D1AC-74F5-1721D256265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4920E3B-3AAD-E14C-814B-9F97D455116A}" type="datetimeFigureOut">
              <a:rPr lang="en-US" smtClean="0"/>
              <a:t>6/8/26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3FBAE47-CF08-D8A1-FE2A-B0A461C0FDC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C9D4654-CE6D-1433-CFAD-B02053AF826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5A0CE3A-1035-EB44-A7EE-CF43DD42F48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1142702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CAFAB61-7880-E34B-7124-4C29BF47B91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70E15EA-5203-DBC4-3D92-1118B185F45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02F3D7D3-9CA1-BFA6-72B1-2E38C7FBB5CD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94CBA08B-D9E5-6DEB-0632-D349F0F8BB82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C12226E5-E866-50F1-F497-CE8419597F22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9CA88BFE-C322-F375-9FDF-E893471B458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4920E3B-3AAD-E14C-814B-9F97D455116A}" type="datetimeFigureOut">
              <a:rPr lang="en-US" smtClean="0"/>
              <a:t>6/8/26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C6092C2A-1CB2-7222-88F5-10F70E41AD3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D790B05F-593D-39B6-25E9-3338D13A60D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5A0CE3A-1035-EB44-A7EE-CF43DD42F48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8771980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5D781E-D33F-6A89-2565-8302EB8B2D5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25757891-25F0-2752-C9AB-DCB87D6E7D3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4920E3B-3AAD-E14C-814B-9F97D455116A}" type="datetimeFigureOut">
              <a:rPr lang="en-US" smtClean="0"/>
              <a:t>6/8/26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E99F9CD9-89A3-BB63-A50F-24AEAFB8EF4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8B11D2E5-13AE-91D0-18E3-6838E02301A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5A0CE3A-1035-EB44-A7EE-CF43DD42F48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0631997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E2983DFA-0A3D-1A0C-E420-28D8ACEC7AA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4920E3B-3AAD-E14C-814B-9F97D455116A}" type="datetimeFigureOut">
              <a:rPr lang="en-US" smtClean="0"/>
              <a:t>6/8/26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4AE39716-6D7A-8E6F-3D7E-DA2C2F6B28C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2ED701E-BAF4-5349-ED7C-A1A7603277B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5A0CE3A-1035-EB44-A7EE-CF43DD42F48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1294888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06A9C23-FAF1-0B53-AB03-59C7D202A58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EA86FF7-2FC7-E056-607D-7815278B52E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5CC9EE2B-3C2B-B9F3-677D-FD41AD68071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3E3BDE96-3045-8159-BFE3-CC561749E66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4920E3B-3AAD-E14C-814B-9F97D455116A}" type="datetimeFigureOut">
              <a:rPr lang="en-US" smtClean="0"/>
              <a:t>6/8/26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A39BBEDA-1ACE-7E0C-55C2-986C998704A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FE75100D-E7B9-78AB-8124-8DA8F46136A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5A0CE3A-1035-EB44-A7EE-CF43DD42F48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9819528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F2AE33E-5495-D9D3-CCD3-46AFA32DEC3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F89FDE62-668B-9D59-061B-3C6D82D35937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D5B1B3E3-C803-F275-8246-26B45EEB7F09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F594EC63-435C-EB55-56DF-1D83EBBF048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4920E3B-3AAD-E14C-814B-9F97D455116A}" type="datetimeFigureOut">
              <a:rPr lang="en-US" smtClean="0"/>
              <a:t>6/8/26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1D0FC0B3-0064-BCE9-D5BE-46FDBC9218C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69CB077A-8A24-9745-C647-69242F2D2BF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5A0CE3A-1035-EB44-A7EE-CF43DD42F48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4140330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1969A54-CA4E-2F35-ADFD-0F954302ED4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E4560868-78CD-DA25-DED8-E61C7D8FC0DA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E95A15D-656B-74A7-723E-60C32B8300D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4920E3B-3AAD-E14C-814B-9F97D455116A}" type="datetimeFigureOut">
              <a:rPr lang="en-US" smtClean="0"/>
              <a:t>6/8/26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20EC59A-E3D4-8A8C-E14D-3F38932E23F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E16D226-AD73-5290-9EB1-C1FA88E61C6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5A0CE3A-1035-EB44-A7EE-CF43DD42F48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0083881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157B26C0-958C-86F2-3FDA-EA6B882CD748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3545CF10-7539-85EF-5DB7-FFD7D34A7B2F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CAAF718-9177-EB1B-0E37-E877A0F1128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4920E3B-3AAD-E14C-814B-9F97D455116A}" type="datetimeFigureOut">
              <a:rPr lang="en-US" smtClean="0"/>
              <a:t>6/8/26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2326D97-4D99-BCAB-053E-DE5D7AD1E9D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1A3BACA-EF85-6B12-91E3-C569320D630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5A0CE3A-1035-EB44-A7EE-CF43DD42F48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7166536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2546AD40-33FB-AF91-5F08-50C5C356D37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6AC5295-8084-FC88-AA19-78678E67832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11F9037-9DCF-3991-CFE8-E6685495BE82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D4920E3B-3AAD-E14C-814B-9F97D455116A}" type="datetimeFigureOut">
              <a:rPr lang="en-US" smtClean="0"/>
              <a:t>6/8/26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1E98202-5ED3-3231-CA57-50AB0D9E4B27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54718F7-426A-9575-72C0-A3FF2E8988E5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15A0CE3A-1035-EB44-A7EE-CF43DD42F48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1071403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sv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5" Type="http://schemas.openxmlformats.org/officeDocument/2006/relationships/hyperlink" Target="mailto:s.lukov@dynamicpricing.ai" TargetMode="External"/><Relationship Id="rId4" Type="http://schemas.openxmlformats.org/officeDocument/2006/relationships/hyperlink" Target="https://banditdb.com/" TargetMode="Externa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sv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sv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sv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sv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svg"/><Relationship Id="rId7" Type="http://schemas.openxmlformats.org/officeDocument/2006/relationships/image" Target="../media/image5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4.png"/><Relationship Id="rId5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sv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sv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sv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sv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sv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Relationship Id="rId5" Type="http://schemas.openxmlformats.org/officeDocument/2006/relationships/hyperlink" Target="mailto:s.lukov@dynamicpricing.ai" TargetMode="External"/><Relationship Id="rId4" Type="http://schemas.openxmlformats.org/officeDocument/2006/relationships/hyperlink" Target="https://banditdb.com/" TargetMode="Externa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EF021198-97F4-6FD4-03B1-4927CD8561A9}"/>
              </a:ext>
            </a:extLst>
          </p:cNvPr>
          <p:cNvSpPr txBox="1"/>
          <p:nvPr/>
        </p:nvSpPr>
        <p:spPr>
          <a:xfrm>
            <a:off x="5486410" y="531627"/>
            <a:ext cx="1219180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200" b="1" dirty="0"/>
              <a:t>INTRODUCING</a:t>
            </a:r>
          </a:p>
        </p:txBody>
      </p:sp>
      <p:pic>
        <p:nvPicPr>
          <p:cNvPr id="6" name="Graphic 5">
            <a:extLst>
              <a:ext uri="{FF2B5EF4-FFF2-40B4-BE49-F238E27FC236}">
                <a16:creationId xmlns:a16="http://schemas.microsoft.com/office/drawing/2014/main" id="{6B86F044-BA91-CEB9-42C8-D757FCA27300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3398733" y="1586876"/>
            <a:ext cx="5394533" cy="2809653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DCBF9823-82A0-28F2-112A-8D076FC352AB}"/>
              </a:ext>
            </a:extLst>
          </p:cNvPr>
          <p:cNvSpPr txBox="1"/>
          <p:nvPr/>
        </p:nvSpPr>
        <p:spPr>
          <a:xfrm>
            <a:off x="3810011" y="4070003"/>
            <a:ext cx="4602222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b="1" dirty="0"/>
              <a:t>The Decision Memory Database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6BDE7406-3E54-EA6E-D1D3-82524C77DE72}"/>
              </a:ext>
            </a:extLst>
          </p:cNvPr>
          <p:cNvSpPr txBox="1"/>
          <p:nvPr/>
        </p:nvSpPr>
        <p:spPr>
          <a:xfrm>
            <a:off x="3024635" y="6157096"/>
            <a:ext cx="6680804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1600" dirty="0">
                <a:solidFill>
                  <a:schemeClr val="tx1">
                    <a:lumMod val="75000"/>
                    <a:lumOff val="25000"/>
                  </a:schemeClr>
                </a:solidFill>
                <a:latin typeface="Aptos" panose="020B0004020202020204" pitchFamily="34" charset="0"/>
                <a:hlinkClick r:id="rId4"/>
              </a:rPr>
              <a:t>https://banditdb.com</a:t>
            </a:r>
            <a:r>
              <a:rPr lang="en-US" sz="1600" dirty="0">
                <a:solidFill>
                  <a:schemeClr val="tx1">
                    <a:lumMod val="75000"/>
                    <a:lumOff val="25000"/>
                  </a:schemeClr>
                </a:solidFill>
                <a:latin typeface="Aptos" panose="020B0004020202020204" pitchFamily="34" charset="0"/>
              </a:rPr>
              <a:t>, contact: Simeon Lukov, </a:t>
            </a:r>
            <a:r>
              <a:rPr lang="en-US" sz="1600" dirty="0">
                <a:solidFill>
                  <a:schemeClr val="tx1">
                    <a:lumMod val="75000"/>
                    <a:lumOff val="25000"/>
                  </a:schemeClr>
                </a:solidFill>
                <a:latin typeface="Aptos" panose="020B0004020202020204" pitchFamily="34" charset="0"/>
                <a:hlinkClick r:id="rId5"/>
              </a:rPr>
              <a:t>s.lukov@dynamicpricing.ai</a:t>
            </a:r>
            <a:endParaRPr lang="en-US" sz="1600" dirty="0">
              <a:solidFill>
                <a:schemeClr val="tx1">
                  <a:lumMod val="75000"/>
                  <a:lumOff val="25000"/>
                </a:schemeClr>
              </a:solidFill>
              <a:latin typeface="Aptos" panose="020B00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443237775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0F2A4E8-0D2A-2E21-56FC-B51AC21B6CA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Graphic 5">
            <a:extLst>
              <a:ext uri="{FF2B5EF4-FFF2-40B4-BE49-F238E27FC236}">
                <a16:creationId xmlns:a16="http://schemas.microsoft.com/office/drawing/2014/main" id="{C60B7F3F-052E-E5A3-3703-91298014E737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0581546" y="146867"/>
            <a:ext cx="1460346" cy="760597"/>
          </a:xfrm>
          <a:prstGeom prst="rect">
            <a:avLst/>
          </a:prstGeom>
        </p:spPr>
      </p:pic>
      <p:sp>
        <p:nvSpPr>
          <p:cNvPr id="2" name="Rectangle 1">
            <a:extLst>
              <a:ext uri="{FF2B5EF4-FFF2-40B4-BE49-F238E27FC236}">
                <a16:creationId xmlns:a16="http://schemas.microsoft.com/office/drawing/2014/main" id="{4786AAF3-01A3-9DC6-2599-3E0DA54DE734}"/>
              </a:ext>
            </a:extLst>
          </p:cNvPr>
          <p:cNvSpPr/>
          <p:nvPr/>
        </p:nvSpPr>
        <p:spPr>
          <a:xfrm>
            <a:off x="820833" y="1369129"/>
            <a:ext cx="457200" cy="38100"/>
          </a:xfrm>
          <a:prstGeom prst="rect">
            <a:avLst/>
          </a:prstGeom>
          <a:solidFill>
            <a:srgbClr val="2196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B744F3D8-EBAB-FC0E-615F-DB760771E4E9}"/>
              </a:ext>
            </a:extLst>
          </p:cNvPr>
          <p:cNvSpPr txBox="1"/>
          <p:nvPr/>
        </p:nvSpPr>
        <p:spPr>
          <a:xfrm>
            <a:off x="820833" y="676631"/>
            <a:ext cx="7561429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3200" b="1" dirty="0"/>
              <a:t>Every AI Agent and App make decisions.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92C3B981-1776-C88B-3271-1B0608CEAFFA}"/>
              </a:ext>
            </a:extLst>
          </p:cNvPr>
          <p:cNvSpPr txBox="1"/>
          <p:nvPr/>
        </p:nvSpPr>
        <p:spPr>
          <a:xfrm>
            <a:off x="820833" y="1638062"/>
            <a:ext cx="4415311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800" b="1" dirty="0"/>
              <a:t>Most of them never learn. </a:t>
            </a: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E40BB0EE-D6F5-8E4C-17E4-DDAAE0FAE9AC}"/>
              </a:ext>
            </a:extLst>
          </p:cNvPr>
          <p:cNvSpPr/>
          <p:nvPr/>
        </p:nvSpPr>
        <p:spPr>
          <a:xfrm>
            <a:off x="502920" y="2582091"/>
            <a:ext cx="3566160" cy="3566160"/>
          </a:xfrm>
          <a:prstGeom prst="rect">
            <a:avLst/>
          </a:prstGeom>
          <a:solidFill>
            <a:srgbClr val="0E1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07B82507-8376-52A4-648C-249729A4E3F2}"/>
              </a:ext>
            </a:extLst>
          </p:cNvPr>
          <p:cNvSpPr txBox="1"/>
          <p:nvPr/>
        </p:nvSpPr>
        <p:spPr>
          <a:xfrm>
            <a:off x="685800" y="2764971"/>
            <a:ext cx="3200400" cy="98488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endParaRPr dirty="0">
              <a:latin typeface="Aptos" panose="020B0004020202020204" pitchFamily="34" charset="0"/>
            </a:endParaRPr>
          </a:p>
          <a:p>
            <a:pPr algn="l">
              <a:spcBef>
                <a:spcPts val="0"/>
              </a:spcBef>
            </a:pPr>
            <a:r>
              <a:rPr sz="2000" b="1" dirty="0">
                <a:solidFill>
                  <a:srgbClr val="FFFFFF"/>
                </a:solidFill>
                <a:latin typeface="Aptos" panose="020B0004020202020204" pitchFamily="34" charset="0"/>
              </a:rPr>
              <a:t>ML pipelines
</a:t>
            </a:r>
            <a:r>
              <a:rPr sz="2000" b="1" u="sng" dirty="0">
                <a:solidFill>
                  <a:srgbClr val="FFC000"/>
                </a:solidFill>
                <a:latin typeface="Aptos" panose="020B0004020202020204" pitchFamily="34" charset="0"/>
              </a:rPr>
              <a:t>take months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976E666E-2D7B-9B0A-7B83-A0EEBEE347A8}"/>
              </a:ext>
            </a:extLst>
          </p:cNvPr>
          <p:cNvSpPr txBox="1"/>
          <p:nvPr/>
        </p:nvSpPr>
        <p:spPr>
          <a:xfrm>
            <a:off x="685800" y="3725091"/>
            <a:ext cx="3200400" cy="120032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endParaRPr dirty="0">
              <a:solidFill>
                <a:schemeClr val="bg1">
                  <a:lumMod val="85000"/>
                </a:schemeClr>
              </a:solidFill>
              <a:latin typeface="Aptos" panose="020B0004020202020204" pitchFamily="34" charset="0"/>
            </a:endParaRPr>
          </a:p>
          <a:p>
            <a:pPr algn="l">
              <a:spcBef>
                <a:spcPts val="0"/>
              </a:spcBef>
            </a:pPr>
            <a:r>
              <a:rPr b="0" dirty="0">
                <a:solidFill>
                  <a:schemeClr val="bg1">
                    <a:lumMod val="85000"/>
                  </a:schemeClr>
                </a:solidFill>
                <a:latin typeface="Aptos" panose="020B0004020202020204" pitchFamily="34" charset="0"/>
              </a:rPr>
              <a:t>Data science team, feature stores, model training</a:t>
            </a:r>
            <a:r>
              <a:rPr lang="en-US" b="0" dirty="0">
                <a:solidFill>
                  <a:schemeClr val="bg1">
                    <a:lumMod val="85000"/>
                  </a:schemeClr>
                </a:solidFill>
                <a:latin typeface="Aptos" panose="020B0004020202020204" pitchFamily="34" charset="0"/>
              </a:rPr>
              <a:t> and pipelines takes time</a:t>
            </a:r>
            <a:endParaRPr b="0" dirty="0">
              <a:solidFill>
                <a:schemeClr val="bg1">
                  <a:lumMod val="85000"/>
                </a:schemeClr>
              </a:solidFill>
              <a:latin typeface="Aptos" panose="020B0004020202020204" pitchFamily="34" charset="0"/>
            </a:endParaRP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D34258E8-04CF-10E3-FA25-D71AA0749605}"/>
              </a:ext>
            </a:extLst>
          </p:cNvPr>
          <p:cNvSpPr/>
          <p:nvPr/>
        </p:nvSpPr>
        <p:spPr>
          <a:xfrm>
            <a:off x="4343400" y="2582091"/>
            <a:ext cx="3566160" cy="3566160"/>
          </a:xfrm>
          <a:prstGeom prst="rect">
            <a:avLst/>
          </a:prstGeom>
          <a:solidFill>
            <a:srgbClr val="0E1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A90B73EE-D21D-6FE5-6E69-531EC9CAB82D}"/>
              </a:ext>
            </a:extLst>
          </p:cNvPr>
          <p:cNvSpPr txBox="1"/>
          <p:nvPr/>
        </p:nvSpPr>
        <p:spPr>
          <a:xfrm>
            <a:off x="4526280" y="2764971"/>
            <a:ext cx="3200400" cy="98488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endParaRPr dirty="0">
              <a:latin typeface="Aptos" panose="020B0004020202020204" pitchFamily="34" charset="0"/>
            </a:endParaRPr>
          </a:p>
          <a:p>
            <a:pPr algn="l">
              <a:spcBef>
                <a:spcPts val="0"/>
              </a:spcBef>
            </a:pPr>
            <a:r>
              <a:rPr sz="2000" b="1" dirty="0">
                <a:solidFill>
                  <a:srgbClr val="FFFFFF"/>
                </a:solidFill>
                <a:latin typeface="Aptos" panose="020B0004020202020204" pitchFamily="34" charset="0"/>
              </a:rPr>
              <a:t>A/B tests are
</a:t>
            </a:r>
            <a:r>
              <a:rPr sz="2000" b="1" u="sng" dirty="0">
                <a:solidFill>
                  <a:srgbClr val="FFC000"/>
                </a:solidFill>
                <a:latin typeface="Aptos" panose="020B0004020202020204" pitchFamily="34" charset="0"/>
              </a:rPr>
              <a:t>too slow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61AE0BAA-7A96-6497-25DB-0F0F74EF9C64}"/>
              </a:ext>
            </a:extLst>
          </p:cNvPr>
          <p:cNvSpPr txBox="1"/>
          <p:nvPr/>
        </p:nvSpPr>
        <p:spPr>
          <a:xfrm>
            <a:off x="4526280" y="3725091"/>
            <a:ext cx="3200400" cy="14773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endParaRPr dirty="0">
              <a:solidFill>
                <a:schemeClr val="bg1">
                  <a:lumMod val="85000"/>
                </a:schemeClr>
              </a:solidFill>
              <a:latin typeface="Aptos" panose="020B0004020202020204" pitchFamily="34" charset="0"/>
            </a:endParaRPr>
          </a:p>
          <a:p>
            <a:pPr algn="l">
              <a:spcBef>
                <a:spcPts val="0"/>
              </a:spcBef>
            </a:pPr>
            <a:r>
              <a:rPr b="0" dirty="0">
                <a:solidFill>
                  <a:schemeClr val="bg1">
                    <a:lumMod val="85000"/>
                  </a:schemeClr>
                </a:solidFill>
                <a:latin typeface="Aptos" panose="020B0004020202020204" pitchFamily="34" charset="0"/>
              </a:rPr>
              <a:t>Split traffic 50/50 for weeks to reach significance. Revenue lost to the losing variant every day.</a:t>
            </a:r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5F9C6A5B-6753-4C2F-4C93-81E7BDDCD7DC}"/>
              </a:ext>
            </a:extLst>
          </p:cNvPr>
          <p:cNvSpPr/>
          <p:nvPr/>
        </p:nvSpPr>
        <p:spPr>
          <a:xfrm>
            <a:off x="8183880" y="2582091"/>
            <a:ext cx="3566160" cy="3566160"/>
          </a:xfrm>
          <a:prstGeom prst="rect">
            <a:avLst/>
          </a:prstGeom>
          <a:solidFill>
            <a:srgbClr val="0E1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120F7413-BEAF-4FA7-599C-81538E47B903}"/>
              </a:ext>
            </a:extLst>
          </p:cNvPr>
          <p:cNvSpPr txBox="1"/>
          <p:nvPr/>
        </p:nvSpPr>
        <p:spPr>
          <a:xfrm>
            <a:off x="8366760" y="2764971"/>
            <a:ext cx="3200400" cy="98488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endParaRPr dirty="0">
              <a:latin typeface="Aptos" panose="020B0004020202020204" pitchFamily="34" charset="0"/>
            </a:endParaRPr>
          </a:p>
          <a:p>
            <a:pPr algn="l">
              <a:spcBef>
                <a:spcPts val="0"/>
              </a:spcBef>
            </a:pPr>
            <a:r>
              <a:rPr sz="2000" b="1" dirty="0">
                <a:solidFill>
                  <a:srgbClr val="FFFFFF"/>
                </a:solidFill>
                <a:latin typeface="Aptos" panose="020B0004020202020204" pitchFamily="34" charset="0"/>
              </a:rPr>
              <a:t>Personalization</a:t>
            </a:r>
            <a:r>
              <a:rPr lang="en-US" sz="2000" b="1" dirty="0">
                <a:solidFill>
                  <a:srgbClr val="FFFFFF"/>
                </a:solidFill>
                <a:latin typeface="Aptos" panose="020B0004020202020204" pitchFamily="34" charset="0"/>
              </a:rPr>
              <a:t> </a:t>
            </a:r>
            <a:r>
              <a:rPr sz="2000" b="1" dirty="0">
                <a:solidFill>
                  <a:srgbClr val="FFFFFF"/>
                </a:solidFill>
                <a:latin typeface="Aptos" panose="020B0004020202020204" pitchFamily="34" charset="0"/>
              </a:rPr>
              <a:t>is </a:t>
            </a:r>
            <a:r>
              <a:rPr sz="2000" b="1" u="sng" dirty="0">
                <a:solidFill>
                  <a:srgbClr val="FFC000"/>
                </a:solidFill>
                <a:latin typeface="Aptos" panose="020B0004020202020204" pitchFamily="34" charset="0"/>
              </a:rPr>
              <a:t>expensive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F28C8DA8-1DC3-3054-FABE-B46E39CCE261}"/>
              </a:ext>
            </a:extLst>
          </p:cNvPr>
          <p:cNvSpPr txBox="1"/>
          <p:nvPr/>
        </p:nvSpPr>
        <p:spPr>
          <a:xfrm>
            <a:off x="8366760" y="3725091"/>
            <a:ext cx="3200400" cy="14773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endParaRPr dirty="0">
              <a:solidFill>
                <a:schemeClr val="bg1">
                  <a:lumMod val="85000"/>
                </a:schemeClr>
              </a:solidFill>
              <a:latin typeface="Aptos" panose="020B0004020202020204" pitchFamily="34" charset="0"/>
            </a:endParaRPr>
          </a:p>
          <a:p>
            <a:pPr algn="l">
              <a:spcBef>
                <a:spcPts val="0"/>
              </a:spcBef>
            </a:pPr>
            <a:r>
              <a:rPr b="0" dirty="0">
                <a:solidFill>
                  <a:schemeClr val="bg1">
                    <a:lumMod val="85000"/>
                  </a:schemeClr>
                </a:solidFill>
                <a:latin typeface="Aptos" panose="020B0004020202020204" pitchFamily="34" charset="0"/>
              </a:rPr>
              <a:t>Real-time recommendation engines cost </a:t>
            </a:r>
            <a:r>
              <a:rPr lang="en-US" b="0" dirty="0">
                <a:solidFill>
                  <a:schemeClr val="bg1">
                    <a:lumMod val="85000"/>
                  </a:schemeClr>
                </a:solidFill>
                <a:latin typeface="Aptos" panose="020B0004020202020204" pitchFamily="34" charset="0"/>
              </a:rPr>
              <a:t>hundred thousands </a:t>
            </a:r>
            <a:r>
              <a:rPr b="0" dirty="0">
                <a:solidFill>
                  <a:schemeClr val="bg1">
                    <a:lumMod val="85000"/>
                  </a:schemeClr>
                </a:solidFill>
                <a:latin typeface="Aptos" panose="020B0004020202020204" pitchFamily="34" charset="0"/>
              </a:rPr>
              <a:t>to build and operate at scale.</a:t>
            </a:r>
          </a:p>
        </p:txBody>
      </p:sp>
    </p:spTree>
    <p:extLst>
      <p:ext uri="{BB962C8B-B14F-4D97-AF65-F5344CB8AC3E}">
        <p14:creationId xmlns:p14="http://schemas.microsoft.com/office/powerpoint/2010/main" val="3207863587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507A8B5-BA5C-39B3-2B74-34A90120ECC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Graphic 5">
            <a:extLst>
              <a:ext uri="{FF2B5EF4-FFF2-40B4-BE49-F238E27FC236}">
                <a16:creationId xmlns:a16="http://schemas.microsoft.com/office/drawing/2014/main" id="{97AEF266-AF46-48D1-69B0-24449B14040C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0581546" y="146867"/>
            <a:ext cx="1460346" cy="760597"/>
          </a:xfrm>
          <a:prstGeom prst="rect">
            <a:avLst/>
          </a:prstGeom>
        </p:spPr>
      </p:pic>
      <p:sp>
        <p:nvSpPr>
          <p:cNvPr id="2" name="Rectangle 1">
            <a:extLst>
              <a:ext uri="{FF2B5EF4-FFF2-40B4-BE49-F238E27FC236}">
                <a16:creationId xmlns:a16="http://schemas.microsoft.com/office/drawing/2014/main" id="{D71E7036-951F-3DBD-E42C-DDCB2C5C302A}"/>
              </a:ext>
            </a:extLst>
          </p:cNvPr>
          <p:cNvSpPr/>
          <p:nvPr/>
        </p:nvSpPr>
        <p:spPr>
          <a:xfrm>
            <a:off x="820833" y="1369129"/>
            <a:ext cx="457200" cy="38100"/>
          </a:xfrm>
          <a:prstGeom prst="rect">
            <a:avLst/>
          </a:prstGeom>
          <a:solidFill>
            <a:srgbClr val="2196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F3A5DC98-79DD-95F5-2539-E8ADF22D5397}"/>
              </a:ext>
            </a:extLst>
          </p:cNvPr>
          <p:cNvSpPr txBox="1"/>
          <p:nvPr/>
        </p:nvSpPr>
        <p:spPr>
          <a:xfrm>
            <a:off x="820833" y="676631"/>
            <a:ext cx="8503225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3200" b="1" dirty="0"/>
              <a:t>BanditDB learns from experience in real-time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1A5EB481-6405-D31E-5AD0-4003189A2641}"/>
              </a:ext>
            </a:extLst>
          </p:cNvPr>
          <p:cNvSpPr/>
          <p:nvPr/>
        </p:nvSpPr>
        <p:spPr>
          <a:xfrm>
            <a:off x="548640" y="1920240"/>
            <a:ext cx="5486400" cy="3566160"/>
          </a:xfrm>
          <a:prstGeom prst="rect">
            <a:avLst/>
          </a:prstGeom>
          <a:solidFill>
            <a:srgbClr val="0E1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691DE238-6D20-81EC-4C2C-AE85E60FC9F5}"/>
              </a:ext>
            </a:extLst>
          </p:cNvPr>
          <p:cNvSpPr txBox="1"/>
          <p:nvPr/>
        </p:nvSpPr>
        <p:spPr>
          <a:xfrm>
            <a:off x="715455" y="2119184"/>
            <a:ext cx="3969613" cy="461665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spcBef>
                <a:spcPts val="0"/>
              </a:spcBef>
            </a:pPr>
            <a:r>
              <a:rPr sz="2400" b="1" dirty="0">
                <a:solidFill>
                  <a:srgbClr val="FFC000"/>
                </a:solidFill>
                <a:latin typeface="Aptos" panose="020B0004020202020204" pitchFamily="34" charset="0"/>
              </a:rPr>
              <a:t>1. A</a:t>
            </a:r>
            <a:r>
              <a:rPr lang="en-US" sz="2400" b="1" dirty="0">
                <a:solidFill>
                  <a:srgbClr val="FFC000"/>
                </a:solidFill>
                <a:latin typeface="Aptos" panose="020B0004020202020204" pitchFamily="34" charset="0"/>
              </a:rPr>
              <a:t>gent as</a:t>
            </a:r>
            <a:r>
              <a:rPr sz="2400" b="1" dirty="0">
                <a:solidFill>
                  <a:srgbClr val="FFC000"/>
                </a:solidFill>
                <a:latin typeface="Aptos" panose="020B0004020202020204" pitchFamily="34" charset="0"/>
              </a:rPr>
              <a:t>k</a:t>
            </a:r>
            <a:r>
              <a:rPr lang="en-US" sz="2400" b="1" dirty="0">
                <a:solidFill>
                  <a:srgbClr val="FFC000"/>
                </a:solidFill>
                <a:latin typeface="Aptos" panose="020B0004020202020204" pitchFamily="34" charset="0"/>
              </a:rPr>
              <a:t>s</a:t>
            </a:r>
            <a:r>
              <a:rPr sz="2400" b="1" dirty="0">
                <a:solidFill>
                  <a:srgbClr val="FFC000"/>
                </a:solidFill>
                <a:latin typeface="Aptos" panose="020B0004020202020204" pitchFamily="34" charset="0"/>
              </a:rPr>
              <a:t> for a decision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0B7C8413-515B-678C-52E1-A6CD37A1F762}"/>
              </a:ext>
            </a:extLst>
          </p:cNvPr>
          <p:cNvSpPr txBox="1"/>
          <p:nvPr/>
        </p:nvSpPr>
        <p:spPr>
          <a:xfrm>
            <a:off x="797950" y="2486674"/>
            <a:ext cx="5029200" cy="11079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endParaRPr dirty="0"/>
          </a:p>
          <a:p>
            <a:pPr algn="l">
              <a:spcBef>
                <a:spcPts val="0"/>
              </a:spcBef>
            </a:pPr>
            <a:r>
              <a:rPr sz="2400" dirty="0">
                <a:solidFill>
                  <a:srgbClr val="FFFFFF"/>
                </a:solidFill>
                <a:latin typeface="Courier New"/>
              </a:rPr>
              <a:t>/predict
</a:t>
            </a:r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716F0B7E-D25E-C795-9D84-18F55BAC38BD}"/>
              </a:ext>
            </a:extLst>
          </p:cNvPr>
          <p:cNvSpPr/>
          <p:nvPr/>
        </p:nvSpPr>
        <p:spPr>
          <a:xfrm>
            <a:off x="6400800" y="1920240"/>
            <a:ext cx="5486400" cy="3566160"/>
          </a:xfrm>
          <a:prstGeom prst="rect">
            <a:avLst/>
          </a:prstGeom>
          <a:solidFill>
            <a:srgbClr val="0E1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EF0D4A69-D85E-6952-7C89-EEA8DEAB0C5C}"/>
              </a:ext>
            </a:extLst>
          </p:cNvPr>
          <p:cNvSpPr txBox="1"/>
          <p:nvPr/>
        </p:nvSpPr>
        <p:spPr>
          <a:xfrm>
            <a:off x="6567615" y="2119184"/>
            <a:ext cx="4611712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</a:pPr>
            <a:r>
              <a:rPr sz="2400" b="1" dirty="0">
                <a:solidFill>
                  <a:srgbClr val="FFC000"/>
                </a:solidFill>
                <a:latin typeface="Aptos" panose="020B0004020202020204" pitchFamily="34" charset="0"/>
              </a:rPr>
              <a:t>2. Tell it what happened</a:t>
            </a: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D36DB737-CCD5-D6E3-1FA8-5E068E48F795}"/>
              </a:ext>
            </a:extLst>
          </p:cNvPr>
          <p:cNvSpPr txBox="1"/>
          <p:nvPr/>
        </p:nvSpPr>
        <p:spPr>
          <a:xfrm>
            <a:off x="6664265" y="2501019"/>
            <a:ext cx="5099367" cy="7386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endParaRPr dirty="0"/>
          </a:p>
          <a:p>
            <a:pPr algn="l">
              <a:spcBef>
                <a:spcPts val="0"/>
              </a:spcBef>
            </a:pPr>
            <a:r>
              <a:rPr sz="2400" dirty="0">
                <a:solidFill>
                  <a:srgbClr val="FFFFFF"/>
                </a:solidFill>
                <a:latin typeface="Courier New"/>
              </a:rPr>
              <a:t>/reward</a:t>
            </a: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E06DC651-2206-B209-485E-D737D9F911D1}"/>
              </a:ext>
            </a:extLst>
          </p:cNvPr>
          <p:cNvSpPr txBox="1"/>
          <p:nvPr/>
        </p:nvSpPr>
        <p:spPr>
          <a:xfrm>
            <a:off x="1672866" y="5757252"/>
            <a:ext cx="8846268" cy="6771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endParaRPr dirty="0">
              <a:latin typeface="Aptos" panose="020B0004020202020204" pitchFamily="34" charset="0"/>
            </a:endParaRPr>
          </a:p>
          <a:p>
            <a:pPr algn="ctr">
              <a:spcBef>
                <a:spcPts val="0"/>
              </a:spcBef>
            </a:pPr>
            <a:r>
              <a:rPr sz="2000" b="1" dirty="0">
                <a:latin typeface="Aptos" panose="020B0004020202020204" pitchFamily="34" charset="0"/>
              </a:rPr>
              <a:t>No model training.  No ML team.  No infrastructure.  Ship in an afternoon.</a:t>
            </a: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9767887C-EDEA-8189-48FC-44A82E5AA24C}"/>
              </a:ext>
            </a:extLst>
          </p:cNvPr>
          <p:cNvSpPr txBox="1"/>
          <p:nvPr/>
        </p:nvSpPr>
        <p:spPr>
          <a:xfrm>
            <a:off x="755641" y="3554834"/>
            <a:ext cx="5138533" cy="175432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>
                <a:solidFill>
                  <a:schemeClr val="bg2"/>
                </a:solidFill>
                <a:latin typeface="Aptos" panose="020B0004020202020204" pitchFamily="34" charset="0"/>
              </a:rPr>
              <a:t>Model-Tool-Skill selection  · Routing  · Orchestration </a:t>
            </a:r>
            <a:r>
              <a:rPr lang="en-US" b="0" dirty="0">
                <a:solidFill>
                  <a:schemeClr val="bg2"/>
                </a:solidFill>
                <a:latin typeface="Aptos" panose="020B0004020202020204" pitchFamily="34" charset="0"/>
              </a:rPr>
              <a:t>· Experimentation</a:t>
            </a:r>
          </a:p>
          <a:p>
            <a:r>
              <a:rPr lang="en-US" dirty="0">
                <a:solidFill>
                  <a:schemeClr val="bg2"/>
                </a:solidFill>
                <a:latin typeface="Aptos" panose="020B0004020202020204" pitchFamily="34" charset="0"/>
              </a:rPr>
              <a:t>Personalization </a:t>
            </a:r>
            <a:r>
              <a:rPr lang="en-US" b="0" dirty="0">
                <a:solidFill>
                  <a:schemeClr val="bg2"/>
                </a:solidFill>
                <a:latin typeface="Aptos" panose="020B0004020202020204" pitchFamily="34" charset="0"/>
              </a:rPr>
              <a:t>· Recommendation</a:t>
            </a:r>
          </a:p>
          <a:p>
            <a:r>
              <a:rPr lang="en-US" b="0" dirty="0">
                <a:solidFill>
                  <a:schemeClr val="bg2"/>
                </a:solidFill>
                <a:latin typeface="Aptos" panose="020B0004020202020204" pitchFamily="34" charset="0"/>
              </a:rPr>
              <a:t>Education · Advertising </a:t>
            </a:r>
            <a:r>
              <a:rPr lang="en-US" dirty="0">
                <a:solidFill>
                  <a:schemeClr val="bg2"/>
                </a:solidFill>
                <a:latin typeface="Aptos" panose="020B0004020202020204" pitchFamily="34" charset="0"/>
              </a:rPr>
              <a:t>· </a:t>
            </a:r>
            <a:r>
              <a:rPr lang="en-US" b="0" dirty="0">
                <a:solidFill>
                  <a:schemeClr val="bg2"/>
                </a:solidFill>
                <a:latin typeface="Aptos" panose="020B0004020202020204" pitchFamily="34" charset="0"/>
              </a:rPr>
              <a:t>Engagement</a:t>
            </a:r>
          </a:p>
          <a:p>
            <a:r>
              <a:rPr lang="en-US" dirty="0">
                <a:solidFill>
                  <a:schemeClr val="bg2"/>
                </a:solidFill>
                <a:latin typeface="Aptos" panose="020B0004020202020204" pitchFamily="34" charset="0"/>
              </a:rPr>
              <a:t>Clinical Trials · Fraud &amp; Risk · Dynamic Pricing</a:t>
            </a:r>
          </a:p>
          <a:p>
            <a:r>
              <a:rPr lang="en-US" b="0" dirty="0">
                <a:solidFill>
                  <a:schemeClr val="bg2"/>
                </a:solidFill>
                <a:latin typeface="Aptos" panose="020B0004020202020204" pitchFamily="34" charset="0"/>
              </a:rPr>
              <a:t>Churn Prevention </a:t>
            </a:r>
            <a:r>
              <a:rPr lang="en-US" dirty="0">
                <a:solidFill>
                  <a:schemeClr val="bg2"/>
                </a:solidFill>
                <a:latin typeface="Aptos" panose="020B0004020202020204" pitchFamily="34" charset="0"/>
              </a:rPr>
              <a:t> · · · </a:t>
            </a:r>
            <a:endParaRPr b="0" dirty="0">
              <a:solidFill>
                <a:schemeClr val="bg2"/>
              </a:solidFill>
              <a:latin typeface="Aptos" panose="020B00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208755491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2C6540A-FF1D-62B4-2A32-BB460478676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Graphic 5">
            <a:extLst>
              <a:ext uri="{FF2B5EF4-FFF2-40B4-BE49-F238E27FC236}">
                <a16:creationId xmlns:a16="http://schemas.microsoft.com/office/drawing/2014/main" id="{45AE3EF8-33B8-E939-15BA-A1B21F754276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0581546" y="146867"/>
            <a:ext cx="1460346" cy="760597"/>
          </a:xfrm>
          <a:prstGeom prst="rect">
            <a:avLst/>
          </a:prstGeom>
        </p:spPr>
      </p:pic>
      <p:sp>
        <p:nvSpPr>
          <p:cNvPr id="2" name="Rectangle 1">
            <a:extLst>
              <a:ext uri="{FF2B5EF4-FFF2-40B4-BE49-F238E27FC236}">
                <a16:creationId xmlns:a16="http://schemas.microsoft.com/office/drawing/2014/main" id="{FC9B8F2B-0DA6-60BA-3DF2-098A979FE3A0}"/>
              </a:ext>
            </a:extLst>
          </p:cNvPr>
          <p:cNvSpPr/>
          <p:nvPr/>
        </p:nvSpPr>
        <p:spPr>
          <a:xfrm>
            <a:off x="820833" y="1369129"/>
            <a:ext cx="457200" cy="38100"/>
          </a:xfrm>
          <a:prstGeom prst="rect">
            <a:avLst/>
          </a:prstGeom>
          <a:solidFill>
            <a:srgbClr val="2196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11CC4BF8-33FD-91CF-9C8D-DA0D5C9E0A09}"/>
              </a:ext>
            </a:extLst>
          </p:cNvPr>
          <p:cNvSpPr txBox="1"/>
          <p:nvPr/>
        </p:nvSpPr>
        <p:spPr>
          <a:xfrm>
            <a:off x="820833" y="676631"/>
            <a:ext cx="6731330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3200" b="1" dirty="0"/>
              <a:t>Under the hood - 4 Models. 1 Binary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B0A8C386-9BE8-D0F8-AB2D-26D3877FE378}"/>
              </a:ext>
            </a:extLst>
          </p:cNvPr>
          <p:cNvSpPr/>
          <p:nvPr/>
        </p:nvSpPr>
        <p:spPr>
          <a:xfrm>
            <a:off x="365760" y="1978316"/>
            <a:ext cx="2103120" cy="3370924"/>
          </a:xfrm>
          <a:prstGeom prst="rect">
            <a:avLst/>
          </a:prstGeom>
          <a:solidFill>
            <a:srgbClr val="0E1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1CC6C815-0B7F-6D88-A764-3A7CD05BE4EC}"/>
              </a:ext>
            </a:extLst>
          </p:cNvPr>
          <p:cNvSpPr txBox="1"/>
          <p:nvPr/>
        </p:nvSpPr>
        <p:spPr>
          <a:xfrm>
            <a:off x="502920" y="2161196"/>
            <a:ext cx="1828800" cy="6001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endParaRPr dirty="0">
              <a:latin typeface="Aptos" panose="020B0004020202020204" pitchFamily="34" charset="0"/>
            </a:endParaRPr>
          </a:p>
          <a:p>
            <a:pPr algn="l">
              <a:spcBef>
                <a:spcPts val="0"/>
              </a:spcBef>
            </a:pPr>
            <a:r>
              <a:rPr sz="1500" b="1" dirty="0">
                <a:solidFill>
                  <a:srgbClr val="FFFFFF"/>
                </a:solidFill>
                <a:latin typeface="Aptos" panose="020B0004020202020204" pitchFamily="34" charset="0"/>
              </a:rPr>
              <a:t>LinUCB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A89C101F-FC91-529D-63AE-9223037B37E4}"/>
              </a:ext>
            </a:extLst>
          </p:cNvPr>
          <p:cNvSpPr txBox="1"/>
          <p:nvPr/>
        </p:nvSpPr>
        <p:spPr>
          <a:xfrm>
            <a:off x="502920" y="2984156"/>
            <a:ext cx="1828800" cy="13234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endParaRPr sz="1600" dirty="0">
              <a:solidFill>
                <a:schemeClr val="accent4">
                  <a:lumMod val="20000"/>
                  <a:lumOff val="80000"/>
                </a:schemeClr>
              </a:solidFill>
              <a:latin typeface="Aptos" panose="020B0004020202020204" pitchFamily="34" charset="0"/>
            </a:endParaRPr>
          </a:p>
          <a:p>
            <a:pPr algn="l">
              <a:spcBef>
                <a:spcPts val="0"/>
              </a:spcBef>
            </a:pPr>
            <a:r>
              <a:rPr sz="1600" b="0" dirty="0">
                <a:solidFill>
                  <a:schemeClr val="accent4">
                    <a:lumMod val="20000"/>
                    <a:lumOff val="80000"/>
                  </a:schemeClr>
                </a:solidFill>
                <a:latin typeface="Aptos" panose="020B0004020202020204" pitchFamily="34" charset="0"/>
              </a:rPr>
              <a:t>Linear rewards
Fastest convergence
Production default</a:t>
            </a: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337F640B-5C58-6242-864E-AEF26D7CC981}"/>
              </a:ext>
            </a:extLst>
          </p:cNvPr>
          <p:cNvSpPr/>
          <p:nvPr/>
        </p:nvSpPr>
        <p:spPr>
          <a:xfrm>
            <a:off x="2697479" y="1978316"/>
            <a:ext cx="2103120" cy="3370924"/>
          </a:xfrm>
          <a:prstGeom prst="rect">
            <a:avLst/>
          </a:prstGeom>
          <a:solidFill>
            <a:srgbClr val="0E1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D8EB637C-272D-C221-4489-55C606E8E931}"/>
              </a:ext>
            </a:extLst>
          </p:cNvPr>
          <p:cNvSpPr txBox="1"/>
          <p:nvPr/>
        </p:nvSpPr>
        <p:spPr>
          <a:xfrm>
            <a:off x="2834639" y="2161196"/>
            <a:ext cx="1828800" cy="83099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endParaRPr>
              <a:latin typeface="Aptos" panose="020B0004020202020204" pitchFamily="34" charset="0"/>
            </a:endParaRPr>
          </a:p>
          <a:p>
            <a:pPr algn="l">
              <a:spcBef>
                <a:spcPts val="0"/>
              </a:spcBef>
            </a:pPr>
            <a:r>
              <a:rPr sz="1500" b="1">
                <a:solidFill>
                  <a:srgbClr val="FFFFFF"/>
                </a:solidFill>
                <a:latin typeface="Aptos" panose="020B0004020202020204" pitchFamily="34" charset="0"/>
              </a:rPr>
              <a:t>Thompson
Sampling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CC4769C7-012E-F09A-4BCA-6300B7E0FF42}"/>
              </a:ext>
            </a:extLst>
          </p:cNvPr>
          <p:cNvSpPr txBox="1"/>
          <p:nvPr/>
        </p:nvSpPr>
        <p:spPr>
          <a:xfrm>
            <a:off x="2834639" y="2984156"/>
            <a:ext cx="1828800" cy="15696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endParaRPr sz="1600">
              <a:solidFill>
                <a:schemeClr val="accent4">
                  <a:lumMod val="20000"/>
                  <a:lumOff val="80000"/>
                </a:schemeClr>
              </a:solidFill>
              <a:latin typeface="Aptos" panose="020B0004020202020204" pitchFamily="34" charset="0"/>
            </a:endParaRPr>
          </a:p>
          <a:p>
            <a:pPr algn="l">
              <a:spcBef>
                <a:spcPts val="0"/>
              </a:spcBef>
            </a:pPr>
            <a:r>
              <a:rPr sz="1600" b="0">
                <a:solidFill>
                  <a:schemeClr val="accent4">
                    <a:lumMod val="20000"/>
                    <a:lumOff val="80000"/>
                  </a:schemeClr>
                </a:solidFill>
                <a:latin typeface="Aptos" panose="020B0004020202020204" pitchFamily="34" charset="0"/>
              </a:rPr>
              <a:t>Bayesian exploration
Best under
stochastic rewards</a:t>
            </a:r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27065249-D8FF-78D1-B766-3A52C2ED1524}"/>
              </a:ext>
            </a:extLst>
          </p:cNvPr>
          <p:cNvSpPr/>
          <p:nvPr/>
        </p:nvSpPr>
        <p:spPr>
          <a:xfrm>
            <a:off x="5029200" y="1978316"/>
            <a:ext cx="2103120" cy="3370924"/>
          </a:xfrm>
          <a:prstGeom prst="rect">
            <a:avLst/>
          </a:prstGeom>
          <a:solidFill>
            <a:srgbClr val="0E1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0DAA6890-EF1D-AA6E-AEC1-7DB953807650}"/>
              </a:ext>
            </a:extLst>
          </p:cNvPr>
          <p:cNvSpPr txBox="1"/>
          <p:nvPr/>
        </p:nvSpPr>
        <p:spPr>
          <a:xfrm>
            <a:off x="5166360" y="2161196"/>
            <a:ext cx="1828800" cy="6001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endParaRPr>
              <a:latin typeface="Aptos" panose="020B0004020202020204" pitchFamily="34" charset="0"/>
            </a:endParaRPr>
          </a:p>
          <a:p>
            <a:pPr algn="l">
              <a:spcBef>
                <a:spcPts val="0"/>
              </a:spcBef>
            </a:pPr>
            <a:r>
              <a:rPr sz="1500" b="1">
                <a:solidFill>
                  <a:srgbClr val="FFFFFF"/>
                </a:solidFill>
                <a:latin typeface="Aptos" panose="020B0004020202020204" pitchFamily="34" charset="0"/>
              </a:rPr>
              <a:t>NeuralLinUCB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8BE50D5C-DF95-F26C-476A-DBE4D2B15F0A}"/>
              </a:ext>
            </a:extLst>
          </p:cNvPr>
          <p:cNvSpPr txBox="1"/>
          <p:nvPr/>
        </p:nvSpPr>
        <p:spPr>
          <a:xfrm>
            <a:off x="5166360" y="2984156"/>
            <a:ext cx="1828800" cy="13234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endParaRPr sz="1600">
              <a:solidFill>
                <a:schemeClr val="accent4">
                  <a:lumMod val="20000"/>
                  <a:lumOff val="80000"/>
                </a:schemeClr>
              </a:solidFill>
              <a:latin typeface="Aptos" panose="020B0004020202020204" pitchFamily="34" charset="0"/>
            </a:endParaRPr>
          </a:p>
          <a:p>
            <a:pPr algn="l">
              <a:spcBef>
                <a:spcPts val="0"/>
              </a:spcBef>
            </a:pPr>
            <a:r>
              <a:rPr sz="1600" b="0">
                <a:solidFill>
                  <a:schemeClr val="accent4">
                    <a:lumMod val="20000"/>
                    <a:lumOff val="80000"/>
                  </a:schemeClr>
                </a:solidFill>
                <a:latin typeface="Aptos" panose="020B0004020202020204" pitchFamily="34" charset="0"/>
              </a:rPr>
              <a:t>Non-linear rewards
MLP embedding
14× less memory</a:t>
            </a:r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DC900A56-C445-47F4-E2F6-9F2C0F581359}"/>
              </a:ext>
            </a:extLst>
          </p:cNvPr>
          <p:cNvSpPr/>
          <p:nvPr/>
        </p:nvSpPr>
        <p:spPr>
          <a:xfrm>
            <a:off x="7360919" y="1978316"/>
            <a:ext cx="2103120" cy="3370924"/>
          </a:xfrm>
          <a:prstGeom prst="rect">
            <a:avLst/>
          </a:prstGeom>
          <a:solidFill>
            <a:srgbClr val="0E1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6CAEE8A4-6934-6EC9-7C31-CF5F5D750F6F}"/>
              </a:ext>
            </a:extLst>
          </p:cNvPr>
          <p:cNvSpPr txBox="1"/>
          <p:nvPr/>
        </p:nvSpPr>
        <p:spPr>
          <a:xfrm>
            <a:off x="7498079" y="2161196"/>
            <a:ext cx="1828800" cy="6001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endParaRPr>
              <a:latin typeface="Aptos" panose="020B0004020202020204" pitchFamily="34" charset="0"/>
            </a:endParaRPr>
          </a:p>
          <a:p>
            <a:pPr algn="l">
              <a:spcBef>
                <a:spcPts val="0"/>
              </a:spcBef>
            </a:pPr>
            <a:r>
              <a:rPr sz="1500" b="1">
                <a:solidFill>
                  <a:srgbClr val="FFFFFF"/>
                </a:solidFill>
                <a:latin typeface="Aptos" panose="020B0004020202020204" pitchFamily="34" charset="0"/>
              </a:rPr>
              <a:t>NeuralTS</a:t>
            </a:r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0DF1AC47-E60E-BBF6-26EB-96051DD6DA37}"/>
              </a:ext>
            </a:extLst>
          </p:cNvPr>
          <p:cNvSpPr txBox="1"/>
          <p:nvPr/>
        </p:nvSpPr>
        <p:spPr>
          <a:xfrm>
            <a:off x="7498079" y="2984156"/>
            <a:ext cx="1828800" cy="83099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endParaRPr sz="1600" dirty="0">
              <a:solidFill>
                <a:schemeClr val="accent4">
                  <a:lumMod val="20000"/>
                  <a:lumOff val="80000"/>
                </a:schemeClr>
              </a:solidFill>
              <a:latin typeface="Aptos" panose="020B0004020202020204" pitchFamily="34" charset="0"/>
            </a:endParaRPr>
          </a:p>
          <a:p>
            <a:pPr algn="l">
              <a:spcBef>
                <a:spcPts val="0"/>
              </a:spcBef>
            </a:pPr>
            <a:r>
              <a:rPr sz="1600" b="0" dirty="0">
                <a:solidFill>
                  <a:schemeClr val="accent4">
                    <a:lumMod val="20000"/>
                    <a:lumOff val="80000"/>
                  </a:schemeClr>
                </a:solidFill>
                <a:latin typeface="Aptos" panose="020B0004020202020204" pitchFamily="34" charset="0"/>
              </a:rPr>
              <a:t>Best long-run
convergence</a:t>
            </a:r>
          </a:p>
        </p:txBody>
      </p:sp>
      <p:sp>
        <p:nvSpPr>
          <p:cNvPr id="29" name="Rectangle 28">
            <a:extLst>
              <a:ext uri="{FF2B5EF4-FFF2-40B4-BE49-F238E27FC236}">
                <a16:creationId xmlns:a16="http://schemas.microsoft.com/office/drawing/2014/main" id="{4FD590A9-B8F2-EAAF-0DA3-82EA4264A177}"/>
              </a:ext>
            </a:extLst>
          </p:cNvPr>
          <p:cNvSpPr/>
          <p:nvPr/>
        </p:nvSpPr>
        <p:spPr>
          <a:xfrm>
            <a:off x="9692640" y="1978316"/>
            <a:ext cx="2103120" cy="3370924"/>
          </a:xfrm>
          <a:prstGeom prst="rect">
            <a:avLst/>
          </a:prstGeom>
          <a:solidFill>
            <a:srgbClr val="0E1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0" name="Rectangle 29">
            <a:extLst>
              <a:ext uri="{FF2B5EF4-FFF2-40B4-BE49-F238E27FC236}">
                <a16:creationId xmlns:a16="http://schemas.microsoft.com/office/drawing/2014/main" id="{81D4174F-7542-1115-4A22-49F9C1A8FE49}"/>
              </a:ext>
            </a:extLst>
          </p:cNvPr>
          <p:cNvSpPr/>
          <p:nvPr/>
        </p:nvSpPr>
        <p:spPr>
          <a:xfrm>
            <a:off x="9692640" y="1978316"/>
            <a:ext cx="2103120" cy="121095"/>
          </a:xfrm>
          <a:prstGeom prst="rect">
            <a:avLst/>
          </a:prstGeom>
          <a:solidFill>
            <a:srgbClr val="FF6D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4E875AAF-DE01-D250-6FEF-283BEE7905AF}"/>
              </a:ext>
            </a:extLst>
          </p:cNvPr>
          <p:cNvSpPr txBox="1"/>
          <p:nvPr/>
        </p:nvSpPr>
        <p:spPr>
          <a:xfrm>
            <a:off x="9829800" y="2161196"/>
            <a:ext cx="1828800" cy="83099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endParaRPr>
              <a:latin typeface="Aptos" panose="020B0004020202020204" pitchFamily="34" charset="0"/>
            </a:endParaRPr>
          </a:p>
          <a:p>
            <a:pPr algn="l">
              <a:spcBef>
                <a:spcPts val="0"/>
              </a:spcBef>
            </a:pPr>
            <a:r>
              <a:rPr sz="1500" b="1">
                <a:solidFill>
                  <a:srgbClr val="FFFFFF"/>
                </a:solidFill>
                <a:latin typeface="Aptos" panose="020B0004020202020204" pitchFamily="34" charset="0"/>
              </a:rPr>
              <a:t>Progressive
Tournament</a:t>
            </a:r>
          </a:p>
        </p:txBody>
      </p:sp>
      <p:sp>
        <p:nvSpPr>
          <p:cNvPr id="32" name="TextBox 31">
            <a:extLst>
              <a:ext uri="{FF2B5EF4-FFF2-40B4-BE49-F238E27FC236}">
                <a16:creationId xmlns:a16="http://schemas.microsoft.com/office/drawing/2014/main" id="{356D768D-618F-E456-5407-92980DFA3D98}"/>
              </a:ext>
            </a:extLst>
          </p:cNvPr>
          <p:cNvSpPr txBox="1"/>
          <p:nvPr/>
        </p:nvSpPr>
        <p:spPr>
          <a:xfrm>
            <a:off x="9829800" y="2984156"/>
            <a:ext cx="1828800" cy="107721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endParaRPr sz="1600" dirty="0">
              <a:solidFill>
                <a:schemeClr val="accent4">
                  <a:lumMod val="20000"/>
                  <a:lumOff val="80000"/>
                </a:schemeClr>
              </a:solidFill>
              <a:latin typeface="Aptos" panose="020B0004020202020204" pitchFamily="34" charset="0"/>
            </a:endParaRPr>
          </a:p>
          <a:p>
            <a:pPr algn="l">
              <a:spcBef>
                <a:spcPts val="0"/>
              </a:spcBef>
            </a:pPr>
            <a:r>
              <a:rPr sz="1600" b="0" dirty="0">
                <a:solidFill>
                  <a:schemeClr val="accent4">
                    <a:lumMod val="20000"/>
                    <a:lumOff val="80000"/>
                  </a:schemeClr>
                </a:solidFill>
                <a:latin typeface="Aptos" panose="020B0004020202020204" pitchFamily="34" charset="0"/>
              </a:rPr>
              <a:t>Unsure which fits?
BanditDB picks
the winner for you</a:t>
            </a:r>
          </a:p>
        </p:txBody>
      </p:sp>
      <p:sp>
        <p:nvSpPr>
          <p:cNvPr id="33" name="TextBox 32">
            <a:extLst>
              <a:ext uri="{FF2B5EF4-FFF2-40B4-BE49-F238E27FC236}">
                <a16:creationId xmlns:a16="http://schemas.microsoft.com/office/drawing/2014/main" id="{870458B9-36F9-4434-6932-D03952C2F3B5}"/>
              </a:ext>
            </a:extLst>
          </p:cNvPr>
          <p:cNvSpPr txBox="1"/>
          <p:nvPr/>
        </p:nvSpPr>
        <p:spPr>
          <a:xfrm>
            <a:off x="1" y="5411025"/>
            <a:ext cx="12192000" cy="7078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endParaRPr sz="2000" dirty="0">
              <a:latin typeface="Aptos" panose="020B0004020202020204" pitchFamily="34" charset="0"/>
            </a:endParaRPr>
          </a:p>
          <a:p>
            <a:pPr algn="ctr">
              <a:spcBef>
                <a:spcPts val="0"/>
              </a:spcBef>
            </a:pPr>
            <a:r>
              <a:rPr lang="en-US" sz="2000" b="1" dirty="0">
                <a:latin typeface="Aptos" panose="020B0004020202020204" pitchFamily="34" charset="0"/>
              </a:rPr>
              <a:t>In-memory database ·  </a:t>
            </a:r>
            <a:r>
              <a:rPr sz="2000" b="1" dirty="0">
                <a:latin typeface="Aptos" panose="020B0004020202020204" pitchFamily="34" charset="0"/>
              </a:rPr>
              <a:t>Written in Rust · Sub-millisecond predictions · </a:t>
            </a:r>
            <a:r>
              <a:rPr lang="en-US" sz="2000" b="1" dirty="0">
                <a:latin typeface="Aptos" panose="020B0004020202020204" pitchFamily="34" charset="0"/>
              </a:rPr>
              <a:t>Full backup and restore</a:t>
            </a:r>
            <a:endParaRPr sz="2000" b="1" dirty="0">
              <a:latin typeface="Aptos" panose="020B0004020202020204" pitchFamily="34" charset="0"/>
            </a:endParaRPr>
          </a:p>
        </p:txBody>
      </p:sp>
      <p:sp>
        <p:nvSpPr>
          <p:cNvPr id="34" name="TextBox 33">
            <a:extLst>
              <a:ext uri="{FF2B5EF4-FFF2-40B4-BE49-F238E27FC236}">
                <a16:creationId xmlns:a16="http://schemas.microsoft.com/office/drawing/2014/main" id="{7CBD68EA-A7DA-1153-F6EE-BFDCE432F254}"/>
              </a:ext>
            </a:extLst>
          </p:cNvPr>
          <p:cNvSpPr txBox="1"/>
          <p:nvPr/>
        </p:nvSpPr>
        <p:spPr>
          <a:xfrm>
            <a:off x="0" y="5870674"/>
            <a:ext cx="12192000" cy="7078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endParaRPr sz="2000" dirty="0">
              <a:latin typeface="Aptos" panose="020B0004020202020204" pitchFamily="34" charset="0"/>
            </a:endParaRPr>
          </a:p>
          <a:p>
            <a:pPr algn="ctr">
              <a:spcBef>
                <a:spcPts val="0"/>
              </a:spcBef>
            </a:pPr>
            <a:r>
              <a:rPr sz="2000" b="1" dirty="0">
                <a:latin typeface="Aptos" panose="020B0004020202020204" pitchFamily="34" charset="0"/>
              </a:rPr>
              <a:t>Works natively with Claude</a:t>
            </a:r>
            <a:r>
              <a:rPr lang="en-US" sz="2000" b="1" dirty="0">
                <a:latin typeface="Aptos" panose="020B0004020202020204" pitchFamily="34" charset="0"/>
              </a:rPr>
              <a:t> </a:t>
            </a:r>
            <a:r>
              <a:rPr sz="2000" b="1" dirty="0">
                <a:latin typeface="Aptos" panose="020B0004020202020204" pitchFamily="34" charset="0"/>
              </a:rPr>
              <a:t>and other AI agents via MCP (Model Context Protocol)</a:t>
            </a:r>
          </a:p>
        </p:txBody>
      </p:sp>
    </p:spTree>
    <p:extLst>
      <p:ext uri="{BB962C8B-B14F-4D97-AF65-F5344CB8AC3E}">
        <p14:creationId xmlns:p14="http://schemas.microsoft.com/office/powerpoint/2010/main" val="1533729714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B9C30B2-1294-B4FD-CECA-84E9CAE2173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Graphic 5">
            <a:extLst>
              <a:ext uri="{FF2B5EF4-FFF2-40B4-BE49-F238E27FC236}">
                <a16:creationId xmlns:a16="http://schemas.microsoft.com/office/drawing/2014/main" id="{55970FEC-8D81-05FF-F1B6-BE8EDF346B02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0581546" y="146867"/>
            <a:ext cx="1460346" cy="760597"/>
          </a:xfrm>
          <a:prstGeom prst="rect">
            <a:avLst/>
          </a:prstGeom>
        </p:spPr>
      </p:pic>
      <p:sp>
        <p:nvSpPr>
          <p:cNvPr id="2" name="Rectangle 1">
            <a:extLst>
              <a:ext uri="{FF2B5EF4-FFF2-40B4-BE49-F238E27FC236}">
                <a16:creationId xmlns:a16="http://schemas.microsoft.com/office/drawing/2014/main" id="{B80F0811-B3DF-F339-D4DE-985B2E3858DB}"/>
              </a:ext>
            </a:extLst>
          </p:cNvPr>
          <p:cNvSpPr/>
          <p:nvPr/>
        </p:nvSpPr>
        <p:spPr>
          <a:xfrm>
            <a:off x="820833" y="1369129"/>
            <a:ext cx="457200" cy="38100"/>
          </a:xfrm>
          <a:prstGeom prst="rect">
            <a:avLst/>
          </a:prstGeom>
          <a:solidFill>
            <a:srgbClr val="2196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F3F89880-106A-526C-F15F-4C5489519240}"/>
              </a:ext>
            </a:extLst>
          </p:cNvPr>
          <p:cNvSpPr txBox="1"/>
          <p:nvPr/>
        </p:nvSpPr>
        <p:spPr>
          <a:xfrm>
            <a:off x="820833" y="676631"/>
            <a:ext cx="8783238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3200" b="1" dirty="0"/>
              <a:t>AI Observability &amp; Transparency out-of-the-box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9CD5AB6C-FD45-0343-5808-ADEA00546E5F}"/>
              </a:ext>
            </a:extLst>
          </p:cNvPr>
          <p:cNvSpPr/>
          <p:nvPr/>
        </p:nvSpPr>
        <p:spPr>
          <a:xfrm>
            <a:off x="1079846" y="2796614"/>
            <a:ext cx="50800" cy="1051560"/>
          </a:xfrm>
          <a:prstGeom prst="rect">
            <a:avLst/>
          </a:prstGeom>
          <a:solidFill>
            <a:schemeClr val="tx1">
              <a:lumMod val="75000"/>
              <a:lumOff val="25000"/>
            </a:scheme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79D08784-03CD-A6A1-B519-783BC2C76E04}"/>
              </a:ext>
            </a:extLst>
          </p:cNvPr>
          <p:cNvSpPr txBox="1"/>
          <p:nvPr/>
        </p:nvSpPr>
        <p:spPr>
          <a:xfrm>
            <a:off x="1399886" y="2345109"/>
            <a:ext cx="2399952" cy="830997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endParaRPr sz="2400" dirty="0">
              <a:latin typeface="Aptos" panose="020B0004020202020204" pitchFamily="34" charset="0"/>
            </a:endParaRPr>
          </a:p>
          <a:p>
            <a:pPr algn="l">
              <a:spcBef>
                <a:spcPts val="0"/>
              </a:spcBef>
            </a:pPr>
            <a:r>
              <a:rPr sz="2400" b="1" dirty="0">
                <a:latin typeface="Aptos" panose="020B0004020202020204" pitchFamily="34" charset="0"/>
              </a:rPr>
              <a:t>Entropy alerting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E69B153D-8341-9CD8-810B-4D7F0D3CD0E0}"/>
              </a:ext>
            </a:extLst>
          </p:cNvPr>
          <p:cNvSpPr txBox="1"/>
          <p:nvPr/>
        </p:nvSpPr>
        <p:spPr>
          <a:xfrm>
            <a:off x="1399886" y="2934249"/>
            <a:ext cx="4754880" cy="9233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endParaRPr dirty="0">
              <a:solidFill>
                <a:schemeClr val="tx1">
                  <a:lumMod val="75000"/>
                  <a:lumOff val="25000"/>
                </a:schemeClr>
              </a:solidFill>
              <a:latin typeface="Aptos" panose="020B0004020202020204" pitchFamily="34" charset="0"/>
            </a:endParaRPr>
          </a:p>
          <a:p>
            <a:pPr algn="l">
              <a:spcBef>
                <a:spcPts val="0"/>
              </a:spcBef>
            </a:pPr>
            <a:r>
              <a:rPr b="0" dirty="0">
                <a:solidFill>
                  <a:schemeClr val="tx1">
                    <a:lumMod val="75000"/>
                    <a:lumOff val="25000"/>
                  </a:schemeClr>
                </a:solidFill>
                <a:latin typeface="Aptos" panose="020B0004020202020204" pitchFamily="34" charset="0"/>
              </a:rPr>
              <a:t>Detects arm collapse before it hurts revenue.
OK / Warning / Critical — live</a:t>
            </a:r>
            <a:r>
              <a:rPr lang="en-US" b="0" dirty="0">
                <a:solidFill>
                  <a:schemeClr val="tx1">
                    <a:lumMod val="75000"/>
                    <a:lumOff val="25000"/>
                  </a:schemeClr>
                </a:solidFill>
                <a:latin typeface="Aptos" panose="020B0004020202020204" pitchFamily="34" charset="0"/>
              </a:rPr>
              <a:t> dashboard</a:t>
            </a:r>
            <a:r>
              <a:rPr b="0" dirty="0">
                <a:solidFill>
                  <a:schemeClr val="tx1">
                    <a:lumMod val="75000"/>
                    <a:lumOff val="25000"/>
                  </a:schemeClr>
                </a:solidFill>
                <a:latin typeface="Aptos" panose="020B0004020202020204" pitchFamily="34" charset="0"/>
              </a:rPr>
              <a:t>.</a:t>
            </a: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9E4C1AF5-5F72-A01B-0343-D06EA57C5F88}"/>
              </a:ext>
            </a:extLst>
          </p:cNvPr>
          <p:cNvSpPr/>
          <p:nvPr/>
        </p:nvSpPr>
        <p:spPr>
          <a:xfrm>
            <a:off x="1079846" y="4460834"/>
            <a:ext cx="50800" cy="1051560"/>
          </a:xfrm>
          <a:prstGeom prst="rect">
            <a:avLst/>
          </a:prstGeom>
          <a:solidFill>
            <a:schemeClr val="tx1">
              <a:lumMod val="75000"/>
              <a:lumOff val="25000"/>
            </a:scheme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740054D5-2DB8-447E-04BD-2640F2A87C9C}"/>
              </a:ext>
            </a:extLst>
          </p:cNvPr>
          <p:cNvSpPr txBox="1"/>
          <p:nvPr/>
        </p:nvSpPr>
        <p:spPr>
          <a:xfrm>
            <a:off x="1399886" y="4009329"/>
            <a:ext cx="2928046" cy="830997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endParaRPr sz="2400" dirty="0">
              <a:latin typeface="Aptos" panose="020B0004020202020204" pitchFamily="34" charset="0"/>
            </a:endParaRPr>
          </a:p>
          <a:p>
            <a:pPr algn="l">
              <a:spcBef>
                <a:spcPts val="0"/>
              </a:spcBef>
            </a:pPr>
            <a:r>
              <a:rPr sz="2400" b="1" dirty="0">
                <a:latin typeface="Aptos" panose="020B0004020202020204" pitchFamily="34" charset="0"/>
              </a:rPr>
              <a:t>Convergence signal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4117A468-31CA-FF82-979E-F97C8C156C1F}"/>
              </a:ext>
            </a:extLst>
          </p:cNvPr>
          <p:cNvSpPr txBox="1"/>
          <p:nvPr/>
        </p:nvSpPr>
        <p:spPr>
          <a:xfrm>
            <a:off x="1399886" y="4598469"/>
            <a:ext cx="4754880" cy="9233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endParaRPr dirty="0">
              <a:solidFill>
                <a:schemeClr val="tx1">
                  <a:lumMod val="75000"/>
                  <a:lumOff val="25000"/>
                </a:schemeClr>
              </a:solidFill>
              <a:latin typeface="Aptos" panose="020B0004020202020204" pitchFamily="34" charset="0"/>
            </a:endParaRPr>
          </a:p>
          <a:p>
            <a:pPr algn="l">
              <a:spcBef>
                <a:spcPts val="0"/>
              </a:spcBef>
            </a:pPr>
            <a:r>
              <a:rPr b="0" dirty="0">
                <a:solidFill>
                  <a:schemeClr val="tx1">
                    <a:lumMod val="75000"/>
                    <a:lumOff val="25000"/>
                  </a:schemeClr>
                </a:solidFill>
                <a:latin typeface="Aptos" panose="020B0004020202020204" pitchFamily="34" charset="0"/>
              </a:rPr>
              <a:t>95% CI per arm. Tells you exactly when
the experiment is done.</a:t>
            </a:r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973845EF-A4E8-5F44-0075-23A1CEDEE6BD}"/>
              </a:ext>
            </a:extLst>
          </p:cNvPr>
          <p:cNvSpPr/>
          <p:nvPr/>
        </p:nvSpPr>
        <p:spPr>
          <a:xfrm>
            <a:off x="6159536" y="2796614"/>
            <a:ext cx="50800" cy="1051560"/>
          </a:xfrm>
          <a:prstGeom prst="rect">
            <a:avLst/>
          </a:prstGeom>
          <a:solidFill>
            <a:schemeClr val="tx1">
              <a:lumMod val="75000"/>
              <a:lumOff val="25000"/>
            </a:scheme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040B2845-5E61-1655-7016-74A1D4B4F250}"/>
              </a:ext>
            </a:extLst>
          </p:cNvPr>
          <p:cNvSpPr txBox="1"/>
          <p:nvPr/>
        </p:nvSpPr>
        <p:spPr>
          <a:xfrm>
            <a:off x="6479576" y="2345109"/>
            <a:ext cx="2113656" cy="830997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endParaRPr sz="2400" dirty="0">
              <a:latin typeface="Aptos" panose="020B0004020202020204" pitchFamily="34" charset="0"/>
            </a:endParaRPr>
          </a:p>
          <a:p>
            <a:pPr algn="l">
              <a:spcBef>
                <a:spcPts val="0"/>
              </a:spcBef>
            </a:pPr>
            <a:r>
              <a:rPr sz="2400" b="1" dirty="0">
                <a:latin typeface="Aptos" panose="020B0004020202020204" pitchFamily="34" charset="0"/>
              </a:rPr>
              <a:t>Full audit trail</a:t>
            </a: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A89A32BF-5141-129D-C42F-02467AEC6740}"/>
              </a:ext>
            </a:extLst>
          </p:cNvPr>
          <p:cNvSpPr txBox="1"/>
          <p:nvPr/>
        </p:nvSpPr>
        <p:spPr>
          <a:xfrm>
            <a:off x="6479576" y="2934249"/>
            <a:ext cx="4754880" cy="9233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endParaRPr dirty="0">
              <a:solidFill>
                <a:schemeClr val="tx1">
                  <a:lumMod val="75000"/>
                  <a:lumOff val="25000"/>
                </a:schemeClr>
              </a:solidFill>
              <a:latin typeface="Aptos" panose="020B0004020202020204" pitchFamily="34" charset="0"/>
            </a:endParaRPr>
          </a:p>
          <a:p>
            <a:pPr algn="l">
              <a:spcBef>
                <a:spcPts val="0"/>
              </a:spcBef>
            </a:pPr>
            <a:r>
              <a:rPr b="0" dirty="0">
                <a:solidFill>
                  <a:schemeClr val="tx1">
                    <a:lumMod val="75000"/>
                    <a:lumOff val="25000"/>
                  </a:schemeClr>
                </a:solidFill>
                <a:latin typeface="Aptos" panose="020B0004020202020204" pitchFamily="34" charset="0"/>
              </a:rPr>
              <a:t>WAL + JSONL audit log. Every predict and
reward recorded for compliance.</a:t>
            </a:r>
          </a:p>
        </p:txBody>
      </p:sp>
      <p:sp>
        <p:nvSpPr>
          <p:cNvPr id="24" name="Rectangle 23">
            <a:extLst>
              <a:ext uri="{FF2B5EF4-FFF2-40B4-BE49-F238E27FC236}">
                <a16:creationId xmlns:a16="http://schemas.microsoft.com/office/drawing/2014/main" id="{0ACF0D1D-CA18-D86C-288B-4B40110D42AC}"/>
              </a:ext>
            </a:extLst>
          </p:cNvPr>
          <p:cNvSpPr/>
          <p:nvPr/>
        </p:nvSpPr>
        <p:spPr>
          <a:xfrm>
            <a:off x="6159536" y="4460834"/>
            <a:ext cx="50800" cy="1051560"/>
          </a:xfrm>
          <a:prstGeom prst="rect">
            <a:avLst/>
          </a:prstGeom>
          <a:solidFill>
            <a:schemeClr val="tx1">
              <a:lumMod val="75000"/>
              <a:lumOff val="25000"/>
            </a:scheme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8FDE4786-94A6-F99C-7A5D-D7845391B129}"/>
              </a:ext>
            </a:extLst>
          </p:cNvPr>
          <p:cNvSpPr txBox="1"/>
          <p:nvPr/>
        </p:nvSpPr>
        <p:spPr>
          <a:xfrm>
            <a:off x="6479576" y="4009329"/>
            <a:ext cx="2244397" cy="830997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endParaRPr sz="2400">
              <a:latin typeface="Aptos" panose="020B0004020202020204" pitchFamily="34" charset="0"/>
            </a:endParaRPr>
          </a:p>
          <a:p>
            <a:pPr algn="l">
              <a:spcBef>
                <a:spcPts val="0"/>
              </a:spcBef>
            </a:pPr>
            <a:r>
              <a:rPr sz="2400" b="1">
                <a:latin typeface="Aptos" panose="020B0004020202020204" pitchFamily="34" charset="0"/>
              </a:rPr>
              <a:t>Parquet export</a:t>
            </a: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7AB8001D-426D-C61A-12B8-B1BC5E573BBE}"/>
              </a:ext>
            </a:extLst>
          </p:cNvPr>
          <p:cNvSpPr txBox="1"/>
          <p:nvPr/>
        </p:nvSpPr>
        <p:spPr>
          <a:xfrm>
            <a:off x="6479576" y="4598469"/>
            <a:ext cx="4754880" cy="9233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endParaRPr dirty="0">
              <a:solidFill>
                <a:schemeClr val="tx1">
                  <a:lumMod val="75000"/>
                  <a:lumOff val="25000"/>
                </a:schemeClr>
              </a:solidFill>
              <a:latin typeface="Aptos" panose="020B0004020202020204" pitchFamily="34" charset="0"/>
            </a:endParaRPr>
          </a:p>
          <a:p>
            <a:pPr algn="l">
              <a:spcBef>
                <a:spcPts val="0"/>
              </a:spcBef>
            </a:pPr>
            <a:r>
              <a:rPr b="0" dirty="0">
                <a:solidFill>
                  <a:schemeClr val="tx1">
                    <a:lumMod val="75000"/>
                    <a:lumOff val="25000"/>
                  </a:schemeClr>
                </a:solidFill>
                <a:latin typeface="Aptos" panose="020B0004020202020204" pitchFamily="34" charset="0"/>
              </a:rPr>
              <a:t>Every checkpoint exports matched
predict→reward pairs. Analyze anywhere.</a:t>
            </a:r>
          </a:p>
        </p:txBody>
      </p:sp>
      <p:sp>
        <p:nvSpPr>
          <p:cNvPr id="35" name="TextBox 34">
            <a:extLst>
              <a:ext uri="{FF2B5EF4-FFF2-40B4-BE49-F238E27FC236}">
                <a16:creationId xmlns:a16="http://schemas.microsoft.com/office/drawing/2014/main" id="{C513D619-B413-B716-1FAF-74113A4CDDC6}"/>
              </a:ext>
            </a:extLst>
          </p:cNvPr>
          <p:cNvSpPr txBox="1"/>
          <p:nvPr/>
        </p:nvSpPr>
        <p:spPr>
          <a:xfrm>
            <a:off x="-78800" y="5669561"/>
            <a:ext cx="12349599" cy="70788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endParaRPr sz="2000" b="1" dirty="0">
              <a:latin typeface="Aptos" panose="020B0004020202020204" pitchFamily="34" charset="0"/>
            </a:endParaRPr>
          </a:p>
          <a:p>
            <a:pPr algn="ctr">
              <a:spcBef>
                <a:spcPts val="0"/>
              </a:spcBef>
            </a:pPr>
            <a:r>
              <a:rPr sz="2000" b="1" dirty="0">
                <a:latin typeface="Aptos" panose="020B0004020202020204" pitchFamily="34" charset="0"/>
              </a:rPr>
              <a:t>Enterprise-ready: R</a:t>
            </a:r>
            <a:r>
              <a:rPr lang="en-US" sz="2000" b="1" dirty="0">
                <a:latin typeface="Aptos" panose="020B0004020202020204" pitchFamily="34" charset="0"/>
              </a:rPr>
              <a:t>ole-Based Access Control </a:t>
            </a:r>
            <a:r>
              <a:rPr sz="2000" b="1" dirty="0">
                <a:latin typeface="Aptos" panose="020B0004020202020204" pitchFamily="34" charset="0"/>
              </a:rPr>
              <a:t>· Rate limiting · Multi-tenancy · Audit log · OpenAPI spec</a:t>
            </a:r>
          </a:p>
        </p:txBody>
      </p:sp>
      <p:sp>
        <p:nvSpPr>
          <p:cNvPr id="36" name="TextBox 35">
            <a:extLst>
              <a:ext uri="{FF2B5EF4-FFF2-40B4-BE49-F238E27FC236}">
                <a16:creationId xmlns:a16="http://schemas.microsoft.com/office/drawing/2014/main" id="{8D3B0BE2-24AE-AFD6-E769-26850A5EC210}"/>
              </a:ext>
            </a:extLst>
          </p:cNvPr>
          <p:cNvSpPr txBox="1"/>
          <p:nvPr/>
        </p:nvSpPr>
        <p:spPr>
          <a:xfrm>
            <a:off x="3192514" y="1628976"/>
            <a:ext cx="5380640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b="1" dirty="0">
                <a:solidFill>
                  <a:schemeClr val="tx1">
                    <a:lumMod val="75000"/>
                    <a:lumOff val="25000"/>
                  </a:schemeClr>
                </a:solidFill>
              </a:rPr>
              <a:t>Causal inference after every decision</a:t>
            </a:r>
          </a:p>
        </p:txBody>
      </p:sp>
    </p:spTree>
    <p:extLst>
      <p:ext uri="{BB962C8B-B14F-4D97-AF65-F5344CB8AC3E}">
        <p14:creationId xmlns:p14="http://schemas.microsoft.com/office/powerpoint/2010/main" val="2537856299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69CA4F3-60E7-B48F-F9E0-338FA03C94E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Graphic 5">
            <a:extLst>
              <a:ext uri="{FF2B5EF4-FFF2-40B4-BE49-F238E27FC236}">
                <a16:creationId xmlns:a16="http://schemas.microsoft.com/office/drawing/2014/main" id="{1F29A4C0-4C45-D723-4E67-6C5588E9A689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0581546" y="146867"/>
            <a:ext cx="1460346" cy="760597"/>
          </a:xfrm>
          <a:prstGeom prst="rect">
            <a:avLst/>
          </a:prstGeom>
        </p:spPr>
      </p:pic>
      <p:sp>
        <p:nvSpPr>
          <p:cNvPr id="2" name="Rectangle 1">
            <a:extLst>
              <a:ext uri="{FF2B5EF4-FFF2-40B4-BE49-F238E27FC236}">
                <a16:creationId xmlns:a16="http://schemas.microsoft.com/office/drawing/2014/main" id="{0B5AB7B5-E3F0-A2AC-9B43-BDA7A151E4E9}"/>
              </a:ext>
            </a:extLst>
          </p:cNvPr>
          <p:cNvSpPr/>
          <p:nvPr/>
        </p:nvSpPr>
        <p:spPr>
          <a:xfrm>
            <a:off x="820833" y="1369129"/>
            <a:ext cx="457200" cy="38100"/>
          </a:xfrm>
          <a:prstGeom prst="rect">
            <a:avLst/>
          </a:prstGeom>
          <a:solidFill>
            <a:srgbClr val="2196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63E25991-6880-EE49-BC5F-24EB31EB7F16}"/>
              </a:ext>
            </a:extLst>
          </p:cNvPr>
          <p:cNvSpPr txBox="1"/>
          <p:nvPr/>
        </p:nvSpPr>
        <p:spPr>
          <a:xfrm>
            <a:off x="820833" y="676631"/>
            <a:ext cx="2529860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3200" b="1" dirty="0"/>
              <a:t>Competition</a:t>
            </a:r>
          </a:p>
        </p:txBody>
      </p:sp>
      <p:graphicFrame>
        <p:nvGraphicFramePr>
          <p:cNvPr id="5" name="Table 4">
            <a:extLst>
              <a:ext uri="{FF2B5EF4-FFF2-40B4-BE49-F238E27FC236}">
                <a16:creationId xmlns:a16="http://schemas.microsoft.com/office/drawing/2014/main" id="{9021020E-43CF-5EE7-5057-FD8C67688A51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219717978"/>
              </p:ext>
            </p:extLst>
          </p:nvPr>
        </p:nvGraphicFramePr>
        <p:xfrm>
          <a:off x="820833" y="2680451"/>
          <a:ext cx="9975745" cy="2938936"/>
        </p:xfrm>
        <a:graphic>
          <a:graphicData uri="http://schemas.openxmlformats.org/drawingml/2006/table">
            <a:tbl>
              <a:tblPr firstRow="1" bandRow="1">
                <a:tableStyleId>{073A0DAA-6AF3-43AB-8588-CEC1D06C72B9}</a:tableStyleId>
              </a:tblPr>
              <a:tblGrid>
                <a:gridCol w="2215214">
                  <a:extLst>
                    <a:ext uri="{9D8B030D-6E8A-4147-A177-3AD203B41FA5}">
                      <a16:colId xmlns:a16="http://schemas.microsoft.com/office/drawing/2014/main" val="573623447"/>
                    </a:ext>
                  </a:extLst>
                </a:gridCol>
                <a:gridCol w="3291664">
                  <a:extLst>
                    <a:ext uri="{9D8B030D-6E8A-4147-A177-3AD203B41FA5}">
                      <a16:colId xmlns:a16="http://schemas.microsoft.com/office/drawing/2014/main" val="2241853812"/>
                    </a:ext>
                  </a:extLst>
                </a:gridCol>
                <a:gridCol w="4468867">
                  <a:extLst>
                    <a:ext uri="{9D8B030D-6E8A-4147-A177-3AD203B41FA5}">
                      <a16:colId xmlns:a16="http://schemas.microsoft.com/office/drawing/2014/main" val="2029423232"/>
                    </a:ext>
                  </a:extLst>
                </a:gridCol>
              </a:tblGrid>
              <a:tr h="485268">
                <a:tc>
                  <a:txBody>
                    <a:bodyPr/>
                    <a:lstStyle/>
                    <a:p>
                      <a:endParaRPr lang="en-US" sz="1600" dirty="0"/>
                    </a:p>
                  </a:txBody>
                  <a:tcPr>
                    <a:solidFill>
                      <a:schemeClr val="tx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Vector Database</a:t>
                      </a:r>
                    </a:p>
                  </a:txBody>
                  <a:tcPr anchor="ctr">
                    <a:solidFill>
                      <a:schemeClr val="tx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dirty="0">
                          <a:solidFill>
                            <a:srgbClr val="FFC000"/>
                          </a:solidFill>
                        </a:rPr>
                        <a:t>BanditDB</a:t>
                      </a:r>
                    </a:p>
                  </a:txBody>
                  <a:tcPr anchor="ctr">
                    <a:solidFill>
                      <a:schemeClr val="tx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38015887"/>
                  </a:ext>
                </a:extLst>
              </a:tr>
              <a:tr h="485268">
                <a:tc>
                  <a:txBody>
                    <a:bodyPr/>
                    <a:lstStyle/>
                    <a:p>
                      <a:r>
                        <a:rPr lang="en-US" sz="1600" b="1" dirty="0"/>
                        <a:t>Purpose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 sz="1600" dirty="0">
                          <a:latin typeface="Aptos" panose="020B0004020202020204" pitchFamily="34" charset="0"/>
                        </a:rPr>
                        <a:t>Find similar Items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 sz="1600" dirty="0">
                          <a:latin typeface="Aptos" panose="020B0004020202020204" pitchFamily="34" charset="0"/>
                        </a:rPr>
                        <a:t>Make optimal decisions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391952814"/>
                  </a:ext>
                </a:extLst>
              </a:tr>
              <a:tr h="485268">
                <a:tc>
                  <a:txBody>
                    <a:bodyPr/>
                    <a:lstStyle/>
                    <a:p>
                      <a:r>
                        <a:rPr lang="en-US" sz="1600" b="1" dirty="0"/>
                        <a:t>Storage grow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 sz="1600" dirty="0">
                          <a:latin typeface="Aptos" panose="020B0004020202020204" pitchFamily="34" charset="0"/>
                        </a:rPr>
                        <a:t>Grow with every document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 sz="1600" dirty="0">
                          <a:latin typeface="Aptos" panose="020B0004020202020204" pitchFamily="34" charset="0"/>
                        </a:rPr>
                        <a:t>Fixed size forever – condensed knowledge 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728383335"/>
                  </a:ext>
                </a:extLst>
              </a:tr>
              <a:tr h="512596">
                <a:tc>
                  <a:txBody>
                    <a:bodyPr/>
                    <a:lstStyle/>
                    <a:p>
                      <a:r>
                        <a:rPr lang="en-US" sz="1600" b="1" dirty="0"/>
                        <a:t>Query Type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 sz="1600" dirty="0">
                          <a:latin typeface="Aptos" panose="020B0004020202020204" pitchFamily="34" charset="0"/>
                        </a:rPr>
                        <a:t>Nearest neighbor search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 sz="1600" dirty="0">
                          <a:latin typeface="Aptos" panose="020B0004020202020204" pitchFamily="34" charset="0"/>
                        </a:rPr>
                        <a:t>Predict best action for context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4041965494"/>
                  </a:ext>
                </a:extLst>
              </a:tr>
              <a:tr h="485268">
                <a:tc>
                  <a:txBody>
                    <a:bodyPr/>
                    <a:lstStyle/>
                    <a:p>
                      <a:r>
                        <a:rPr lang="en-US" sz="1600" b="1" dirty="0"/>
                        <a:t>Learning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 sz="1600" dirty="0">
                          <a:latin typeface="Aptos" panose="020B0004020202020204" pitchFamily="34" charset="0"/>
                        </a:rPr>
                        <a:t>Non – static index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 sz="1600" dirty="0">
                          <a:latin typeface="Aptos" panose="020B0004020202020204" pitchFamily="34" charset="0"/>
                        </a:rPr>
                        <a:t>Learn on every reword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992178862"/>
                  </a:ext>
                </a:extLst>
              </a:tr>
              <a:tr h="485268">
                <a:tc>
                  <a:txBody>
                    <a:bodyPr/>
                    <a:lstStyle/>
                    <a:p>
                      <a:r>
                        <a:rPr lang="en-US" sz="1600" b="1" dirty="0"/>
                        <a:t>Answer: 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 sz="1600" dirty="0">
                          <a:latin typeface="Aptos" panose="020B0004020202020204" pitchFamily="34" charset="0"/>
                        </a:rPr>
                        <a:t>What’s similar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 sz="1600" dirty="0">
                          <a:latin typeface="Aptos" panose="020B0004020202020204" pitchFamily="34" charset="0"/>
                        </a:rPr>
                        <a:t>What works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492494860"/>
                  </a:ext>
                </a:extLst>
              </a:tr>
            </a:tbl>
          </a:graphicData>
        </a:graphic>
      </p:graphicFrame>
      <p:grpSp>
        <p:nvGrpSpPr>
          <p:cNvPr id="21" name="Group 20">
            <a:extLst>
              <a:ext uri="{FF2B5EF4-FFF2-40B4-BE49-F238E27FC236}">
                <a16:creationId xmlns:a16="http://schemas.microsoft.com/office/drawing/2014/main" id="{57CF9402-E33B-23D7-5D87-F8ECCC47C7B6}"/>
              </a:ext>
            </a:extLst>
          </p:cNvPr>
          <p:cNvGrpSpPr/>
          <p:nvPr/>
        </p:nvGrpSpPr>
        <p:grpSpPr>
          <a:xfrm>
            <a:off x="703444" y="1343484"/>
            <a:ext cx="10093134" cy="1017339"/>
            <a:chOff x="1049433" y="1767797"/>
            <a:chExt cx="10093134" cy="1017339"/>
          </a:xfrm>
        </p:grpSpPr>
        <p:pic>
          <p:nvPicPr>
            <p:cNvPr id="11" name="Picture 10">
              <a:extLst>
                <a:ext uri="{FF2B5EF4-FFF2-40B4-BE49-F238E27FC236}">
                  <a16:creationId xmlns:a16="http://schemas.microsoft.com/office/drawing/2014/main" id="{C02D249D-1C57-337A-20CC-9B4023F05815}"/>
                </a:ext>
              </a:extLst>
            </p:cNvPr>
            <p:cNvPicPr>
              <a:picLocks noChangeAspect="1"/>
            </p:cNvPicPr>
            <p:nvPr/>
          </p:nvPicPr>
          <p:blipFill>
            <a:blip r:embed="rId4"/>
            <a:stretch>
              <a:fillRect/>
            </a:stretch>
          </p:blipFill>
          <p:spPr>
            <a:xfrm>
              <a:off x="9021667" y="2013252"/>
              <a:ext cx="2120900" cy="749300"/>
            </a:xfrm>
            <a:prstGeom prst="rect">
              <a:avLst/>
            </a:prstGeom>
          </p:spPr>
        </p:pic>
        <p:pic>
          <p:nvPicPr>
            <p:cNvPr id="14" name="Picture 13">
              <a:extLst>
                <a:ext uri="{FF2B5EF4-FFF2-40B4-BE49-F238E27FC236}">
                  <a16:creationId xmlns:a16="http://schemas.microsoft.com/office/drawing/2014/main" id="{08F9C3E0-6C44-0450-5523-9CCC78999B45}"/>
                </a:ext>
              </a:extLst>
            </p:cNvPr>
            <p:cNvPicPr>
              <a:picLocks noChangeAspect="1"/>
            </p:cNvPicPr>
            <p:nvPr/>
          </p:nvPicPr>
          <p:blipFill>
            <a:blip r:embed="rId5"/>
            <a:stretch>
              <a:fillRect/>
            </a:stretch>
          </p:blipFill>
          <p:spPr>
            <a:xfrm>
              <a:off x="5992864" y="1905074"/>
              <a:ext cx="2701846" cy="880062"/>
            </a:xfrm>
            <a:prstGeom prst="rect">
              <a:avLst/>
            </a:prstGeom>
          </p:spPr>
        </p:pic>
        <p:pic>
          <p:nvPicPr>
            <p:cNvPr id="16" name="Picture 15">
              <a:extLst>
                <a:ext uri="{FF2B5EF4-FFF2-40B4-BE49-F238E27FC236}">
                  <a16:creationId xmlns:a16="http://schemas.microsoft.com/office/drawing/2014/main" id="{48AC802E-5763-8392-B986-582C0D5E1D66}"/>
                </a:ext>
              </a:extLst>
            </p:cNvPr>
            <p:cNvPicPr>
              <a:picLocks noChangeAspect="1"/>
            </p:cNvPicPr>
            <p:nvPr/>
          </p:nvPicPr>
          <p:blipFill>
            <a:blip r:embed="rId6"/>
            <a:stretch>
              <a:fillRect/>
            </a:stretch>
          </p:blipFill>
          <p:spPr>
            <a:xfrm>
              <a:off x="1049433" y="2212091"/>
              <a:ext cx="2829697" cy="468174"/>
            </a:xfrm>
            <a:prstGeom prst="rect">
              <a:avLst/>
            </a:prstGeom>
          </p:spPr>
        </p:pic>
        <p:pic>
          <p:nvPicPr>
            <p:cNvPr id="20" name="Picture 19">
              <a:extLst>
                <a:ext uri="{FF2B5EF4-FFF2-40B4-BE49-F238E27FC236}">
                  <a16:creationId xmlns:a16="http://schemas.microsoft.com/office/drawing/2014/main" id="{ED4DC0D2-139A-D0C0-A52C-F28B9CD9B9D9}"/>
                </a:ext>
              </a:extLst>
            </p:cNvPr>
            <p:cNvPicPr>
              <a:picLocks noChangeAspect="1"/>
            </p:cNvPicPr>
            <p:nvPr/>
          </p:nvPicPr>
          <p:blipFill>
            <a:blip r:embed="rId7"/>
            <a:stretch>
              <a:fillRect/>
            </a:stretch>
          </p:blipFill>
          <p:spPr>
            <a:xfrm>
              <a:off x="4052125" y="1767797"/>
              <a:ext cx="1767744" cy="912384"/>
            </a:xfrm>
            <a:prstGeom prst="rect">
              <a:avLst/>
            </a:prstGeom>
          </p:spPr>
        </p:pic>
      </p:grpSp>
      <p:sp>
        <p:nvSpPr>
          <p:cNvPr id="27" name="TextBox 26">
            <a:extLst>
              <a:ext uri="{FF2B5EF4-FFF2-40B4-BE49-F238E27FC236}">
                <a16:creationId xmlns:a16="http://schemas.microsoft.com/office/drawing/2014/main" id="{CAAB3BF6-9995-CB74-5E44-F233804A1F50}"/>
              </a:ext>
            </a:extLst>
          </p:cNvPr>
          <p:cNvSpPr txBox="1"/>
          <p:nvPr/>
        </p:nvSpPr>
        <p:spPr>
          <a:xfrm>
            <a:off x="0" y="5551587"/>
            <a:ext cx="12192000" cy="101566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endParaRPr sz="2000" b="1" dirty="0">
              <a:latin typeface="Aptos" panose="020B0004020202020204" pitchFamily="34" charset="0"/>
            </a:endParaRPr>
          </a:p>
          <a:p>
            <a:pPr algn="ctr">
              <a:spcBef>
                <a:spcPts val="0"/>
              </a:spcBef>
            </a:pPr>
            <a:r>
              <a:rPr lang="en-US" sz="2000" b="1" dirty="0">
                <a:latin typeface="Aptos" panose="020B0004020202020204" pitchFamily="34" charset="0"/>
              </a:rPr>
              <a:t>BanditDB sits at the intersection between:</a:t>
            </a:r>
          </a:p>
          <a:p>
            <a:pPr algn="ctr">
              <a:spcBef>
                <a:spcPts val="0"/>
              </a:spcBef>
            </a:pPr>
            <a:r>
              <a:rPr lang="en-US" sz="2000" b="1" dirty="0">
                <a:latin typeface="Aptos" panose="020B0004020202020204" pitchFamily="34" charset="0"/>
              </a:rPr>
              <a:t> new category database layer and decision intelligence </a:t>
            </a:r>
            <a:endParaRPr sz="2000" b="1" dirty="0">
              <a:latin typeface="Aptos" panose="020B00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793021358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42342C8-CBBC-A19B-C258-74C51FEA3CF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Graphic 5">
            <a:extLst>
              <a:ext uri="{FF2B5EF4-FFF2-40B4-BE49-F238E27FC236}">
                <a16:creationId xmlns:a16="http://schemas.microsoft.com/office/drawing/2014/main" id="{25698AE6-1542-B11A-043D-356CCF8906DD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0581546" y="146867"/>
            <a:ext cx="1460346" cy="760597"/>
          </a:xfrm>
          <a:prstGeom prst="rect">
            <a:avLst/>
          </a:prstGeom>
        </p:spPr>
      </p:pic>
      <p:sp>
        <p:nvSpPr>
          <p:cNvPr id="2" name="Rectangle 1">
            <a:extLst>
              <a:ext uri="{FF2B5EF4-FFF2-40B4-BE49-F238E27FC236}">
                <a16:creationId xmlns:a16="http://schemas.microsoft.com/office/drawing/2014/main" id="{BD8896FC-B7C1-2AC3-2BAC-0129C85FF5E9}"/>
              </a:ext>
            </a:extLst>
          </p:cNvPr>
          <p:cNvSpPr/>
          <p:nvPr/>
        </p:nvSpPr>
        <p:spPr>
          <a:xfrm>
            <a:off x="820833" y="1369129"/>
            <a:ext cx="457200" cy="38100"/>
          </a:xfrm>
          <a:prstGeom prst="rect">
            <a:avLst/>
          </a:prstGeom>
          <a:solidFill>
            <a:srgbClr val="2196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9182A2CC-1162-8406-0DE8-B9F3E3510799}"/>
              </a:ext>
            </a:extLst>
          </p:cNvPr>
          <p:cNvSpPr txBox="1"/>
          <p:nvPr/>
        </p:nvSpPr>
        <p:spPr>
          <a:xfrm>
            <a:off x="820833" y="676631"/>
            <a:ext cx="8377806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3200" b="1" dirty="0"/>
              <a:t>Why now</a:t>
            </a:r>
            <a:r>
              <a:rPr lang="bg-BG" sz="3200" b="1" dirty="0"/>
              <a:t>: </a:t>
            </a:r>
            <a:r>
              <a:rPr lang="en-US" sz="3200" b="1" dirty="0"/>
              <a:t>AI Agents needs decision memory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07C491F1-CA8F-4D51-8041-72C88039B5CD}"/>
              </a:ext>
            </a:extLst>
          </p:cNvPr>
          <p:cNvSpPr/>
          <p:nvPr/>
        </p:nvSpPr>
        <p:spPr>
          <a:xfrm>
            <a:off x="548640" y="1842392"/>
            <a:ext cx="11064240" cy="1371600"/>
          </a:xfrm>
          <a:prstGeom prst="rect">
            <a:avLst/>
          </a:prstGeom>
          <a:solidFill>
            <a:srgbClr val="0E1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3CEC2029-740E-265E-6C91-8C55C2D7FA6D}"/>
              </a:ext>
            </a:extLst>
          </p:cNvPr>
          <p:cNvSpPr txBox="1"/>
          <p:nvPr/>
        </p:nvSpPr>
        <p:spPr>
          <a:xfrm>
            <a:off x="822960" y="1979552"/>
            <a:ext cx="2743200" cy="9233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endParaRPr dirty="0">
              <a:latin typeface="Aptos" panose="020B0004020202020204" pitchFamily="34" charset="0"/>
            </a:endParaRPr>
          </a:p>
          <a:p>
            <a:pPr algn="l">
              <a:spcBef>
                <a:spcPts val="0"/>
              </a:spcBef>
            </a:pPr>
            <a:r>
              <a:rPr b="1" dirty="0">
                <a:solidFill>
                  <a:srgbClr val="FFFFFF"/>
                </a:solidFill>
                <a:latin typeface="Aptos" panose="020B0004020202020204" pitchFamily="34" charset="0"/>
              </a:rPr>
              <a:t>AI agents make
millions of decisions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017754B5-06FC-EF01-930B-47A1E638C968}"/>
              </a:ext>
            </a:extLst>
          </p:cNvPr>
          <p:cNvSpPr txBox="1"/>
          <p:nvPr/>
        </p:nvSpPr>
        <p:spPr>
          <a:xfrm>
            <a:off x="3566159" y="1979552"/>
            <a:ext cx="7913267" cy="83099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endParaRPr sz="1600" dirty="0">
              <a:latin typeface="Aptos" panose="020B0004020202020204" pitchFamily="34" charset="0"/>
            </a:endParaRPr>
          </a:p>
          <a:p>
            <a:pPr algn="l">
              <a:spcBef>
                <a:spcPts val="0"/>
              </a:spcBef>
            </a:pPr>
            <a:r>
              <a:rPr sz="1600" b="0" dirty="0">
                <a:solidFill>
                  <a:srgbClr val="A0AABB"/>
                </a:solidFill>
                <a:latin typeface="Aptos" panose="020B0004020202020204" pitchFamily="34" charset="0"/>
              </a:rPr>
              <a:t>GPT, Claude, and Gemini agents take actions at scale. None of them currently learn which decisions work best. BanditDB closes that loop.</a:t>
            </a:r>
            <a:r>
              <a:rPr lang="en-US" sz="1600" b="0" dirty="0">
                <a:solidFill>
                  <a:srgbClr val="A0AABB"/>
                </a:solidFill>
                <a:latin typeface="Aptos" panose="020B0004020202020204" pitchFamily="34" charset="0"/>
              </a:rPr>
              <a:t> No .md files, No contexts or wikis</a:t>
            </a:r>
            <a:endParaRPr sz="1600" b="0" dirty="0">
              <a:solidFill>
                <a:srgbClr val="A0AABB"/>
              </a:solidFill>
              <a:latin typeface="Aptos" panose="020B0004020202020204" pitchFamily="34" charset="0"/>
            </a:endParaRP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7A8FF91A-0AA4-BAA2-9F4B-075AC6F390FD}"/>
              </a:ext>
            </a:extLst>
          </p:cNvPr>
          <p:cNvSpPr/>
          <p:nvPr/>
        </p:nvSpPr>
        <p:spPr>
          <a:xfrm>
            <a:off x="548640" y="3442592"/>
            <a:ext cx="11064240" cy="1371600"/>
          </a:xfrm>
          <a:prstGeom prst="rect">
            <a:avLst/>
          </a:prstGeom>
          <a:solidFill>
            <a:srgbClr val="0E1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CEBE6178-553C-E17C-B40A-67C3E0A9DD3E}"/>
              </a:ext>
            </a:extLst>
          </p:cNvPr>
          <p:cNvSpPr txBox="1"/>
          <p:nvPr/>
        </p:nvSpPr>
        <p:spPr>
          <a:xfrm>
            <a:off x="822960" y="3579752"/>
            <a:ext cx="2743200" cy="9233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endParaRPr dirty="0">
              <a:latin typeface="Aptos" panose="020B0004020202020204" pitchFamily="34" charset="0"/>
            </a:endParaRPr>
          </a:p>
          <a:p>
            <a:pPr algn="l">
              <a:spcBef>
                <a:spcPts val="0"/>
              </a:spcBef>
            </a:pPr>
            <a:r>
              <a:rPr b="1" dirty="0">
                <a:solidFill>
                  <a:srgbClr val="FFFFFF"/>
                </a:solidFill>
                <a:latin typeface="Aptos" panose="020B0004020202020204" pitchFamily="34" charset="0"/>
              </a:rPr>
              <a:t>The data science
bottleneck is real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EAE21315-3054-EA2F-5158-1298177E56B8}"/>
              </a:ext>
            </a:extLst>
          </p:cNvPr>
          <p:cNvSpPr txBox="1"/>
          <p:nvPr/>
        </p:nvSpPr>
        <p:spPr>
          <a:xfrm>
            <a:off x="3566160" y="3579752"/>
            <a:ext cx="7772400" cy="83099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endParaRPr sz="1600" dirty="0">
              <a:latin typeface="Aptos" panose="020B0004020202020204" pitchFamily="34" charset="0"/>
            </a:endParaRPr>
          </a:p>
          <a:p>
            <a:pPr algn="l">
              <a:spcBef>
                <a:spcPts val="0"/>
              </a:spcBef>
            </a:pPr>
            <a:r>
              <a:rPr sz="1600" b="0" dirty="0">
                <a:solidFill>
                  <a:srgbClr val="A0AABB"/>
                </a:solidFill>
                <a:latin typeface="Aptos" panose="020B0004020202020204" pitchFamily="34" charset="0"/>
              </a:rPr>
              <a:t>73% of ML projects never reach production (Gartner). BanditDB ships learning in an afternoon without a data scientist.</a:t>
            </a:r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EA67C07A-CDED-676A-76F9-538880B65175}"/>
              </a:ext>
            </a:extLst>
          </p:cNvPr>
          <p:cNvSpPr/>
          <p:nvPr/>
        </p:nvSpPr>
        <p:spPr>
          <a:xfrm>
            <a:off x="548640" y="5042792"/>
            <a:ext cx="11064240" cy="1371600"/>
          </a:xfrm>
          <a:prstGeom prst="rect">
            <a:avLst/>
          </a:prstGeom>
          <a:solidFill>
            <a:srgbClr val="0E1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5FE30E44-2EBB-B93E-802B-F39276CF348D}"/>
              </a:ext>
            </a:extLst>
          </p:cNvPr>
          <p:cNvSpPr txBox="1"/>
          <p:nvPr/>
        </p:nvSpPr>
        <p:spPr>
          <a:xfrm>
            <a:off x="822960" y="5179952"/>
            <a:ext cx="2743200" cy="9233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endParaRPr dirty="0"/>
          </a:p>
          <a:p>
            <a:pPr algn="l">
              <a:spcBef>
                <a:spcPts val="0"/>
              </a:spcBef>
            </a:pPr>
            <a:r>
              <a:rPr b="1" dirty="0">
                <a:solidFill>
                  <a:srgbClr val="FFFFFF"/>
                </a:solidFill>
                <a:latin typeface="Calibri"/>
              </a:rPr>
              <a:t>Rust + open source
is the right moat</a:t>
            </a: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9A38D80F-54EB-92C3-941E-40B9D249122B}"/>
              </a:ext>
            </a:extLst>
          </p:cNvPr>
          <p:cNvSpPr txBox="1"/>
          <p:nvPr/>
        </p:nvSpPr>
        <p:spPr>
          <a:xfrm>
            <a:off x="3566160" y="5179952"/>
            <a:ext cx="7772400" cy="83099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endParaRPr sz="1600" dirty="0">
              <a:latin typeface="Aptos" panose="020B0004020202020204" pitchFamily="34" charset="0"/>
            </a:endParaRPr>
          </a:p>
          <a:p>
            <a:pPr algn="l">
              <a:spcBef>
                <a:spcPts val="0"/>
              </a:spcBef>
            </a:pPr>
            <a:r>
              <a:rPr sz="1600" b="0" dirty="0">
                <a:solidFill>
                  <a:srgbClr val="A0AABB"/>
                </a:solidFill>
                <a:latin typeface="Aptos" panose="020B0004020202020204" pitchFamily="34" charset="0"/>
              </a:rPr>
              <a:t>Sub-millisecond latency, 21× memory efficiency, Apache 2.0. The infrastructure layer wins by being fast, cheap, and trusted.</a:t>
            </a:r>
          </a:p>
        </p:txBody>
      </p:sp>
    </p:spTree>
    <p:extLst>
      <p:ext uri="{BB962C8B-B14F-4D97-AF65-F5344CB8AC3E}">
        <p14:creationId xmlns:p14="http://schemas.microsoft.com/office/powerpoint/2010/main" val="3305434457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043A461-0404-44EB-BFC4-DC61A3E0EF9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Graphic 5">
            <a:extLst>
              <a:ext uri="{FF2B5EF4-FFF2-40B4-BE49-F238E27FC236}">
                <a16:creationId xmlns:a16="http://schemas.microsoft.com/office/drawing/2014/main" id="{42DE5D74-275C-4CD0-D098-39DCC62F4137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0581546" y="146867"/>
            <a:ext cx="1460346" cy="760597"/>
          </a:xfrm>
          <a:prstGeom prst="rect">
            <a:avLst/>
          </a:prstGeom>
        </p:spPr>
      </p:pic>
      <p:sp>
        <p:nvSpPr>
          <p:cNvPr id="2" name="Rectangle 1">
            <a:extLst>
              <a:ext uri="{FF2B5EF4-FFF2-40B4-BE49-F238E27FC236}">
                <a16:creationId xmlns:a16="http://schemas.microsoft.com/office/drawing/2014/main" id="{F951AA0A-807D-8BF5-FF5F-9C3C418803A4}"/>
              </a:ext>
            </a:extLst>
          </p:cNvPr>
          <p:cNvSpPr/>
          <p:nvPr/>
        </p:nvSpPr>
        <p:spPr>
          <a:xfrm>
            <a:off x="820833" y="1369129"/>
            <a:ext cx="457200" cy="38100"/>
          </a:xfrm>
          <a:prstGeom prst="rect">
            <a:avLst/>
          </a:prstGeom>
          <a:solidFill>
            <a:srgbClr val="2196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581F4DCD-D122-29C5-01EA-854130ABB5C0}"/>
              </a:ext>
            </a:extLst>
          </p:cNvPr>
          <p:cNvSpPr txBox="1"/>
          <p:nvPr/>
        </p:nvSpPr>
        <p:spPr>
          <a:xfrm>
            <a:off x="820833" y="676631"/>
            <a:ext cx="2238883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3200" b="1" dirty="0"/>
              <a:t>The Market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BE005E0D-E659-5726-2AD4-F43B450EA4DB}"/>
              </a:ext>
            </a:extLst>
          </p:cNvPr>
          <p:cNvSpPr/>
          <p:nvPr/>
        </p:nvSpPr>
        <p:spPr>
          <a:xfrm>
            <a:off x="914400" y="1920240"/>
            <a:ext cx="3017520" cy="3200400"/>
          </a:xfrm>
          <a:prstGeom prst="rect">
            <a:avLst/>
          </a:prstGeom>
          <a:solidFill>
            <a:srgbClr val="0E1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2AD052F9-940C-6CCB-E8A9-6E5EF57FC5AC}"/>
              </a:ext>
            </a:extLst>
          </p:cNvPr>
          <p:cNvSpPr txBox="1"/>
          <p:nvPr/>
        </p:nvSpPr>
        <p:spPr>
          <a:xfrm>
            <a:off x="1097280" y="2194560"/>
            <a:ext cx="1552028" cy="110799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endParaRPr dirty="0">
              <a:latin typeface="Aptos" panose="020B0004020202020204" pitchFamily="34" charset="0"/>
            </a:endParaRPr>
          </a:p>
          <a:p>
            <a:pPr algn="l">
              <a:spcBef>
                <a:spcPts val="0"/>
              </a:spcBef>
            </a:pPr>
            <a:r>
              <a:rPr sz="4800" b="1" dirty="0">
                <a:solidFill>
                  <a:srgbClr val="2196F3"/>
                </a:solidFill>
                <a:latin typeface="Aptos" panose="020B0004020202020204" pitchFamily="34" charset="0"/>
              </a:rPr>
              <a:t>$47B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67167D50-0407-9F3D-CBC2-6C6C512EF8DC}"/>
              </a:ext>
            </a:extLst>
          </p:cNvPr>
          <p:cNvSpPr txBox="1"/>
          <p:nvPr/>
        </p:nvSpPr>
        <p:spPr>
          <a:xfrm>
            <a:off x="1097280" y="3038267"/>
            <a:ext cx="2651760" cy="107721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endParaRPr sz="1600" dirty="0">
              <a:solidFill>
                <a:schemeClr val="bg1"/>
              </a:solidFill>
              <a:latin typeface="Aptos" panose="020B0004020202020204" pitchFamily="34" charset="0"/>
            </a:endParaRPr>
          </a:p>
          <a:p>
            <a:pPr algn="l">
              <a:spcBef>
                <a:spcPts val="0"/>
              </a:spcBef>
            </a:pPr>
            <a:r>
              <a:rPr sz="1600" b="0" dirty="0">
                <a:solidFill>
                  <a:schemeClr val="bg1"/>
                </a:solidFill>
                <a:latin typeface="Aptos" panose="020B0004020202020204" pitchFamily="34" charset="0"/>
              </a:rPr>
              <a:t>ML/AI
Infrastructure
Market (2026)</a:t>
            </a: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B085DC53-A8E5-B6D3-B172-CF6BDC7AA513}"/>
              </a:ext>
            </a:extLst>
          </p:cNvPr>
          <p:cNvSpPr/>
          <p:nvPr/>
        </p:nvSpPr>
        <p:spPr>
          <a:xfrm>
            <a:off x="4389120" y="1920240"/>
            <a:ext cx="3017520" cy="3200400"/>
          </a:xfrm>
          <a:prstGeom prst="rect">
            <a:avLst/>
          </a:prstGeom>
          <a:solidFill>
            <a:srgbClr val="0E1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2388F4B5-8D21-929C-E6AA-FE0F5B185A39}"/>
              </a:ext>
            </a:extLst>
          </p:cNvPr>
          <p:cNvSpPr txBox="1"/>
          <p:nvPr/>
        </p:nvSpPr>
        <p:spPr>
          <a:xfrm>
            <a:off x="4572000" y="2194560"/>
            <a:ext cx="1552028" cy="110799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endParaRPr dirty="0">
              <a:latin typeface="Aptos" panose="020B0004020202020204" pitchFamily="34" charset="0"/>
            </a:endParaRPr>
          </a:p>
          <a:p>
            <a:pPr algn="l">
              <a:spcBef>
                <a:spcPts val="0"/>
              </a:spcBef>
            </a:pPr>
            <a:r>
              <a:rPr sz="4800" b="1" dirty="0">
                <a:solidFill>
                  <a:srgbClr val="2196F3"/>
                </a:solidFill>
                <a:latin typeface="Aptos" panose="020B0004020202020204" pitchFamily="34" charset="0"/>
              </a:rPr>
              <a:t>$12B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926ECA73-5AAD-90B5-F206-DAE888E2FEC0}"/>
              </a:ext>
            </a:extLst>
          </p:cNvPr>
          <p:cNvSpPr txBox="1"/>
          <p:nvPr/>
        </p:nvSpPr>
        <p:spPr>
          <a:xfrm>
            <a:off x="4572000" y="3047881"/>
            <a:ext cx="2651760" cy="107721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endParaRPr sz="1600" dirty="0">
              <a:solidFill>
                <a:schemeClr val="bg1"/>
              </a:solidFill>
              <a:latin typeface="Aptos" panose="020B0004020202020204" pitchFamily="34" charset="0"/>
            </a:endParaRPr>
          </a:p>
          <a:p>
            <a:pPr algn="l">
              <a:spcBef>
                <a:spcPts val="0"/>
              </a:spcBef>
            </a:pPr>
            <a:r>
              <a:rPr sz="1600" b="0" dirty="0">
                <a:solidFill>
                  <a:schemeClr val="bg1"/>
                </a:solidFill>
                <a:latin typeface="Aptos" panose="020B0004020202020204" pitchFamily="34" charset="0"/>
              </a:rPr>
              <a:t>Personalization
Engine
Market (2026)</a:t>
            </a:r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3A31BAEF-36AC-8A9C-F606-515928020600}"/>
              </a:ext>
            </a:extLst>
          </p:cNvPr>
          <p:cNvSpPr/>
          <p:nvPr/>
        </p:nvSpPr>
        <p:spPr>
          <a:xfrm>
            <a:off x="7863840" y="1920240"/>
            <a:ext cx="3017520" cy="3200400"/>
          </a:xfrm>
          <a:prstGeom prst="rect">
            <a:avLst/>
          </a:prstGeom>
          <a:solidFill>
            <a:srgbClr val="0E1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79E67981-6D1F-ED6C-1CC4-C6F58D51359A}"/>
              </a:ext>
            </a:extLst>
          </p:cNvPr>
          <p:cNvSpPr txBox="1"/>
          <p:nvPr/>
        </p:nvSpPr>
        <p:spPr>
          <a:xfrm>
            <a:off x="8046720" y="2194560"/>
            <a:ext cx="1223412" cy="110799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endParaRPr dirty="0">
              <a:latin typeface="Aptos" panose="020B0004020202020204" pitchFamily="34" charset="0"/>
            </a:endParaRPr>
          </a:p>
          <a:p>
            <a:pPr algn="l">
              <a:spcBef>
                <a:spcPts val="0"/>
              </a:spcBef>
            </a:pPr>
            <a:r>
              <a:rPr sz="4800" b="1" dirty="0">
                <a:solidFill>
                  <a:srgbClr val="FF6D00"/>
                </a:solidFill>
                <a:latin typeface="Aptos" panose="020B0004020202020204" pitchFamily="34" charset="0"/>
              </a:rPr>
              <a:t>$8B</a:t>
            </a: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96DCC6D1-A8DE-CD3B-3EEF-D9EF43CF8A13}"/>
              </a:ext>
            </a:extLst>
          </p:cNvPr>
          <p:cNvSpPr txBox="1"/>
          <p:nvPr/>
        </p:nvSpPr>
        <p:spPr>
          <a:xfrm>
            <a:off x="8046720" y="3010810"/>
            <a:ext cx="2651760" cy="107721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endParaRPr sz="1600" dirty="0">
              <a:solidFill>
                <a:schemeClr val="bg1"/>
              </a:solidFill>
              <a:latin typeface="Aptos" panose="020B0004020202020204" pitchFamily="34" charset="0"/>
            </a:endParaRPr>
          </a:p>
          <a:p>
            <a:pPr algn="l">
              <a:spcBef>
                <a:spcPts val="0"/>
              </a:spcBef>
            </a:pPr>
            <a:r>
              <a:rPr sz="1600" b="0" dirty="0">
                <a:solidFill>
                  <a:schemeClr val="bg1"/>
                </a:solidFill>
                <a:latin typeface="Aptos" panose="020B0004020202020204" pitchFamily="34" charset="0"/>
              </a:rPr>
              <a:t>Decision
Intelligence
Market (2026)</a:t>
            </a: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CFBD523C-520C-DEFE-E288-134F81C7DCC8}"/>
              </a:ext>
            </a:extLst>
          </p:cNvPr>
          <p:cNvSpPr txBox="1"/>
          <p:nvPr/>
        </p:nvSpPr>
        <p:spPr>
          <a:xfrm>
            <a:off x="0" y="5119092"/>
            <a:ext cx="12192000" cy="12618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endParaRPr sz="2000" b="1" dirty="0">
              <a:latin typeface="Aptos" panose="020B0004020202020204" pitchFamily="34" charset="0"/>
            </a:endParaRPr>
          </a:p>
          <a:p>
            <a:pPr algn="ctr">
              <a:spcBef>
                <a:spcPts val="0"/>
              </a:spcBef>
            </a:pPr>
            <a:r>
              <a:rPr lang="en-US" sz="2800" b="1" dirty="0">
                <a:latin typeface="Aptos" panose="020B0004020202020204" pitchFamily="34" charset="0"/>
              </a:rPr>
              <a:t>SAM 2026 ~$5.8B ·  SAM 2031 ~$14B ·  SAM 2036 ~$35B</a:t>
            </a:r>
          </a:p>
          <a:p>
            <a:pPr algn="ctr">
              <a:spcBef>
                <a:spcPts val="0"/>
              </a:spcBef>
            </a:pPr>
            <a:r>
              <a:rPr lang="en-US" sz="2800" b="1" dirty="0">
                <a:latin typeface="Aptos" panose="020B0004020202020204" pitchFamily="34" charset="0"/>
              </a:rPr>
              <a:t>SOM 2036 ~$10B - $15B (data source: Garthner)</a:t>
            </a: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B264BB9D-EE2F-2AF7-2950-3570D862696C}"/>
              </a:ext>
            </a:extLst>
          </p:cNvPr>
          <p:cNvSpPr txBox="1"/>
          <p:nvPr/>
        </p:nvSpPr>
        <p:spPr>
          <a:xfrm>
            <a:off x="1097280" y="4078414"/>
            <a:ext cx="2064989" cy="954107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endParaRPr sz="2800" dirty="0">
              <a:latin typeface="Aptos" panose="020B0004020202020204" pitchFamily="34" charset="0"/>
            </a:endParaRPr>
          </a:p>
          <a:p>
            <a:pPr algn="l">
              <a:spcBef>
                <a:spcPts val="0"/>
              </a:spcBef>
            </a:pPr>
            <a:r>
              <a:rPr lang="en-US" sz="2800" b="1" dirty="0">
                <a:solidFill>
                  <a:srgbClr val="2196F3"/>
                </a:solidFill>
                <a:latin typeface="Aptos" panose="020B0004020202020204" pitchFamily="34" charset="0"/>
              </a:rPr>
              <a:t>~3% / $1.4B</a:t>
            </a:r>
            <a:endParaRPr sz="2800" b="1" dirty="0">
              <a:solidFill>
                <a:srgbClr val="2196F3"/>
              </a:solidFill>
              <a:latin typeface="Aptos" panose="020B0004020202020204" pitchFamily="34" charset="0"/>
            </a:endParaRP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2EDD2C1C-C18E-E694-259E-72DB4D3DCB15}"/>
              </a:ext>
            </a:extLst>
          </p:cNvPr>
          <p:cNvSpPr txBox="1"/>
          <p:nvPr/>
        </p:nvSpPr>
        <p:spPr>
          <a:xfrm>
            <a:off x="4525006" y="4096950"/>
            <a:ext cx="2257349" cy="954107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endParaRPr sz="2800" dirty="0">
              <a:latin typeface="Aptos" panose="020B0004020202020204" pitchFamily="34" charset="0"/>
            </a:endParaRPr>
          </a:p>
          <a:p>
            <a:pPr algn="l">
              <a:spcBef>
                <a:spcPts val="0"/>
              </a:spcBef>
            </a:pPr>
            <a:r>
              <a:rPr lang="en-US" sz="2800" b="1" dirty="0">
                <a:solidFill>
                  <a:srgbClr val="2196F3"/>
                </a:solidFill>
                <a:latin typeface="Aptos" panose="020B0004020202020204" pitchFamily="34" charset="0"/>
              </a:rPr>
              <a:t>~20% / $2.4B</a:t>
            </a:r>
            <a:endParaRPr sz="2800" b="1" dirty="0">
              <a:solidFill>
                <a:srgbClr val="2196F3"/>
              </a:solidFill>
              <a:latin typeface="Aptos" panose="020B0004020202020204" pitchFamily="34" charset="0"/>
            </a:endParaRP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0A9ECBFB-850D-93C0-D6BF-8518F46C4B57}"/>
              </a:ext>
            </a:extLst>
          </p:cNvPr>
          <p:cNvSpPr txBox="1"/>
          <p:nvPr/>
        </p:nvSpPr>
        <p:spPr>
          <a:xfrm>
            <a:off x="8057899" y="4109161"/>
            <a:ext cx="1957587" cy="954107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endParaRPr sz="2800" dirty="0">
              <a:latin typeface="Aptos" panose="020B0004020202020204" pitchFamily="34" charset="0"/>
            </a:endParaRPr>
          </a:p>
          <a:p>
            <a:pPr algn="l">
              <a:spcBef>
                <a:spcPts val="0"/>
              </a:spcBef>
            </a:pPr>
            <a:r>
              <a:rPr lang="en-US" sz="2800" b="1" dirty="0">
                <a:solidFill>
                  <a:srgbClr val="2196F3"/>
                </a:solidFill>
                <a:latin typeface="Aptos" panose="020B0004020202020204" pitchFamily="34" charset="0"/>
              </a:rPr>
              <a:t>~25% / $2B</a:t>
            </a:r>
            <a:endParaRPr sz="2800" b="1" dirty="0">
              <a:solidFill>
                <a:srgbClr val="2196F3"/>
              </a:solidFill>
              <a:latin typeface="Aptos" panose="020B00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436986522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BDC3491-58EF-FB68-61E2-747A2C6E68C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Graphic 5">
            <a:extLst>
              <a:ext uri="{FF2B5EF4-FFF2-40B4-BE49-F238E27FC236}">
                <a16:creationId xmlns:a16="http://schemas.microsoft.com/office/drawing/2014/main" id="{0D8FDA60-0096-E73C-F89E-8B52FA134996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0581546" y="146867"/>
            <a:ext cx="1460346" cy="760597"/>
          </a:xfrm>
          <a:prstGeom prst="rect">
            <a:avLst/>
          </a:prstGeom>
        </p:spPr>
      </p:pic>
      <p:sp>
        <p:nvSpPr>
          <p:cNvPr id="2" name="Rectangle 1">
            <a:extLst>
              <a:ext uri="{FF2B5EF4-FFF2-40B4-BE49-F238E27FC236}">
                <a16:creationId xmlns:a16="http://schemas.microsoft.com/office/drawing/2014/main" id="{489C98E0-8A9C-C274-18CC-5FC6262E048D}"/>
              </a:ext>
            </a:extLst>
          </p:cNvPr>
          <p:cNvSpPr/>
          <p:nvPr/>
        </p:nvSpPr>
        <p:spPr>
          <a:xfrm>
            <a:off x="820833" y="1369129"/>
            <a:ext cx="457200" cy="38100"/>
          </a:xfrm>
          <a:prstGeom prst="rect">
            <a:avLst/>
          </a:prstGeom>
          <a:solidFill>
            <a:srgbClr val="2196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BEFDB08B-EE46-1D19-7E20-224E6A48E9A1}"/>
              </a:ext>
            </a:extLst>
          </p:cNvPr>
          <p:cNvSpPr txBox="1"/>
          <p:nvPr/>
        </p:nvSpPr>
        <p:spPr>
          <a:xfrm>
            <a:off x="820833" y="676631"/>
            <a:ext cx="3889206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3200" b="1" dirty="0"/>
              <a:t>The Business Model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5906609F-F7FF-4ADD-9FD5-5117373B5925}"/>
              </a:ext>
            </a:extLst>
          </p:cNvPr>
          <p:cNvSpPr txBox="1"/>
          <p:nvPr/>
        </p:nvSpPr>
        <p:spPr>
          <a:xfrm>
            <a:off x="556054" y="1628976"/>
            <a:ext cx="11737413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Aptos" panose="020B0004020202020204" pitchFamily="34" charset="0"/>
              </a:rPr>
              <a:t>Open-source drives adoption </a:t>
            </a:r>
            <a:r>
              <a:rPr lang="en-US" sz="2000" b="0" dirty="0">
                <a:solidFill>
                  <a:srgbClr val="A0AABB"/>
                </a:solidFill>
                <a:latin typeface="Aptos" panose="020B0004020202020204" pitchFamily="34" charset="0"/>
              </a:rPr>
              <a:t>→ </a:t>
            </a:r>
            <a:r>
              <a:rPr lang="en-US" sz="20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Aptos" panose="020B0004020202020204" pitchFamily="34" charset="0"/>
              </a:rPr>
              <a:t>Cloud converts power users </a:t>
            </a:r>
            <a:r>
              <a:rPr lang="en-US" sz="2000" b="0" dirty="0">
                <a:solidFill>
                  <a:srgbClr val="A0AABB"/>
                </a:solidFill>
                <a:latin typeface="Aptos" panose="020B0004020202020204" pitchFamily="34" charset="0"/>
              </a:rPr>
              <a:t>→ </a:t>
            </a:r>
            <a:r>
              <a:rPr lang="en-US" sz="20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Aptos" panose="020B0004020202020204" pitchFamily="34" charset="0"/>
              </a:rPr>
              <a:t>Enterprise converts revenue</a:t>
            </a: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72D6374B-9D0E-4F75-EE6D-98B1ECAADD96}"/>
              </a:ext>
            </a:extLst>
          </p:cNvPr>
          <p:cNvSpPr/>
          <p:nvPr/>
        </p:nvSpPr>
        <p:spPr>
          <a:xfrm>
            <a:off x="556054" y="2373593"/>
            <a:ext cx="3657600" cy="4278154"/>
          </a:xfrm>
          <a:prstGeom prst="rect">
            <a:avLst/>
          </a:prstGeom>
          <a:solidFill>
            <a:srgbClr val="0E1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Aptos" panose="020B0004020202020204" pitchFamily="34" charset="0"/>
            </a:endParaRP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73F10E5A-F046-845E-3D56-4CD46C5B3FF5}"/>
              </a:ext>
            </a:extLst>
          </p:cNvPr>
          <p:cNvSpPr txBox="1"/>
          <p:nvPr/>
        </p:nvSpPr>
        <p:spPr>
          <a:xfrm>
            <a:off x="720646" y="2373593"/>
            <a:ext cx="968535" cy="507831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endParaRPr dirty="0">
              <a:latin typeface="Aptos" panose="020B0004020202020204" pitchFamily="34" charset="0"/>
            </a:endParaRPr>
          </a:p>
          <a:p>
            <a:pPr algn="l">
              <a:spcBef>
                <a:spcPts val="0"/>
              </a:spcBef>
            </a:pPr>
            <a:r>
              <a:rPr sz="900" b="1" dirty="0">
                <a:solidFill>
                  <a:srgbClr val="45566B"/>
                </a:solidFill>
                <a:latin typeface="Aptos" panose="020B0004020202020204" pitchFamily="34" charset="0"/>
              </a:rPr>
              <a:t>OPEN SOURCE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66A9444D-4050-7934-FB5D-BB1443A6876E}"/>
              </a:ext>
            </a:extLst>
          </p:cNvPr>
          <p:cNvSpPr txBox="1"/>
          <p:nvPr/>
        </p:nvSpPr>
        <p:spPr>
          <a:xfrm>
            <a:off x="720646" y="2598489"/>
            <a:ext cx="1578317" cy="6771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endParaRPr>
              <a:latin typeface="Aptos" panose="020B0004020202020204" pitchFamily="34" charset="0"/>
            </a:endParaRPr>
          </a:p>
          <a:p>
            <a:pPr algn="l">
              <a:spcBef>
                <a:spcPts val="0"/>
              </a:spcBef>
            </a:pPr>
            <a:r>
              <a:rPr sz="2000" b="1">
                <a:solidFill>
                  <a:srgbClr val="FFFFFF"/>
                </a:solidFill>
                <a:latin typeface="Aptos" panose="020B0004020202020204" pitchFamily="34" charset="0"/>
              </a:rPr>
              <a:t>Self-Hosted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D6353E63-6593-3B0A-1E36-5C5D502A990E}"/>
              </a:ext>
            </a:extLst>
          </p:cNvPr>
          <p:cNvSpPr txBox="1"/>
          <p:nvPr/>
        </p:nvSpPr>
        <p:spPr>
          <a:xfrm>
            <a:off x="720646" y="3092265"/>
            <a:ext cx="853695" cy="769441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endParaRPr dirty="0">
              <a:latin typeface="Aptos" panose="020B0004020202020204" pitchFamily="34" charset="0"/>
            </a:endParaRPr>
          </a:p>
          <a:p>
            <a:pPr algn="l">
              <a:spcBef>
                <a:spcPts val="0"/>
              </a:spcBef>
            </a:pPr>
            <a:r>
              <a:rPr sz="2600" b="1" dirty="0">
                <a:solidFill>
                  <a:schemeClr val="bg1">
                    <a:lumMod val="75000"/>
                  </a:schemeClr>
                </a:solidFill>
                <a:latin typeface="Aptos" panose="020B0004020202020204" pitchFamily="34" charset="0"/>
              </a:rPr>
              <a:t>Free</a:t>
            </a:r>
          </a:p>
        </p:txBody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7409FE13-C786-ED0E-14CB-1654966B6E5D}"/>
              </a:ext>
            </a:extLst>
          </p:cNvPr>
          <p:cNvSpPr/>
          <p:nvPr/>
        </p:nvSpPr>
        <p:spPr>
          <a:xfrm>
            <a:off x="720646" y="3878649"/>
            <a:ext cx="3328416" cy="12700"/>
          </a:xfrm>
          <a:prstGeom prst="rect">
            <a:avLst/>
          </a:prstGeom>
          <a:solidFill>
            <a:srgbClr val="2035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Aptos" panose="020B0004020202020204" pitchFamily="34" charset="0"/>
            </a:endParaRPr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7078641F-8B3E-5C26-7E0C-66ACCA4C0DF7}"/>
              </a:ext>
            </a:extLst>
          </p:cNvPr>
          <p:cNvSpPr txBox="1"/>
          <p:nvPr/>
        </p:nvSpPr>
        <p:spPr>
          <a:xfrm>
            <a:off x="720646" y="3753099"/>
            <a:ext cx="1589153" cy="5232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endParaRPr sz="1400" dirty="0">
              <a:latin typeface="Aptos" panose="020B0004020202020204" pitchFamily="34" charset="0"/>
            </a:endParaRPr>
          </a:p>
          <a:p>
            <a:pPr algn="l">
              <a:spcBef>
                <a:spcPts val="0"/>
              </a:spcBef>
            </a:pPr>
            <a:r>
              <a:rPr sz="1400" b="0" dirty="0">
                <a:solidFill>
                  <a:srgbClr val="A0AABB"/>
                </a:solidFill>
                <a:latin typeface="Aptos" panose="020B0004020202020204" pitchFamily="34" charset="0"/>
              </a:rPr>
              <a:t>✓  All 5 algorithms</a:t>
            </a:r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F6DEF9D2-BEA2-33D4-4EEC-F396F5659401}"/>
              </a:ext>
            </a:extLst>
          </p:cNvPr>
          <p:cNvSpPr txBox="1"/>
          <p:nvPr/>
        </p:nvSpPr>
        <p:spPr>
          <a:xfrm>
            <a:off x="720646" y="4100571"/>
            <a:ext cx="2550763" cy="5232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endParaRPr sz="1400" dirty="0">
              <a:latin typeface="Aptos" panose="020B0004020202020204" pitchFamily="34" charset="0"/>
            </a:endParaRPr>
          </a:p>
          <a:p>
            <a:pPr algn="l">
              <a:spcBef>
                <a:spcPts val="0"/>
              </a:spcBef>
            </a:pPr>
            <a:r>
              <a:rPr sz="1400" b="0" dirty="0">
                <a:solidFill>
                  <a:srgbClr val="A0AABB"/>
                </a:solidFill>
                <a:latin typeface="Aptos" panose="020B0004020202020204" pitchFamily="34" charset="0"/>
              </a:rPr>
              <a:t>✓  WAL + checkpoint durability</a:t>
            </a:r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E1A64199-8EEB-A4BD-2603-294322E1A1EA}"/>
              </a:ext>
            </a:extLst>
          </p:cNvPr>
          <p:cNvSpPr txBox="1"/>
          <p:nvPr/>
        </p:nvSpPr>
        <p:spPr>
          <a:xfrm>
            <a:off x="720646" y="4448043"/>
            <a:ext cx="1414875" cy="5232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endParaRPr sz="1400" dirty="0">
              <a:latin typeface="Aptos" panose="020B0004020202020204" pitchFamily="34" charset="0"/>
            </a:endParaRPr>
          </a:p>
          <a:p>
            <a:pPr algn="l">
              <a:spcBef>
                <a:spcPts val="0"/>
              </a:spcBef>
            </a:pPr>
            <a:r>
              <a:rPr sz="1400" b="0" dirty="0">
                <a:solidFill>
                  <a:srgbClr val="A0AABB"/>
                </a:solidFill>
                <a:latin typeface="Aptos" panose="020B0004020202020204" pitchFamily="34" charset="0"/>
              </a:rPr>
              <a:t>✓  Full HTTP API</a:t>
            </a:r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429C5726-EF43-058D-0635-990A2124C865}"/>
              </a:ext>
            </a:extLst>
          </p:cNvPr>
          <p:cNvSpPr txBox="1"/>
          <p:nvPr/>
        </p:nvSpPr>
        <p:spPr>
          <a:xfrm>
            <a:off x="720646" y="4795515"/>
            <a:ext cx="1916935" cy="5232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endParaRPr sz="1400">
              <a:latin typeface="Aptos" panose="020B0004020202020204" pitchFamily="34" charset="0"/>
            </a:endParaRPr>
          </a:p>
          <a:p>
            <a:pPr algn="l">
              <a:spcBef>
                <a:spcPts val="0"/>
              </a:spcBef>
            </a:pPr>
            <a:r>
              <a:rPr sz="1400" b="0">
                <a:solidFill>
                  <a:srgbClr val="A0AABB"/>
                </a:solidFill>
                <a:latin typeface="Aptos" panose="020B0004020202020204" pitchFamily="34" charset="0"/>
              </a:rPr>
              <a:t>✓  RBAC + rate limiting</a:t>
            </a:r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31BC2AD3-E713-AEF4-C0F8-8AF0D7050F48}"/>
              </a:ext>
            </a:extLst>
          </p:cNvPr>
          <p:cNvSpPr txBox="1"/>
          <p:nvPr/>
        </p:nvSpPr>
        <p:spPr>
          <a:xfrm>
            <a:off x="720646" y="5142987"/>
            <a:ext cx="1524841" cy="5232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endParaRPr sz="1400">
              <a:latin typeface="Aptos" panose="020B0004020202020204" pitchFamily="34" charset="0"/>
            </a:endParaRPr>
          </a:p>
          <a:p>
            <a:pPr algn="l">
              <a:spcBef>
                <a:spcPts val="0"/>
              </a:spcBef>
            </a:pPr>
            <a:r>
              <a:rPr sz="1400" b="0">
                <a:solidFill>
                  <a:srgbClr val="A0AABB"/>
                </a:solidFill>
                <a:latin typeface="Aptos" panose="020B0004020202020204" pitchFamily="34" charset="0"/>
              </a:rPr>
              <a:t>✓  Parquet export</a:t>
            </a:r>
          </a:p>
        </p:txBody>
      </p:sp>
      <p:sp>
        <p:nvSpPr>
          <p:cNvPr id="32" name="TextBox 31">
            <a:extLst>
              <a:ext uri="{FF2B5EF4-FFF2-40B4-BE49-F238E27FC236}">
                <a16:creationId xmlns:a16="http://schemas.microsoft.com/office/drawing/2014/main" id="{D7249689-69D6-6AB8-4F41-EDB4B9684DCC}"/>
              </a:ext>
            </a:extLst>
          </p:cNvPr>
          <p:cNvSpPr txBox="1"/>
          <p:nvPr/>
        </p:nvSpPr>
        <p:spPr>
          <a:xfrm>
            <a:off x="720646" y="5490459"/>
            <a:ext cx="2269980" cy="5232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endParaRPr sz="1400">
              <a:latin typeface="Aptos" panose="020B0004020202020204" pitchFamily="34" charset="0"/>
            </a:endParaRPr>
          </a:p>
          <a:p>
            <a:pPr algn="l">
              <a:spcBef>
                <a:spcPts val="0"/>
              </a:spcBef>
            </a:pPr>
            <a:r>
              <a:rPr sz="1400" b="0">
                <a:solidFill>
                  <a:srgbClr val="A0AABB"/>
                </a:solidFill>
                <a:latin typeface="Aptos" panose="020B0004020202020204" pitchFamily="34" charset="0"/>
              </a:rPr>
              <a:t>✓  MCP server for AI agents</a:t>
            </a:r>
          </a:p>
        </p:txBody>
      </p:sp>
      <p:sp>
        <p:nvSpPr>
          <p:cNvPr id="33" name="TextBox 32">
            <a:extLst>
              <a:ext uri="{FF2B5EF4-FFF2-40B4-BE49-F238E27FC236}">
                <a16:creationId xmlns:a16="http://schemas.microsoft.com/office/drawing/2014/main" id="{EA9EE8BF-3E6C-0449-219C-8113350711DA}"/>
              </a:ext>
            </a:extLst>
          </p:cNvPr>
          <p:cNvSpPr txBox="1"/>
          <p:nvPr/>
        </p:nvSpPr>
        <p:spPr>
          <a:xfrm>
            <a:off x="720646" y="5837931"/>
            <a:ext cx="1951175" cy="5232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endParaRPr sz="1400">
              <a:latin typeface="Aptos" panose="020B0004020202020204" pitchFamily="34" charset="0"/>
            </a:endParaRPr>
          </a:p>
          <a:p>
            <a:pPr algn="l">
              <a:spcBef>
                <a:spcPts val="0"/>
              </a:spcBef>
            </a:pPr>
            <a:r>
              <a:rPr sz="1400" b="0">
                <a:solidFill>
                  <a:srgbClr val="A0AABB"/>
                </a:solidFill>
                <a:latin typeface="Aptos" panose="020B0004020202020204" pitchFamily="34" charset="0"/>
              </a:rPr>
              <a:t>✓  Community support</a:t>
            </a:r>
          </a:p>
        </p:txBody>
      </p:sp>
      <p:sp>
        <p:nvSpPr>
          <p:cNvPr id="34" name="Rectangle 33">
            <a:extLst>
              <a:ext uri="{FF2B5EF4-FFF2-40B4-BE49-F238E27FC236}">
                <a16:creationId xmlns:a16="http://schemas.microsoft.com/office/drawing/2014/main" id="{7D3B2D8F-168D-D391-5263-A5F75577C475}"/>
              </a:ext>
            </a:extLst>
          </p:cNvPr>
          <p:cNvSpPr/>
          <p:nvPr/>
        </p:nvSpPr>
        <p:spPr>
          <a:xfrm>
            <a:off x="4460542" y="2373593"/>
            <a:ext cx="3657600" cy="4278154"/>
          </a:xfrm>
          <a:prstGeom prst="rect">
            <a:avLst/>
          </a:prstGeom>
          <a:solidFill>
            <a:srgbClr val="0E1E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Aptos" panose="020B0004020202020204" pitchFamily="34" charset="0"/>
            </a:endParaRPr>
          </a:p>
        </p:txBody>
      </p:sp>
      <p:sp>
        <p:nvSpPr>
          <p:cNvPr id="36" name="TextBox 35">
            <a:extLst>
              <a:ext uri="{FF2B5EF4-FFF2-40B4-BE49-F238E27FC236}">
                <a16:creationId xmlns:a16="http://schemas.microsoft.com/office/drawing/2014/main" id="{FBF8AD52-92B1-8ECA-C525-0933B90E6F96}"/>
              </a:ext>
            </a:extLst>
          </p:cNvPr>
          <p:cNvSpPr txBox="1"/>
          <p:nvPr/>
        </p:nvSpPr>
        <p:spPr>
          <a:xfrm>
            <a:off x="4625134" y="2373593"/>
            <a:ext cx="1151277" cy="507831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endParaRPr dirty="0">
              <a:latin typeface="Aptos" panose="020B0004020202020204" pitchFamily="34" charset="0"/>
            </a:endParaRPr>
          </a:p>
          <a:p>
            <a:pPr algn="l">
              <a:spcBef>
                <a:spcPts val="0"/>
              </a:spcBef>
            </a:pPr>
            <a:r>
              <a:rPr sz="900" b="1" dirty="0">
                <a:solidFill>
                  <a:srgbClr val="2196F3"/>
                </a:solidFill>
                <a:latin typeface="Aptos" panose="020B0004020202020204" pitchFamily="34" charset="0"/>
              </a:rPr>
              <a:t>BANDITDB CLOUD</a:t>
            </a:r>
          </a:p>
        </p:txBody>
      </p:sp>
      <p:sp>
        <p:nvSpPr>
          <p:cNvPr id="37" name="TextBox 36">
            <a:extLst>
              <a:ext uri="{FF2B5EF4-FFF2-40B4-BE49-F238E27FC236}">
                <a16:creationId xmlns:a16="http://schemas.microsoft.com/office/drawing/2014/main" id="{41008320-3D2D-53D4-BD0B-C360D127D573}"/>
              </a:ext>
            </a:extLst>
          </p:cNvPr>
          <p:cNvSpPr txBox="1"/>
          <p:nvPr/>
        </p:nvSpPr>
        <p:spPr>
          <a:xfrm>
            <a:off x="4625134" y="2598489"/>
            <a:ext cx="2004138" cy="6771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endParaRPr>
              <a:latin typeface="Aptos" panose="020B0004020202020204" pitchFamily="34" charset="0"/>
            </a:endParaRPr>
          </a:p>
          <a:p>
            <a:pPr algn="l">
              <a:spcBef>
                <a:spcPts val="0"/>
              </a:spcBef>
            </a:pPr>
            <a:r>
              <a:rPr sz="2000" b="1">
                <a:solidFill>
                  <a:srgbClr val="FFFFFF"/>
                </a:solidFill>
                <a:latin typeface="Aptos" panose="020B0004020202020204" pitchFamily="34" charset="0"/>
              </a:rPr>
              <a:t>Managed Cloud</a:t>
            </a:r>
          </a:p>
        </p:txBody>
      </p:sp>
      <p:sp>
        <p:nvSpPr>
          <p:cNvPr id="38" name="TextBox 37">
            <a:extLst>
              <a:ext uri="{FF2B5EF4-FFF2-40B4-BE49-F238E27FC236}">
                <a16:creationId xmlns:a16="http://schemas.microsoft.com/office/drawing/2014/main" id="{BCBD8A9D-F3E9-1CAA-B6AF-56B16B08A20A}"/>
              </a:ext>
            </a:extLst>
          </p:cNvPr>
          <p:cNvSpPr txBox="1"/>
          <p:nvPr/>
        </p:nvSpPr>
        <p:spPr>
          <a:xfrm>
            <a:off x="4625134" y="3092265"/>
            <a:ext cx="2170402" cy="769441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endParaRPr>
              <a:latin typeface="Aptos" panose="020B0004020202020204" pitchFamily="34" charset="0"/>
            </a:endParaRPr>
          </a:p>
          <a:p>
            <a:pPr algn="l">
              <a:spcBef>
                <a:spcPts val="0"/>
              </a:spcBef>
            </a:pPr>
            <a:r>
              <a:rPr sz="2600" b="1">
                <a:solidFill>
                  <a:srgbClr val="2196F3"/>
                </a:solidFill>
                <a:latin typeface="Aptos" panose="020B0004020202020204" pitchFamily="34" charset="0"/>
              </a:rPr>
              <a:t>Usage-based</a:t>
            </a:r>
          </a:p>
        </p:txBody>
      </p:sp>
      <p:sp>
        <p:nvSpPr>
          <p:cNvPr id="40" name="Rectangle 39">
            <a:extLst>
              <a:ext uri="{FF2B5EF4-FFF2-40B4-BE49-F238E27FC236}">
                <a16:creationId xmlns:a16="http://schemas.microsoft.com/office/drawing/2014/main" id="{08881904-1F2A-B2DB-8E24-3D2178729E07}"/>
              </a:ext>
            </a:extLst>
          </p:cNvPr>
          <p:cNvSpPr/>
          <p:nvPr/>
        </p:nvSpPr>
        <p:spPr>
          <a:xfrm>
            <a:off x="4625134" y="3878649"/>
            <a:ext cx="3328416" cy="12700"/>
          </a:xfrm>
          <a:prstGeom prst="rect">
            <a:avLst/>
          </a:prstGeom>
          <a:solidFill>
            <a:srgbClr val="2035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Aptos" panose="020B0004020202020204" pitchFamily="34" charset="0"/>
            </a:endParaRPr>
          </a:p>
        </p:txBody>
      </p:sp>
      <p:sp>
        <p:nvSpPr>
          <p:cNvPr id="41" name="TextBox 40">
            <a:extLst>
              <a:ext uri="{FF2B5EF4-FFF2-40B4-BE49-F238E27FC236}">
                <a16:creationId xmlns:a16="http://schemas.microsoft.com/office/drawing/2014/main" id="{32184C06-B1A9-073F-3AFF-D58BD9BFD3E0}"/>
              </a:ext>
            </a:extLst>
          </p:cNvPr>
          <p:cNvSpPr txBox="1"/>
          <p:nvPr/>
        </p:nvSpPr>
        <p:spPr>
          <a:xfrm>
            <a:off x="4625134" y="3753099"/>
            <a:ext cx="2424638" cy="5232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endParaRPr sz="1400">
              <a:latin typeface="Aptos" panose="020B0004020202020204" pitchFamily="34" charset="0"/>
            </a:endParaRPr>
          </a:p>
          <a:p>
            <a:pPr algn="l">
              <a:spcBef>
                <a:spcPts val="0"/>
              </a:spcBef>
            </a:pPr>
            <a:r>
              <a:rPr sz="1400" b="0">
                <a:solidFill>
                  <a:srgbClr val="FFFFFF"/>
                </a:solidFill>
                <a:latin typeface="Aptos" panose="020B0004020202020204" pitchFamily="34" charset="0"/>
              </a:rPr>
              <a:t>✓  Everything in Open Source</a:t>
            </a:r>
          </a:p>
        </p:txBody>
      </p:sp>
      <p:sp>
        <p:nvSpPr>
          <p:cNvPr id="42" name="TextBox 41">
            <a:extLst>
              <a:ext uri="{FF2B5EF4-FFF2-40B4-BE49-F238E27FC236}">
                <a16:creationId xmlns:a16="http://schemas.microsoft.com/office/drawing/2014/main" id="{E81A1520-1311-A45D-E291-0D7B7FF30AF1}"/>
              </a:ext>
            </a:extLst>
          </p:cNvPr>
          <p:cNvSpPr txBox="1"/>
          <p:nvPr/>
        </p:nvSpPr>
        <p:spPr>
          <a:xfrm>
            <a:off x="4625134" y="4100571"/>
            <a:ext cx="1829347" cy="5232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endParaRPr sz="1400">
              <a:latin typeface="Aptos" panose="020B0004020202020204" pitchFamily="34" charset="0"/>
            </a:endParaRPr>
          </a:p>
          <a:p>
            <a:pPr algn="l">
              <a:spcBef>
                <a:spcPts val="0"/>
              </a:spcBef>
            </a:pPr>
            <a:r>
              <a:rPr sz="1400" b="0">
                <a:solidFill>
                  <a:srgbClr val="FFFFFF"/>
                </a:solidFill>
                <a:latin typeface="Aptos" panose="020B0004020202020204" pitchFamily="34" charset="0"/>
              </a:rPr>
              <a:t>✓  Zero infrastructure</a:t>
            </a:r>
          </a:p>
        </p:txBody>
      </p:sp>
      <p:sp>
        <p:nvSpPr>
          <p:cNvPr id="43" name="TextBox 42">
            <a:extLst>
              <a:ext uri="{FF2B5EF4-FFF2-40B4-BE49-F238E27FC236}">
                <a16:creationId xmlns:a16="http://schemas.microsoft.com/office/drawing/2014/main" id="{8B06D4F8-60DD-B4B2-A507-BF56B3C4B856}"/>
              </a:ext>
            </a:extLst>
          </p:cNvPr>
          <p:cNvSpPr txBox="1"/>
          <p:nvPr/>
        </p:nvSpPr>
        <p:spPr>
          <a:xfrm>
            <a:off x="4625134" y="4448043"/>
            <a:ext cx="2704523" cy="5232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endParaRPr sz="1400">
              <a:latin typeface="Aptos" panose="020B0004020202020204" pitchFamily="34" charset="0"/>
            </a:endParaRPr>
          </a:p>
          <a:p>
            <a:pPr algn="l">
              <a:spcBef>
                <a:spcPts val="0"/>
              </a:spcBef>
            </a:pPr>
            <a:r>
              <a:rPr sz="1400" b="0">
                <a:solidFill>
                  <a:srgbClr val="FFFFFF"/>
                </a:solidFill>
                <a:latin typeface="Aptos" panose="020B0004020202020204" pitchFamily="34" charset="0"/>
              </a:rPr>
              <a:t>✓  Auto-scaling to 100K+ req/sec</a:t>
            </a:r>
          </a:p>
        </p:txBody>
      </p:sp>
      <p:sp>
        <p:nvSpPr>
          <p:cNvPr id="44" name="TextBox 43">
            <a:extLst>
              <a:ext uri="{FF2B5EF4-FFF2-40B4-BE49-F238E27FC236}">
                <a16:creationId xmlns:a16="http://schemas.microsoft.com/office/drawing/2014/main" id="{D3841143-A9AD-C5DA-8875-B4E6BF0910BE}"/>
              </a:ext>
            </a:extLst>
          </p:cNvPr>
          <p:cNvSpPr txBox="1"/>
          <p:nvPr/>
        </p:nvSpPr>
        <p:spPr>
          <a:xfrm>
            <a:off x="4625134" y="4795515"/>
            <a:ext cx="2490875" cy="5232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endParaRPr sz="1400">
              <a:latin typeface="Aptos" panose="020B0004020202020204" pitchFamily="34" charset="0"/>
            </a:endParaRPr>
          </a:p>
          <a:p>
            <a:pPr algn="l">
              <a:spcBef>
                <a:spcPts val="0"/>
              </a:spcBef>
            </a:pPr>
            <a:r>
              <a:rPr sz="1400" b="0">
                <a:solidFill>
                  <a:srgbClr val="FFFFFF"/>
                </a:solidFill>
                <a:latin typeface="Aptos" panose="020B0004020202020204" pitchFamily="34" charset="0"/>
              </a:rPr>
              <a:t>✓  Web dashboard + analytics</a:t>
            </a:r>
          </a:p>
        </p:txBody>
      </p:sp>
      <p:sp>
        <p:nvSpPr>
          <p:cNvPr id="45" name="TextBox 44">
            <a:extLst>
              <a:ext uri="{FF2B5EF4-FFF2-40B4-BE49-F238E27FC236}">
                <a16:creationId xmlns:a16="http://schemas.microsoft.com/office/drawing/2014/main" id="{46B020E6-0623-5C3F-AE6F-43FDF2A890D0}"/>
              </a:ext>
            </a:extLst>
          </p:cNvPr>
          <p:cNvSpPr txBox="1"/>
          <p:nvPr/>
        </p:nvSpPr>
        <p:spPr>
          <a:xfrm>
            <a:off x="4625134" y="5142987"/>
            <a:ext cx="1902957" cy="5232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endParaRPr sz="1400">
              <a:latin typeface="Aptos" panose="020B0004020202020204" pitchFamily="34" charset="0"/>
            </a:endParaRPr>
          </a:p>
          <a:p>
            <a:pPr algn="l">
              <a:spcBef>
                <a:spcPts val="0"/>
              </a:spcBef>
            </a:pPr>
            <a:r>
              <a:rPr sz="1400" b="0">
                <a:solidFill>
                  <a:srgbClr val="FFFFFF"/>
                </a:solidFill>
                <a:latin typeface="Aptos" panose="020B0004020202020204" pitchFamily="34" charset="0"/>
              </a:rPr>
              <a:t>✓  Automatic backups</a:t>
            </a:r>
          </a:p>
        </p:txBody>
      </p:sp>
      <p:sp>
        <p:nvSpPr>
          <p:cNvPr id="46" name="TextBox 45">
            <a:extLst>
              <a:ext uri="{FF2B5EF4-FFF2-40B4-BE49-F238E27FC236}">
                <a16:creationId xmlns:a16="http://schemas.microsoft.com/office/drawing/2014/main" id="{300E66AE-CEA3-B1AF-DEDC-53790B0F7681}"/>
              </a:ext>
            </a:extLst>
          </p:cNvPr>
          <p:cNvSpPr txBox="1"/>
          <p:nvPr/>
        </p:nvSpPr>
        <p:spPr>
          <a:xfrm>
            <a:off x="4625134" y="5490459"/>
            <a:ext cx="1217577" cy="5232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endParaRPr sz="1400">
              <a:latin typeface="Aptos" panose="020B0004020202020204" pitchFamily="34" charset="0"/>
            </a:endParaRPr>
          </a:p>
          <a:p>
            <a:pPr algn="l">
              <a:spcBef>
                <a:spcPts val="0"/>
              </a:spcBef>
            </a:pPr>
            <a:r>
              <a:rPr sz="1400" b="0">
                <a:solidFill>
                  <a:srgbClr val="FFFFFF"/>
                </a:solidFill>
                <a:latin typeface="Aptos" panose="020B0004020202020204" pitchFamily="34" charset="0"/>
              </a:rPr>
              <a:t>✓  99.9% SLA</a:t>
            </a:r>
          </a:p>
        </p:txBody>
      </p:sp>
      <p:sp>
        <p:nvSpPr>
          <p:cNvPr id="47" name="TextBox 46">
            <a:extLst>
              <a:ext uri="{FF2B5EF4-FFF2-40B4-BE49-F238E27FC236}">
                <a16:creationId xmlns:a16="http://schemas.microsoft.com/office/drawing/2014/main" id="{89743316-1B81-7FAC-7102-B2388CEFC15E}"/>
              </a:ext>
            </a:extLst>
          </p:cNvPr>
          <p:cNvSpPr txBox="1"/>
          <p:nvPr/>
        </p:nvSpPr>
        <p:spPr>
          <a:xfrm>
            <a:off x="4625134" y="5837931"/>
            <a:ext cx="1991251" cy="5232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endParaRPr sz="1400">
              <a:latin typeface="Aptos" panose="020B0004020202020204" pitchFamily="34" charset="0"/>
            </a:endParaRPr>
          </a:p>
          <a:p>
            <a:pPr algn="l">
              <a:spcBef>
                <a:spcPts val="0"/>
              </a:spcBef>
            </a:pPr>
            <a:r>
              <a:rPr sz="1400" b="0">
                <a:solidFill>
                  <a:srgbClr val="FFFFFF"/>
                </a:solidFill>
                <a:latin typeface="Aptos" panose="020B0004020202020204" pitchFamily="34" charset="0"/>
              </a:rPr>
              <a:t>✓  Email + chat support</a:t>
            </a:r>
          </a:p>
        </p:txBody>
      </p:sp>
      <p:sp>
        <p:nvSpPr>
          <p:cNvPr id="48" name="Rectangle 47">
            <a:extLst>
              <a:ext uri="{FF2B5EF4-FFF2-40B4-BE49-F238E27FC236}">
                <a16:creationId xmlns:a16="http://schemas.microsoft.com/office/drawing/2014/main" id="{A4430BAD-1905-8BB8-D0CD-C5EFA91E7329}"/>
              </a:ext>
            </a:extLst>
          </p:cNvPr>
          <p:cNvSpPr/>
          <p:nvPr/>
        </p:nvSpPr>
        <p:spPr>
          <a:xfrm>
            <a:off x="8365030" y="2373593"/>
            <a:ext cx="3657600" cy="4278154"/>
          </a:xfrm>
          <a:prstGeom prst="rect">
            <a:avLst/>
          </a:prstGeom>
          <a:solidFill>
            <a:srgbClr val="0E1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Aptos" panose="020B0004020202020204" pitchFamily="34" charset="0"/>
            </a:endParaRPr>
          </a:p>
        </p:txBody>
      </p:sp>
      <p:sp>
        <p:nvSpPr>
          <p:cNvPr id="50" name="TextBox 49">
            <a:extLst>
              <a:ext uri="{FF2B5EF4-FFF2-40B4-BE49-F238E27FC236}">
                <a16:creationId xmlns:a16="http://schemas.microsoft.com/office/drawing/2014/main" id="{D8CBC8B3-5064-63A8-B40A-C97C4C5799FE}"/>
              </a:ext>
            </a:extLst>
          </p:cNvPr>
          <p:cNvSpPr txBox="1"/>
          <p:nvPr/>
        </p:nvSpPr>
        <p:spPr>
          <a:xfrm>
            <a:off x="8529622" y="2373593"/>
            <a:ext cx="843501" cy="507831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endParaRPr>
              <a:latin typeface="Aptos" panose="020B0004020202020204" pitchFamily="34" charset="0"/>
            </a:endParaRPr>
          </a:p>
          <a:p>
            <a:pPr algn="l">
              <a:spcBef>
                <a:spcPts val="0"/>
              </a:spcBef>
            </a:pPr>
            <a:r>
              <a:rPr sz="900" b="1">
                <a:solidFill>
                  <a:srgbClr val="FF6D00"/>
                </a:solidFill>
                <a:latin typeface="Aptos" panose="020B0004020202020204" pitchFamily="34" charset="0"/>
              </a:rPr>
              <a:t>ENTERPRISE</a:t>
            </a:r>
          </a:p>
        </p:txBody>
      </p:sp>
      <p:sp>
        <p:nvSpPr>
          <p:cNvPr id="51" name="TextBox 50">
            <a:extLst>
              <a:ext uri="{FF2B5EF4-FFF2-40B4-BE49-F238E27FC236}">
                <a16:creationId xmlns:a16="http://schemas.microsoft.com/office/drawing/2014/main" id="{18CD3390-EABD-CB44-7D76-548DADCBABD1}"/>
              </a:ext>
            </a:extLst>
          </p:cNvPr>
          <p:cNvSpPr txBox="1"/>
          <p:nvPr/>
        </p:nvSpPr>
        <p:spPr>
          <a:xfrm>
            <a:off x="8529622" y="2598489"/>
            <a:ext cx="2482346" cy="6771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endParaRPr>
              <a:latin typeface="Aptos" panose="020B0004020202020204" pitchFamily="34" charset="0"/>
            </a:endParaRPr>
          </a:p>
          <a:p>
            <a:pPr algn="l">
              <a:spcBef>
                <a:spcPts val="0"/>
              </a:spcBef>
            </a:pPr>
            <a:r>
              <a:rPr sz="2000" b="1">
                <a:solidFill>
                  <a:srgbClr val="FFFFFF"/>
                </a:solidFill>
                <a:latin typeface="Aptos" panose="020B0004020202020204" pitchFamily="34" charset="0"/>
              </a:rPr>
              <a:t>Private Deployment</a:t>
            </a:r>
          </a:p>
        </p:txBody>
      </p:sp>
      <p:sp>
        <p:nvSpPr>
          <p:cNvPr id="52" name="TextBox 51">
            <a:extLst>
              <a:ext uri="{FF2B5EF4-FFF2-40B4-BE49-F238E27FC236}">
                <a16:creationId xmlns:a16="http://schemas.microsoft.com/office/drawing/2014/main" id="{1F0BD197-33E2-915C-99B8-32EB49CC8B5F}"/>
              </a:ext>
            </a:extLst>
          </p:cNvPr>
          <p:cNvSpPr txBox="1"/>
          <p:nvPr/>
        </p:nvSpPr>
        <p:spPr>
          <a:xfrm>
            <a:off x="8529622" y="3092265"/>
            <a:ext cx="1387367" cy="769441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endParaRPr>
              <a:latin typeface="Aptos" panose="020B0004020202020204" pitchFamily="34" charset="0"/>
            </a:endParaRPr>
          </a:p>
          <a:p>
            <a:pPr algn="l">
              <a:spcBef>
                <a:spcPts val="0"/>
              </a:spcBef>
            </a:pPr>
            <a:r>
              <a:rPr sz="2600" b="1">
                <a:solidFill>
                  <a:srgbClr val="FF6D00"/>
                </a:solidFill>
                <a:latin typeface="Aptos" panose="020B0004020202020204" pitchFamily="34" charset="0"/>
              </a:rPr>
              <a:t>Custom</a:t>
            </a:r>
          </a:p>
        </p:txBody>
      </p:sp>
      <p:sp>
        <p:nvSpPr>
          <p:cNvPr id="54" name="Rectangle 53">
            <a:extLst>
              <a:ext uri="{FF2B5EF4-FFF2-40B4-BE49-F238E27FC236}">
                <a16:creationId xmlns:a16="http://schemas.microsoft.com/office/drawing/2014/main" id="{1BDE6C04-810D-40EA-1DB0-05584E0302E5}"/>
              </a:ext>
            </a:extLst>
          </p:cNvPr>
          <p:cNvSpPr/>
          <p:nvPr/>
        </p:nvSpPr>
        <p:spPr>
          <a:xfrm>
            <a:off x="8529622" y="3878649"/>
            <a:ext cx="3328416" cy="12700"/>
          </a:xfrm>
          <a:prstGeom prst="rect">
            <a:avLst/>
          </a:prstGeom>
          <a:solidFill>
            <a:srgbClr val="2035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Aptos" panose="020B0004020202020204" pitchFamily="34" charset="0"/>
            </a:endParaRPr>
          </a:p>
        </p:txBody>
      </p:sp>
      <p:sp>
        <p:nvSpPr>
          <p:cNvPr id="55" name="TextBox 54">
            <a:extLst>
              <a:ext uri="{FF2B5EF4-FFF2-40B4-BE49-F238E27FC236}">
                <a16:creationId xmlns:a16="http://schemas.microsoft.com/office/drawing/2014/main" id="{BCEDDD6D-2540-4FF8-0D0D-64327C07CABE}"/>
              </a:ext>
            </a:extLst>
          </p:cNvPr>
          <p:cNvSpPr txBox="1"/>
          <p:nvPr/>
        </p:nvSpPr>
        <p:spPr>
          <a:xfrm>
            <a:off x="8529622" y="3753099"/>
            <a:ext cx="1886863" cy="5232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endParaRPr sz="1400" dirty="0">
              <a:latin typeface="Aptos" panose="020B0004020202020204" pitchFamily="34" charset="0"/>
            </a:endParaRPr>
          </a:p>
          <a:p>
            <a:pPr algn="l">
              <a:spcBef>
                <a:spcPts val="0"/>
              </a:spcBef>
            </a:pPr>
            <a:r>
              <a:rPr sz="1400" b="0" dirty="0">
                <a:solidFill>
                  <a:srgbClr val="A0AABB"/>
                </a:solidFill>
                <a:latin typeface="Aptos" panose="020B0004020202020204" pitchFamily="34" charset="0"/>
              </a:rPr>
              <a:t>✓  Everything in Cloud</a:t>
            </a:r>
          </a:p>
        </p:txBody>
      </p:sp>
      <p:sp>
        <p:nvSpPr>
          <p:cNvPr id="56" name="TextBox 55">
            <a:extLst>
              <a:ext uri="{FF2B5EF4-FFF2-40B4-BE49-F238E27FC236}">
                <a16:creationId xmlns:a16="http://schemas.microsoft.com/office/drawing/2014/main" id="{FB24E68B-AA56-D6FE-2CA3-24CF78DD4C59}"/>
              </a:ext>
            </a:extLst>
          </p:cNvPr>
          <p:cNvSpPr txBox="1"/>
          <p:nvPr/>
        </p:nvSpPr>
        <p:spPr>
          <a:xfrm>
            <a:off x="8529622" y="4100571"/>
            <a:ext cx="2442335" cy="5232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endParaRPr sz="1400">
              <a:latin typeface="Aptos" panose="020B0004020202020204" pitchFamily="34" charset="0"/>
            </a:endParaRPr>
          </a:p>
          <a:p>
            <a:pPr algn="l">
              <a:spcBef>
                <a:spcPts val="0"/>
              </a:spcBef>
            </a:pPr>
            <a:r>
              <a:rPr sz="1400" b="0">
                <a:solidFill>
                  <a:srgbClr val="A0AABB"/>
                </a:solidFill>
                <a:latin typeface="Aptos" panose="020B0004020202020204" pitchFamily="34" charset="0"/>
              </a:rPr>
              <a:t>✓  On-premise or VPC deploy</a:t>
            </a:r>
          </a:p>
        </p:txBody>
      </p:sp>
      <p:sp>
        <p:nvSpPr>
          <p:cNvPr id="57" name="TextBox 56">
            <a:extLst>
              <a:ext uri="{FF2B5EF4-FFF2-40B4-BE49-F238E27FC236}">
                <a16:creationId xmlns:a16="http://schemas.microsoft.com/office/drawing/2014/main" id="{AD2184E8-A412-0B01-7381-C407A906C239}"/>
              </a:ext>
            </a:extLst>
          </p:cNvPr>
          <p:cNvSpPr txBox="1"/>
          <p:nvPr/>
        </p:nvSpPr>
        <p:spPr>
          <a:xfrm>
            <a:off x="8529622" y="4448043"/>
            <a:ext cx="1298561" cy="5232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endParaRPr sz="1400">
              <a:latin typeface="Aptos" panose="020B0004020202020204" pitchFamily="34" charset="0"/>
            </a:endParaRPr>
          </a:p>
          <a:p>
            <a:pPr algn="l">
              <a:spcBef>
                <a:spcPts val="0"/>
              </a:spcBef>
            </a:pPr>
            <a:r>
              <a:rPr sz="1400" b="0">
                <a:solidFill>
                  <a:srgbClr val="A0AABB"/>
                </a:solidFill>
                <a:latin typeface="Aptos" panose="020B0004020202020204" pitchFamily="34" charset="0"/>
              </a:rPr>
              <a:t>✓  SSO / SAML</a:t>
            </a:r>
          </a:p>
        </p:txBody>
      </p:sp>
      <p:sp>
        <p:nvSpPr>
          <p:cNvPr id="58" name="TextBox 57">
            <a:extLst>
              <a:ext uri="{FF2B5EF4-FFF2-40B4-BE49-F238E27FC236}">
                <a16:creationId xmlns:a16="http://schemas.microsoft.com/office/drawing/2014/main" id="{E3903328-CAB3-5342-4C90-DB302449402B}"/>
              </a:ext>
            </a:extLst>
          </p:cNvPr>
          <p:cNvSpPr txBox="1"/>
          <p:nvPr/>
        </p:nvSpPr>
        <p:spPr>
          <a:xfrm>
            <a:off x="8529622" y="4795515"/>
            <a:ext cx="2076915" cy="5232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endParaRPr sz="1400">
              <a:latin typeface="Aptos" panose="020B0004020202020204" pitchFamily="34" charset="0"/>
            </a:endParaRPr>
          </a:p>
          <a:p>
            <a:pPr algn="l">
              <a:spcBef>
                <a:spcPts val="0"/>
              </a:spcBef>
            </a:pPr>
            <a:r>
              <a:rPr sz="1400" b="0">
                <a:solidFill>
                  <a:srgbClr val="A0AABB"/>
                </a:solidFill>
                <a:latin typeface="Aptos" panose="020B0004020202020204" pitchFamily="34" charset="0"/>
              </a:rPr>
              <a:t>✓  SOC 2 · HIPAA · GDPR</a:t>
            </a:r>
          </a:p>
        </p:txBody>
      </p:sp>
      <p:sp>
        <p:nvSpPr>
          <p:cNvPr id="59" name="TextBox 58">
            <a:extLst>
              <a:ext uri="{FF2B5EF4-FFF2-40B4-BE49-F238E27FC236}">
                <a16:creationId xmlns:a16="http://schemas.microsoft.com/office/drawing/2014/main" id="{AB18B3C8-1315-B91C-3F44-DB92B5B38E5F}"/>
              </a:ext>
            </a:extLst>
          </p:cNvPr>
          <p:cNvSpPr txBox="1"/>
          <p:nvPr/>
        </p:nvSpPr>
        <p:spPr>
          <a:xfrm>
            <a:off x="8529622" y="5142987"/>
            <a:ext cx="2259208" cy="5232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endParaRPr sz="1400">
              <a:latin typeface="Aptos" panose="020B0004020202020204" pitchFamily="34" charset="0"/>
            </a:endParaRPr>
          </a:p>
          <a:p>
            <a:pPr algn="l">
              <a:spcBef>
                <a:spcPts val="0"/>
              </a:spcBef>
            </a:pPr>
            <a:r>
              <a:rPr sz="1400" b="0">
                <a:solidFill>
                  <a:srgbClr val="A0AABB"/>
                </a:solidFill>
                <a:latin typeface="Aptos" panose="020B0004020202020204" pitchFamily="34" charset="0"/>
              </a:rPr>
              <a:t>✓  Dedicated SLA (99.99%)</a:t>
            </a:r>
          </a:p>
        </p:txBody>
      </p:sp>
      <p:sp>
        <p:nvSpPr>
          <p:cNvPr id="60" name="TextBox 59">
            <a:extLst>
              <a:ext uri="{FF2B5EF4-FFF2-40B4-BE49-F238E27FC236}">
                <a16:creationId xmlns:a16="http://schemas.microsoft.com/office/drawing/2014/main" id="{C11833F1-39C6-1448-6007-B70AC50E23D8}"/>
              </a:ext>
            </a:extLst>
          </p:cNvPr>
          <p:cNvSpPr txBox="1"/>
          <p:nvPr/>
        </p:nvSpPr>
        <p:spPr>
          <a:xfrm>
            <a:off x="8529622" y="5490459"/>
            <a:ext cx="1967077" cy="5232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endParaRPr sz="1400">
              <a:latin typeface="Aptos" panose="020B0004020202020204" pitchFamily="34" charset="0"/>
            </a:endParaRPr>
          </a:p>
          <a:p>
            <a:pPr algn="l">
              <a:spcBef>
                <a:spcPts val="0"/>
              </a:spcBef>
            </a:pPr>
            <a:r>
              <a:rPr sz="1400" b="0">
                <a:solidFill>
                  <a:srgbClr val="A0AABB"/>
                </a:solidFill>
                <a:latin typeface="Aptos" panose="020B0004020202020204" pitchFamily="34" charset="0"/>
              </a:rPr>
              <a:t>✓  Custom integrations</a:t>
            </a:r>
          </a:p>
        </p:txBody>
      </p:sp>
      <p:sp>
        <p:nvSpPr>
          <p:cNvPr id="61" name="TextBox 60">
            <a:extLst>
              <a:ext uri="{FF2B5EF4-FFF2-40B4-BE49-F238E27FC236}">
                <a16:creationId xmlns:a16="http://schemas.microsoft.com/office/drawing/2014/main" id="{B9321D68-F4FA-97AB-66E4-66B2FAFFA5BC}"/>
              </a:ext>
            </a:extLst>
          </p:cNvPr>
          <p:cNvSpPr txBox="1"/>
          <p:nvPr/>
        </p:nvSpPr>
        <p:spPr>
          <a:xfrm>
            <a:off x="8529622" y="5837931"/>
            <a:ext cx="2585644" cy="5232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endParaRPr sz="1400">
              <a:latin typeface="Aptos" panose="020B0004020202020204" pitchFamily="34" charset="0"/>
            </a:endParaRPr>
          </a:p>
          <a:p>
            <a:pPr algn="l">
              <a:spcBef>
                <a:spcPts val="0"/>
              </a:spcBef>
            </a:pPr>
            <a:r>
              <a:rPr sz="1400" b="0">
                <a:solidFill>
                  <a:srgbClr val="A0AABB"/>
                </a:solidFill>
                <a:latin typeface="Aptos" panose="020B0004020202020204" pitchFamily="34" charset="0"/>
              </a:rPr>
              <a:t>✓  Dedicated success engineer</a:t>
            </a:r>
          </a:p>
        </p:txBody>
      </p:sp>
    </p:spTree>
    <p:extLst>
      <p:ext uri="{BB962C8B-B14F-4D97-AF65-F5344CB8AC3E}">
        <p14:creationId xmlns:p14="http://schemas.microsoft.com/office/powerpoint/2010/main" val="2326641647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456EB09-72D0-5784-BA33-7A49D5FD2C7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Graphic 5">
            <a:extLst>
              <a:ext uri="{FF2B5EF4-FFF2-40B4-BE49-F238E27FC236}">
                <a16:creationId xmlns:a16="http://schemas.microsoft.com/office/drawing/2014/main" id="{E9EEEB53-E541-D2D3-D508-A1F1358BE2A3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0581546" y="146867"/>
            <a:ext cx="1460346" cy="760597"/>
          </a:xfrm>
          <a:prstGeom prst="rect">
            <a:avLst/>
          </a:prstGeom>
        </p:spPr>
      </p:pic>
      <p:sp>
        <p:nvSpPr>
          <p:cNvPr id="2" name="Rectangle 1">
            <a:extLst>
              <a:ext uri="{FF2B5EF4-FFF2-40B4-BE49-F238E27FC236}">
                <a16:creationId xmlns:a16="http://schemas.microsoft.com/office/drawing/2014/main" id="{4E6F967F-4941-75C0-75B6-CE24950578BE}"/>
              </a:ext>
            </a:extLst>
          </p:cNvPr>
          <p:cNvSpPr/>
          <p:nvPr/>
        </p:nvSpPr>
        <p:spPr>
          <a:xfrm>
            <a:off x="820833" y="1369129"/>
            <a:ext cx="457200" cy="38100"/>
          </a:xfrm>
          <a:prstGeom prst="rect">
            <a:avLst/>
          </a:prstGeom>
          <a:solidFill>
            <a:srgbClr val="2196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2155E823-5DC1-BBBF-4088-17C905FC6657}"/>
              </a:ext>
            </a:extLst>
          </p:cNvPr>
          <p:cNvSpPr txBox="1"/>
          <p:nvPr/>
        </p:nvSpPr>
        <p:spPr>
          <a:xfrm>
            <a:off x="820833" y="676631"/>
            <a:ext cx="1630383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3200" b="1" dirty="0"/>
              <a:t>The Ask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3BB035F7-6EC4-D5ED-6AD0-CFFE155A0638}"/>
              </a:ext>
            </a:extLst>
          </p:cNvPr>
          <p:cNvSpPr txBox="1"/>
          <p:nvPr/>
        </p:nvSpPr>
        <p:spPr>
          <a:xfrm>
            <a:off x="0" y="1628976"/>
            <a:ext cx="12192001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0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Aptos" panose="020B0004020202020204" pitchFamily="34" charset="0"/>
              </a:rPr>
              <a:t>We are raising $600K pre – seed to finish the BanditDB Cloud and run the Go-to-market motion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1C556B07-7BC2-482B-ACCF-9D8D4AC14D6F}"/>
              </a:ext>
            </a:extLst>
          </p:cNvPr>
          <p:cNvSpPr/>
          <p:nvPr/>
        </p:nvSpPr>
        <p:spPr>
          <a:xfrm>
            <a:off x="502920" y="2651760"/>
            <a:ext cx="3566160" cy="2560320"/>
          </a:xfrm>
          <a:prstGeom prst="rect">
            <a:avLst/>
          </a:prstGeom>
          <a:solidFill>
            <a:srgbClr val="0E1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CDC983B7-1157-3255-C3D4-07404C7976DF}"/>
              </a:ext>
            </a:extLst>
          </p:cNvPr>
          <p:cNvSpPr txBox="1"/>
          <p:nvPr/>
        </p:nvSpPr>
        <p:spPr>
          <a:xfrm>
            <a:off x="685800" y="2834640"/>
            <a:ext cx="2154757" cy="6771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endParaRPr dirty="0">
              <a:latin typeface="Aptos" panose="020B0004020202020204" pitchFamily="34" charset="0"/>
            </a:endParaRPr>
          </a:p>
          <a:p>
            <a:pPr algn="l">
              <a:spcBef>
                <a:spcPts val="0"/>
              </a:spcBef>
            </a:pPr>
            <a:r>
              <a:rPr sz="2000" b="1" dirty="0">
                <a:solidFill>
                  <a:srgbClr val="FFFFFF"/>
                </a:solidFill>
                <a:latin typeface="Aptos" panose="020B0004020202020204" pitchFamily="34" charset="0"/>
              </a:rPr>
              <a:t>Engineering  </a:t>
            </a:r>
            <a:r>
              <a:rPr lang="en-US" sz="2000" b="1" dirty="0">
                <a:solidFill>
                  <a:srgbClr val="FFFFFF"/>
                </a:solidFill>
                <a:latin typeface="Aptos" panose="020B0004020202020204" pitchFamily="34" charset="0"/>
              </a:rPr>
              <a:t>1</a:t>
            </a:r>
            <a:r>
              <a:rPr sz="2000" b="1" dirty="0">
                <a:solidFill>
                  <a:srgbClr val="FFFFFF"/>
                </a:solidFill>
                <a:latin typeface="Aptos" panose="020B0004020202020204" pitchFamily="34" charset="0"/>
              </a:rPr>
              <a:t>0%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FA387AF8-F65B-52DA-9BF6-BDD719915632}"/>
              </a:ext>
            </a:extLst>
          </p:cNvPr>
          <p:cNvSpPr txBox="1"/>
          <p:nvPr/>
        </p:nvSpPr>
        <p:spPr>
          <a:xfrm>
            <a:off x="685800" y="3520440"/>
            <a:ext cx="3200400" cy="107721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endParaRPr sz="1600" dirty="0">
              <a:solidFill>
                <a:schemeClr val="bg1">
                  <a:lumMod val="85000"/>
                </a:schemeClr>
              </a:solidFill>
              <a:latin typeface="Aptos" panose="020B0004020202020204" pitchFamily="34" charset="0"/>
            </a:endParaRPr>
          </a:p>
          <a:p>
            <a:pPr algn="l">
              <a:spcBef>
                <a:spcPts val="0"/>
              </a:spcBef>
            </a:pPr>
            <a:r>
              <a:rPr sz="1600" b="0" dirty="0">
                <a:solidFill>
                  <a:schemeClr val="bg1">
                    <a:lumMod val="85000"/>
                  </a:schemeClr>
                </a:solidFill>
                <a:latin typeface="Aptos" panose="020B0004020202020204" pitchFamily="34" charset="0"/>
              </a:rPr>
              <a:t>Managed cloud, enterprise auth, Prometheus metrics, horizontal scaling</a:t>
            </a: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7332B224-A848-72AF-63FE-1FD7CDDED13D}"/>
              </a:ext>
            </a:extLst>
          </p:cNvPr>
          <p:cNvSpPr/>
          <p:nvPr/>
        </p:nvSpPr>
        <p:spPr>
          <a:xfrm>
            <a:off x="4343400" y="2651760"/>
            <a:ext cx="3566160" cy="2560320"/>
          </a:xfrm>
          <a:prstGeom prst="rect">
            <a:avLst/>
          </a:prstGeom>
          <a:solidFill>
            <a:srgbClr val="0E1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7F3EC628-5DD9-B587-02FD-42D9D6431C1A}"/>
              </a:ext>
            </a:extLst>
          </p:cNvPr>
          <p:cNvSpPr txBox="1"/>
          <p:nvPr/>
        </p:nvSpPr>
        <p:spPr>
          <a:xfrm>
            <a:off x="4526280" y="2834640"/>
            <a:ext cx="2332305" cy="6771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endParaRPr dirty="0">
              <a:latin typeface="Aptos" panose="020B0004020202020204" pitchFamily="34" charset="0"/>
            </a:endParaRPr>
          </a:p>
          <a:p>
            <a:pPr algn="l">
              <a:spcBef>
                <a:spcPts val="0"/>
              </a:spcBef>
            </a:pPr>
            <a:r>
              <a:rPr sz="2000" b="1" dirty="0">
                <a:solidFill>
                  <a:srgbClr val="FFFFFF"/>
                </a:solidFill>
                <a:latin typeface="Aptos" panose="020B0004020202020204" pitchFamily="34" charset="0"/>
              </a:rPr>
              <a:t>Go-to-Market  </a:t>
            </a:r>
            <a:r>
              <a:rPr lang="en-US" sz="2000" b="1" dirty="0">
                <a:solidFill>
                  <a:srgbClr val="FFFFFF"/>
                </a:solidFill>
                <a:latin typeface="Aptos" panose="020B0004020202020204" pitchFamily="34" charset="0"/>
              </a:rPr>
              <a:t>7</a:t>
            </a:r>
            <a:r>
              <a:rPr sz="2000" b="1" dirty="0">
                <a:solidFill>
                  <a:srgbClr val="FFFFFF"/>
                </a:solidFill>
                <a:latin typeface="Aptos" panose="020B0004020202020204" pitchFamily="34" charset="0"/>
              </a:rPr>
              <a:t>0%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1C7C628D-03D6-3A59-5DFF-81895EBD2E71}"/>
              </a:ext>
            </a:extLst>
          </p:cNvPr>
          <p:cNvSpPr txBox="1"/>
          <p:nvPr/>
        </p:nvSpPr>
        <p:spPr>
          <a:xfrm>
            <a:off x="4526280" y="3520440"/>
            <a:ext cx="3200400" cy="83099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endParaRPr sz="1600">
              <a:solidFill>
                <a:schemeClr val="bg1">
                  <a:lumMod val="85000"/>
                </a:schemeClr>
              </a:solidFill>
              <a:latin typeface="Aptos" panose="020B0004020202020204" pitchFamily="34" charset="0"/>
            </a:endParaRPr>
          </a:p>
          <a:p>
            <a:pPr algn="l">
              <a:spcBef>
                <a:spcPts val="0"/>
              </a:spcBef>
            </a:pPr>
            <a:r>
              <a:rPr sz="1600" b="0">
                <a:solidFill>
                  <a:schemeClr val="bg1">
                    <a:lumMod val="85000"/>
                  </a:schemeClr>
                </a:solidFill>
                <a:latin typeface="Aptos" panose="020B0004020202020204" pitchFamily="34" charset="0"/>
              </a:rPr>
              <a:t>Developer relations, enterprise sales, docs, community</a:t>
            </a:r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0E17ED15-4665-C5FA-E6C5-8677267B8445}"/>
              </a:ext>
            </a:extLst>
          </p:cNvPr>
          <p:cNvSpPr/>
          <p:nvPr/>
        </p:nvSpPr>
        <p:spPr>
          <a:xfrm>
            <a:off x="8183880" y="2651760"/>
            <a:ext cx="3566160" cy="2560320"/>
          </a:xfrm>
          <a:prstGeom prst="rect">
            <a:avLst/>
          </a:prstGeom>
          <a:solidFill>
            <a:srgbClr val="0E1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DA2FE9DB-1E9A-1C23-048C-5C4BFACC9759}"/>
              </a:ext>
            </a:extLst>
          </p:cNvPr>
          <p:cNvSpPr txBox="1"/>
          <p:nvPr/>
        </p:nvSpPr>
        <p:spPr>
          <a:xfrm>
            <a:off x="8366760" y="2834640"/>
            <a:ext cx="2078198" cy="6771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endParaRPr>
              <a:latin typeface="Aptos" panose="020B0004020202020204" pitchFamily="34" charset="0"/>
            </a:endParaRPr>
          </a:p>
          <a:p>
            <a:pPr algn="l">
              <a:spcBef>
                <a:spcPts val="0"/>
              </a:spcBef>
            </a:pPr>
            <a:r>
              <a:rPr sz="2000" b="1">
                <a:solidFill>
                  <a:srgbClr val="FFFFFF"/>
                </a:solidFill>
                <a:latin typeface="Aptos" panose="020B0004020202020204" pitchFamily="34" charset="0"/>
              </a:rPr>
              <a:t>Operations  20%</a:t>
            </a: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AAF7C4C8-DB16-ECAA-A46E-A5E9FB33E533}"/>
              </a:ext>
            </a:extLst>
          </p:cNvPr>
          <p:cNvSpPr txBox="1"/>
          <p:nvPr/>
        </p:nvSpPr>
        <p:spPr>
          <a:xfrm>
            <a:off x="8366760" y="3520440"/>
            <a:ext cx="3200400" cy="83099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endParaRPr sz="1600">
              <a:solidFill>
                <a:schemeClr val="bg1">
                  <a:lumMod val="85000"/>
                </a:schemeClr>
              </a:solidFill>
              <a:latin typeface="Aptos" panose="020B0004020202020204" pitchFamily="34" charset="0"/>
            </a:endParaRPr>
          </a:p>
          <a:p>
            <a:pPr algn="l">
              <a:spcBef>
                <a:spcPts val="0"/>
              </a:spcBef>
            </a:pPr>
            <a:r>
              <a:rPr sz="1600" b="0">
                <a:solidFill>
                  <a:schemeClr val="bg1">
                    <a:lumMod val="85000"/>
                  </a:schemeClr>
                </a:solidFill>
                <a:latin typeface="Aptos" panose="020B0004020202020204" pitchFamily="34" charset="0"/>
              </a:rPr>
              <a:t>Infrastructure, security audit, legal, compliance</a:t>
            </a: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343C42CC-C320-B9DC-B140-7D4E52D919BC}"/>
              </a:ext>
            </a:extLst>
          </p:cNvPr>
          <p:cNvSpPr txBox="1"/>
          <p:nvPr/>
        </p:nvSpPr>
        <p:spPr>
          <a:xfrm>
            <a:off x="0" y="5488871"/>
            <a:ext cx="12192000" cy="83099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endParaRPr sz="2000" b="1" dirty="0">
              <a:latin typeface="Aptos" panose="020B0004020202020204" pitchFamily="34" charset="0"/>
            </a:endParaRPr>
          </a:p>
          <a:p>
            <a:pPr algn="ctr">
              <a:spcBef>
                <a:spcPts val="0"/>
              </a:spcBef>
            </a:pPr>
            <a:r>
              <a:rPr lang="en-US" sz="2800" b="1" dirty="0">
                <a:latin typeface="Aptos" panose="020B0004020202020204" pitchFamily="34" charset="0"/>
              </a:rPr>
              <a:t>Try it now at: </a:t>
            </a:r>
            <a:r>
              <a:rPr lang="en-US" sz="2800" b="1" dirty="0" err="1">
                <a:latin typeface="Aptos" panose="020B0004020202020204" pitchFamily="34" charset="0"/>
              </a:rPr>
              <a:t>sandbox.banditdb.com</a:t>
            </a:r>
            <a:endParaRPr lang="en-US" sz="2800" b="1" dirty="0">
              <a:latin typeface="Aptos" panose="020B00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772547399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997E1E7-1D1A-1AFB-BC88-0DA2D0F4549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Graphic 4">
            <a:extLst>
              <a:ext uri="{FF2B5EF4-FFF2-40B4-BE49-F238E27FC236}">
                <a16:creationId xmlns:a16="http://schemas.microsoft.com/office/drawing/2014/main" id="{D6FABD28-312F-12D1-E62F-F0D1B38453B9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3576088" y="2710760"/>
            <a:ext cx="4336597" cy="2258645"/>
          </a:xfrm>
          <a:prstGeom prst="rect">
            <a:avLst/>
          </a:prstGeom>
        </p:spPr>
      </p:pic>
      <p:sp>
        <p:nvSpPr>
          <p:cNvPr id="9" name="TextBox 8">
            <a:extLst>
              <a:ext uri="{FF2B5EF4-FFF2-40B4-BE49-F238E27FC236}">
                <a16:creationId xmlns:a16="http://schemas.microsoft.com/office/drawing/2014/main" id="{5154501B-C3F4-2A8A-404A-4A53957A90C4}"/>
              </a:ext>
            </a:extLst>
          </p:cNvPr>
          <p:cNvSpPr txBox="1"/>
          <p:nvPr/>
        </p:nvSpPr>
        <p:spPr>
          <a:xfrm>
            <a:off x="4390779" y="1195053"/>
            <a:ext cx="2707216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4000" b="1" dirty="0"/>
              <a:t>Thank You!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E8C4B528-2670-AC5B-2BE4-DB9D59129050}"/>
              </a:ext>
            </a:extLst>
          </p:cNvPr>
          <p:cNvSpPr txBox="1"/>
          <p:nvPr/>
        </p:nvSpPr>
        <p:spPr>
          <a:xfrm>
            <a:off x="3024635" y="6157096"/>
            <a:ext cx="6680804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1600" dirty="0">
                <a:solidFill>
                  <a:schemeClr val="tx1">
                    <a:lumMod val="75000"/>
                    <a:lumOff val="25000"/>
                  </a:schemeClr>
                </a:solidFill>
                <a:latin typeface="Aptos" panose="020B0004020202020204" pitchFamily="34" charset="0"/>
                <a:hlinkClick r:id="rId4"/>
              </a:rPr>
              <a:t>https://banditdb.com</a:t>
            </a:r>
            <a:r>
              <a:rPr lang="en-US" sz="1600" dirty="0">
                <a:solidFill>
                  <a:schemeClr val="tx1">
                    <a:lumMod val="75000"/>
                    <a:lumOff val="25000"/>
                  </a:schemeClr>
                </a:solidFill>
                <a:latin typeface="Aptos" panose="020B0004020202020204" pitchFamily="34" charset="0"/>
              </a:rPr>
              <a:t>, contact: Simeon Lukov, </a:t>
            </a:r>
            <a:r>
              <a:rPr lang="en-US" sz="1600" dirty="0">
                <a:solidFill>
                  <a:schemeClr val="tx1">
                    <a:lumMod val="75000"/>
                    <a:lumOff val="25000"/>
                  </a:schemeClr>
                </a:solidFill>
                <a:latin typeface="Aptos" panose="020B0004020202020204" pitchFamily="34" charset="0"/>
                <a:hlinkClick r:id="rId5"/>
              </a:rPr>
              <a:t>s.lukov@dynamicpricing.ai</a:t>
            </a:r>
            <a:endParaRPr lang="en-US" sz="1600" dirty="0">
              <a:solidFill>
                <a:schemeClr val="tx1">
                  <a:lumMod val="75000"/>
                  <a:lumOff val="25000"/>
                </a:schemeClr>
              </a:solidFill>
              <a:latin typeface="Aptos" panose="020B00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737393961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1693</TotalTime>
  <Words>837</Words>
  <Application>Microsoft Macintosh PowerPoint</Application>
  <PresentationFormat>Widescreen</PresentationFormat>
  <Paragraphs>223</Paragraphs>
  <Slides>11</Slides>
  <Notes>11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7" baseType="lpstr">
      <vt:lpstr>Aptos</vt:lpstr>
      <vt:lpstr>Aptos Display</vt:lpstr>
      <vt:lpstr>Arial</vt:lpstr>
      <vt:lpstr>Calibri</vt:lpstr>
      <vt:lpstr>Courier New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Simeon Lukov</dc:creator>
  <cp:lastModifiedBy>Simeon Lukov</cp:lastModifiedBy>
  <cp:revision>5</cp:revision>
  <dcterms:created xsi:type="dcterms:W3CDTF">2026-06-08T07:26:40Z</dcterms:created>
  <dcterms:modified xsi:type="dcterms:W3CDTF">2026-06-09T11:40:11Z</dcterms:modified>
</cp:coreProperties>
</file>