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173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Agents are becoming the new app runtime, but they still miss a native layer that remembers which decisions worked. BanditDB is that decision memory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agent stacks are strong at execution. The investor problem is that execution does not equal learning. BanditDB closes the loop from action to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positions BanditDB in current infrastructure language: not a model zoo, not a vector database, but a missing system layer in agent runtimes.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product is simple to understand: predict, act, reward, learn. This is the clearest 30-second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Investors need to see where it lives: not inside the LLM, not in the app code, but as infrastructure that the runtime calls when a decision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category. It makes clear the DB is not storing embeddings or documents; it stores decision experience and turns it into a fixed-size learning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replaces the old “four models” slide. Underlying algorithms can be in appendix; the pitch should focus on capabilities that map to agent runtimes and enterprise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oversell. Say in production at DynamicPricing.AI. Say exploratory discussions or use-case discovery for the others unless there is a signed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make the investor category clear and memorable. Avoid getting pulled into algorithm comparisons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ask and use of funds. If you need to cut, skip market sizing and use this as final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are summarized from MCP official docs, LangChain agent framework overview, MLflow production-ready agents guide, and Wired reporting on agent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58368" y="502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7F7FA"/>
                </a:solidFill>
              </a:rPr>
              <a:t>BanditDB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94944" y="1243584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07592"/>
            <a:ext cx="1746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</a:rPr>
              <a:t>INVESTOR REFERENCE DECK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7F7FA"/>
                </a:solidFill>
              </a:rPr>
              <a:t>Decision Memory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7F7FA"/>
                </a:solidFill>
              </a:rPr>
              <a:t>Database for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7F7FA"/>
                </a:solidFill>
              </a:rPr>
              <a:t>Self-Learning AI Agents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94944" y="41605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6B6C6"/>
                </a:solidFill>
              </a:rPr>
              <a:t>A new decision layer for agent runtimes, app infrastructure, and adaptive workflows.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06640" y="1207008"/>
            <a:ext cx="4160520" cy="4434840"/>
          </a:xfrm>
          <a:prstGeom prst="roundRect">
            <a:avLst>
              <a:gd name="adj" fmla="val 1978"/>
            </a:avLst>
          </a:prstGeom>
          <a:solidFill>
            <a:srgbClr val="14141C"/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73568" y="3813048"/>
            <a:ext cx="384048" cy="438912"/>
          </a:xfrm>
          <a:prstGeom prst="roundRect">
            <a:avLst>
              <a:gd name="adj" fmla="val 14286"/>
            </a:avLst>
          </a:prstGeom>
          <a:solidFill>
            <a:srgbClr val="2FFB93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3465576"/>
            <a:ext cx="384048" cy="786384"/>
          </a:xfrm>
          <a:prstGeom prst="roundRect">
            <a:avLst>
              <a:gd name="adj" fmla="val 14286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00032" y="3118104"/>
            <a:ext cx="384048" cy="1133856"/>
          </a:xfrm>
          <a:prstGeom prst="roundRect">
            <a:avLst>
              <a:gd name="adj" fmla="val 14286"/>
            </a:avLst>
          </a:prstGeom>
          <a:solidFill>
            <a:srgbClr val="2FFB93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3264" y="2770632"/>
            <a:ext cx="384048" cy="1481328"/>
          </a:xfrm>
          <a:prstGeom prst="roundRect">
            <a:avLst>
              <a:gd name="adj" fmla="val 14286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26496" y="2423160"/>
            <a:ext cx="384048" cy="1828800"/>
          </a:xfrm>
          <a:prstGeom prst="roundRect">
            <a:avLst>
              <a:gd name="adj" fmla="val 14286"/>
            </a:avLst>
          </a:prstGeom>
          <a:solidFill>
            <a:srgbClr val="2FFB93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0688" y="495604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7FA"/>
                </a:solidFill>
              </a:rPr>
              <a:t>/predict → /reward → learn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" y="6053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7E90"/>
                </a:solidFill>
              </a:rPr>
              <a:t>banditdb.com  ·  Simeon Lukov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runtimes can act. They still cannot learn.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22960"/>
            <a:ext cx="9601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B6C6"/>
                </a:solidFill>
              </a:rPr>
              <a:t>Harnesses orchestrate prompts, tools, memory, and guardrails — but the action-selection loop is still mostly stateless.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3200400" cy="1325880"/>
          </a:xfrm>
          <a:prstGeom prst="roundRect">
            <a:avLst>
              <a:gd name="adj" fmla="val 6207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73936"/>
            <a:ext cx="2788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Tool/model choice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8408" y="2258568"/>
            <a:ext cx="2606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model, API, or skill should run?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3200400" cy="1325880"/>
          </a:xfrm>
          <a:prstGeom prst="roundRect">
            <a:avLst>
              <a:gd name="adj" fmla="val 6207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73936"/>
            <a:ext cx="2788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routing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73168" y="2258568"/>
            <a:ext cx="2606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path should this request take?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275320" y="1554480"/>
            <a:ext cx="3200400" cy="1325880"/>
          </a:xfrm>
          <a:prstGeom prst="roundRect">
            <a:avLst>
              <a:gd name="adj" fmla="val 6207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773936"/>
            <a:ext cx="2788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Next-best action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7928" y="2258568"/>
            <a:ext cx="2606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message, price, offer, or intervention works?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FB93"/>
                </a:solidFill>
              </a:rPr>
              <a:t>The missing primitive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68096" y="4050792"/>
            <a:ext cx="137160" cy="13716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977640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decision memory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03320" y="3995928"/>
            <a:ext cx="6995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show what happened, but future decisions do not improve automatically.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68096" y="4709160"/>
            <a:ext cx="137160" cy="13716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636008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reward loop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4654296"/>
            <a:ext cx="6995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 live in analytics, not in the runtime selection logic.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68096" y="5367528"/>
            <a:ext cx="137160" cy="13716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94376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constrained optimization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5312664"/>
            <a:ext cx="6995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Capacity, eligibility, and deterministic fallback stay hard-coded in app logic.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agent stack is consolidating around runtimes and protocols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22960"/>
            <a:ext cx="9601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B6C6"/>
                </a:solidFill>
              </a:rPr>
              <a:t>MCP gives agents a standard way to call tools. Runtimes and harnesses make execution observable. Decision learning is still separate.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1691640" cy="1143000"/>
          </a:xfrm>
          <a:prstGeom prst="roundRect">
            <a:avLst>
              <a:gd name="adj" fmla="val 7200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76856"/>
            <a:ext cx="14447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/ Planner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69748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377440" y="2633472"/>
            <a:ext cx="594360" cy="0"/>
          </a:xfrm>
          <a:prstGeom prst="line">
            <a:avLst/>
          </a:prstGeom>
          <a:noFill/>
          <a:ln w="12700">
            <a:solidFill>
              <a:srgbClr val="7E7E9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17520" y="2057400"/>
            <a:ext cx="1691640" cy="1143000"/>
          </a:xfrm>
          <a:prstGeom prst="roundRect">
            <a:avLst>
              <a:gd name="adj" fmla="val 7200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276856"/>
            <a:ext cx="14447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Runtime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36392" y="269748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· retries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709160" y="2633472"/>
            <a:ext cx="594360" cy="0"/>
          </a:xfrm>
          <a:prstGeom prst="line">
            <a:avLst/>
          </a:prstGeom>
          <a:noFill/>
          <a:ln w="12700">
            <a:solidFill>
              <a:srgbClr val="7E7E9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49240" y="2057400"/>
            <a:ext cx="1691640" cy="1143000"/>
          </a:xfrm>
          <a:prstGeom prst="roundRect">
            <a:avLst>
              <a:gd name="adj" fmla="val 7200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276856"/>
            <a:ext cx="14447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/ Tools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68112" y="269748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· workflows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040880" y="2633472"/>
            <a:ext cx="594360" cy="0"/>
          </a:xfrm>
          <a:prstGeom prst="line">
            <a:avLst/>
          </a:prstGeom>
          <a:noFill/>
          <a:ln w="12700">
            <a:solidFill>
              <a:srgbClr val="7E7E9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80960" y="2057400"/>
            <a:ext cx="1691640" cy="1143000"/>
          </a:xfrm>
          <a:prstGeom prst="roundRect">
            <a:avLst>
              <a:gd name="adj" fmla="val 7200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276856"/>
            <a:ext cx="14447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99832" y="269748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 · evals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372600" y="2633472"/>
            <a:ext cx="594360" cy="0"/>
          </a:xfrm>
          <a:prstGeom prst="line">
            <a:avLst/>
          </a:prstGeom>
          <a:noFill/>
          <a:ln w="12700">
            <a:solidFill>
              <a:srgbClr val="7E7E9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12680" y="2057400"/>
            <a:ext cx="1691640" cy="1143000"/>
          </a:xfrm>
          <a:prstGeom prst="roundRect">
            <a:avLst>
              <a:gd name="adj" fmla="val 7200"/>
            </a:avLst>
          </a:prstGeom>
          <a:solidFill>
            <a:srgbClr val="10261B"/>
          </a:solidFill>
          <a:ln w="12700">
            <a:solidFill>
              <a:srgbClr val="2FFB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31552" y="2276856"/>
            <a:ext cx="14447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Memory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131552" y="269748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· reward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1874520" y="4160520"/>
            <a:ext cx="8412480" cy="960120"/>
          </a:xfrm>
          <a:prstGeom prst="roundRect">
            <a:avLst>
              <a:gd name="adj" fmla="val 8571"/>
            </a:avLst>
          </a:prstGeom>
          <a:solidFill>
            <a:srgbClr val="11111A"/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4416552"/>
            <a:ext cx="7863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 makes the decision layer explicit: what action to choose, under what constraints, and how the system improves after the outcome.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5989320"/>
            <a:ext cx="9692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reflected in appendix: MCP official docs; 2026 agent framework and production-agent architecture analysis.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BanditDB turns every agent action into learning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22960"/>
            <a:ext cx="9601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B6C6"/>
                </a:solidFill>
              </a:rPr>
              <a:t>Two API calls create a closed feedback loop for app and agent decisions.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057400" cy="1600200"/>
          </a:xfrm>
          <a:prstGeom prst="roundRect">
            <a:avLst>
              <a:gd name="adj" fmla="val 5143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751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FB93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99032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asks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848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/predict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available arms + constraints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926080" y="2633472"/>
            <a:ext cx="749808" cy="0"/>
          </a:xfrm>
          <a:prstGeom prst="line">
            <a:avLst/>
          </a:prstGeom>
          <a:noFill/>
          <a:ln w="12700">
            <a:solidFill>
              <a:srgbClr val="2FFB9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49040" y="1828800"/>
            <a:ext cx="2057400" cy="1600200"/>
          </a:xfrm>
          <a:prstGeom prst="roundRect">
            <a:avLst>
              <a:gd name="adj" fmla="val 5143"/>
            </a:avLst>
          </a:prstGeom>
          <a:solidFill>
            <a:srgbClr val="10261B"/>
          </a:solidFill>
          <a:ln w="12700">
            <a:solidFill>
              <a:srgbClr val="2FFB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9751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FB93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79392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 decides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50208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arm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· propensity · audit id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806440" y="2633472"/>
            <a:ext cx="749808" cy="0"/>
          </a:xfrm>
          <a:prstGeom prst="line">
            <a:avLst/>
          </a:prstGeom>
          <a:noFill/>
          <a:ln w="12700">
            <a:solidFill>
              <a:srgbClr val="2FFB9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29400" y="1828800"/>
            <a:ext cx="2057400" cy="1600200"/>
          </a:xfrm>
          <a:prstGeom prst="roundRect">
            <a:avLst>
              <a:gd name="adj" fmla="val 5143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9751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FB93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59752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executes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· model · route · price · message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686800" y="2633472"/>
            <a:ext cx="749808" cy="0"/>
          </a:xfrm>
          <a:prstGeom prst="line">
            <a:avLst/>
          </a:prstGeom>
          <a:noFill/>
          <a:ln w="12700">
            <a:solidFill>
              <a:srgbClr val="2FFB9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1828800"/>
            <a:ext cx="2057400" cy="1600200"/>
          </a:xfrm>
          <a:prstGeom prst="roundRect">
            <a:avLst>
              <a:gd name="adj" fmla="val 5143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19751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FB93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40112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returns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10928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/reward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· success · latency · cost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10497312" y="3611880"/>
            <a:ext cx="0" cy="749808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97312" y="4361688"/>
            <a:ext cx="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82312" y="4361688"/>
            <a:ext cx="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207008" y="5047488"/>
            <a:ext cx="9692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offline training pipeline. No weeks-long A/B test. No hand-coded winner logic.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new database layer between the runtime and the tools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22960"/>
            <a:ext cx="9601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B6C6"/>
                </a:solidFill>
              </a:rPr>
              <a:t>BanditDB does not replace the agent harness. It gives the harness an optimization primitive.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1508760"/>
            <a:ext cx="2377440" cy="3566160"/>
          </a:xfrm>
          <a:prstGeom prst="roundRect">
            <a:avLst>
              <a:gd name="adj" fmla="val 3462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Runtime / Harness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2423160"/>
            <a:ext cx="14630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retries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evals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2834640" cy="4069080"/>
          </a:xfrm>
          <a:prstGeom prst="roundRect">
            <a:avLst>
              <a:gd name="adj" fmla="val 2903"/>
            </a:avLst>
          </a:prstGeom>
          <a:solidFill>
            <a:srgbClr val="10261B"/>
          </a:solidFill>
          <a:ln w="12700">
            <a:solidFill>
              <a:srgbClr val="2FFB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508760"/>
            <a:ext cx="19659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83480" y="2240280"/>
            <a:ext cx="21488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memory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constraint-aware arm selection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fallback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 + audit log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 export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372600" y="1417320"/>
            <a:ext cx="1691640" cy="502920"/>
          </a:xfrm>
          <a:prstGeom prst="roundRect">
            <a:avLst>
              <a:gd name="adj" fmla="val 16364"/>
            </a:avLst>
          </a:prstGeom>
          <a:solidFill>
            <a:srgbClr val="20202C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82912" y="153619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72600" y="2331720"/>
            <a:ext cx="1691640" cy="502920"/>
          </a:xfrm>
          <a:prstGeom prst="roundRect">
            <a:avLst>
              <a:gd name="adj" fmla="val 16364"/>
            </a:avLst>
          </a:prstGeom>
          <a:solidFill>
            <a:srgbClr val="20202C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2912" y="245059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72600" y="3246120"/>
            <a:ext cx="1691640" cy="502920"/>
          </a:xfrm>
          <a:prstGeom prst="roundRect">
            <a:avLst>
              <a:gd name="adj" fmla="val 16364"/>
            </a:avLst>
          </a:prstGeom>
          <a:solidFill>
            <a:srgbClr val="20202C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2912" y="336499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72600" y="4160520"/>
            <a:ext cx="1691640" cy="502920"/>
          </a:xfrm>
          <a:prstGeom prst="roundRect">
            <a:avLst>
              <a:gd name="adj" fmla="val 16364"/>
            </a:avLst>
          </a:prstGeom>
          <a:solidFill>
            <a:srgbClr val="20202C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2912" y="427939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35808" y="2971800"/>
            <a:ext cx="1536192" cy="0"/>
          </a:xfrm>
          <a:prstGeom prst="line">
            <a:avLst/>
          </a:prstGeom>
          <a:noFill/>
          <a:ln w="12700">
            <a:solidFill>
              <a:srgbClr val="2FFB9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52360" y="2971800"/>
            <a:ext cx="1874520" cy="0"/>
          </a:xfrm>
          <a:prstGeom prst="line">
            <a:avLst/>
          </a:prstGeom>
          <a:noFill/>
          <a:ln w="12700">
            <a:solidFill>
              <a:srgbClr val="2FFB9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72600" y="5303520"/>
            <a:ext cx="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35040" y="5303520"/>
            <a:ext cx="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493008" y="2697480"/>
            <a:ext cx="731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/predict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73568" y="2697480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83880" y="5010912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/reward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currency of BanditDB is decision experience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22960"/>
            <a:ext cx="9601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B6C6"/>
                </a:solidFill>
              </a:rPr>
              <a:t>Vector databases store what was said. BanditDB stores what worked.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41248" y="1508760"/>
            <a:ext cx="3063240" cy="1005840"/>
          </a:xfrm>
          <a:prstGeom prst="roundRect">
            <a:avLst>
              <a:gd name="adj" fmla="val 8182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709928"/>
            <a:ext cx="2697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167128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agent knows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608576" y="1508760"/>
            <a:ext cx="3063240" cy="1005840"/>
          </a:xfrm>
          <a:prstGeom prst="roundRect">
            <a:avLst>
              <a:gd name="adj" fmla="val 8182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709928"/>
            <a:ext cx="2697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10328" y="2167128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actions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375904" y="1508760"/>
            <a:ext cx="3063240" cy="1005840"/>
          </a:xfrm>
          <a:prstGeom prst="roundRect">
            <a:avLst>
              <a:gd name="adj" fmla="val 8182"/>
            </a:avLst>
          </a:prstGeom>
          <a:solidFill>
            <a:srgbClr val="241C0D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58784" y="1709928"/>
            <a:ext cx="2697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77656" y="2167128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· eligibility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41248" y="3017520"/>
            <a:ext cx="3063240" cy="1005840"/>
          </a:xfrm>
          <a:prstGeom prst="roundRect">
            <a:avLst>
              <a:gd name="adj" fmla="val 8182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218688"/>
            <a:ext cx="2697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675888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arm + score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608576" y="3017520"/>
            <a:ext cx="3063240" cy="1005840"/>
          </a:xfrm>
          <a:prstGeom prst="roundRect">
            <a:avLst>
              <a:gd name="adj" fmla="val 8182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3218688"/>
            <a:ext cx="2697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10328" y="3675888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happened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375904" y="3017520"/>
            <a:ext cx="3063240" cy="1005840"/>
          </a:xfrm>
          <a:prstGeom prst="roundRect">
            <a:avLst>
              <a:gd name="adj" fmla="val 8182"/>
            </a:avLst>
          </a:prstGeom>
          <a:solidFill>
            <a:srgbClr val="10261B"/>
          </a:solidFill>
          <a:ln w="12700">
            <a:solidFill>
              <a:srgbClr val="2FFB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58784" y="3218688"/>
            <a:ext cx="2697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update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77656" y="3675888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compressed learning state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325880" y="4983480"/>
            <a:ext cx="9555480" cy="658368"/>
          </a:xfrm>
          <a:prstGeom prst="roundRect">
            <a:avLst>
              <a:gd name="adj" fmla="val 12500"/>
            </a:avLst>
          </a:prstGeom>
          <a:solidFill>
            <a:srgbClr val="11111A"/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5193792"/>
            <a:ext cx="88239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database object model for self-learning agents.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Capabilities built for production decision systems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22960"/>
            <a:ext cx="9601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B6C6"/>
                </a:solidFill>
              </a:rPr>
              <a:t>The SDK already includes the controls investors expect in agent infrastructure.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800600" cy="868680"/>
          </a:xfrm>
          <a:prstGeom prst="roundRect">
            <a:avLst>
              <a:gd name="adj" fmla="val 9474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673352"/>
            <a:ext cx="164592" cy="164592"/>
          </a:xfrm>
          <a:prstGeom prst="ellipse">
            <a:avLst/>
          </a:prstGeom>
          <a:solidFill>
            <a:srgbClr val="2FFB93"/>
          </a:solidFill>
          <a:ln w="12700">
            <a:solidFill>
              <a:srgbClr val="2FFB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581912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Self-learning decisions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929384"/>
            <a:ext cx="39319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from rewards without retraining.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800600" cy="868680"/>
          </a:xfrm>
          <a:prstGeom prst="roundRect">
            <a:avLst>
              <a:gd name="adj" fmla="val 9474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6248" y="1673352"/>
            <a:ext cx="164592" cy="164592"/>
          </a:xfrm>
          <a:prstGeom prst="ellipse">
            <a:avLst/>
          </a:prstGeom>
          <a:solidFill>
            <a:srgbClr val="2FFB93"/>
          </a:solidFill>
          <a:ln w="12700">
            <a:solidFill>
              <a:srgbClr val="2FFB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581912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logic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0" y="1929384"/>
            <a:ext cx="39319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arm selection when exploration must be controlled.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22960" y="2743200"/>
            <a:ext cx="4800600" cy="868680"/>
          </a:xfrm>
          <a:prstGeom prst="roundRect">
            <a:avLst>
              <a:gd name="adj" fmla="val 9474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2999232"/>
            <a:ext cx="164592" cy="164592"/>
          </a:xfrm>
          <a:prstGeom prst="ellipse">
            <a:avLst/>
          </a:prstGeom>
          <a:solidFill>
            <a:srgbClr val="2FFB93"/>
          </a:solidFill>
          <a:ln w="12700">
            <a:solidFill>
              <a:srgbClr val="2FFB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2907792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constraints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255264"/>
            <a:ext cx="39319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over-selecting limited arms: seats, inventory, trials, budget.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355080" y="2743200"/>
            <a:ext cx="4800600" cy="868680"/>
          </a:xfrm>
          <a:prstGeom prst="roundRect">
            <a:avLst>
              <a:gd name="adj" fmla="val 9474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2999232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907792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+ replay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255264"/>
            <a:ext cx="39319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WAL, JSONL audit log, checkpoint and Parquet export.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22960" y="4069080"/>
            <a:ext cx="4800600" cy="868680"/>
          </a:xfrm>
          <a:prstGeom prst="roundRect">
            <a:avLst>
              <a:gd name="adj" fmla="val 9474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325112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233672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signals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4581144"/>
            <a:ext cx="39319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Entropy, convergence, and arm-level confidence.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355080" y="4069080"/>
            <a:ext cx="4800600" cy="868680"/>
          </a:xfrm>
          <a:prstGeom prst="roundRect">
            <a:avLst>
              <a:gd name="adj" fmla="val 9474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56248" y="4325112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233672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/ HTTP ready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0" y="4581144"/>
            <a:ext cx="39319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as a server primitive for agents and apps.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 validation across high-value decision systems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22960"/>
            <a:ext cx="9601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B6C6"/>
                </a:solidFill>
              </a:rPr>
              <a:t>Use precise language: production origin + exploratory market pull.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5029200" cy="3520440"/>
          </a:xfrm>
          <a:prstGeom prst="roundRect">
            <a:avLst>
              <a:gd name="adj" fmla="val 2338"/>
            </a:avLst>
          </a:prstGeom>
          <a:solidFill>
            <a:srgbClr val="10261B"/>
          </a:solidFill>
          <a:ln w="12700">
            <a:solidFill>
              <a:srgbClr val="2FFB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618488"/>
            <a:ext cx="4251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Production-proven origin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4343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inside DynamicPricing.AI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971800"/>
            <a:ext cx="41605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from a real commercial pricing need: adaptive decisions, rewards from outcomes, and operational constraints.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88720" y="3977640"/>
            <a:ext cx="4160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here when available: decisions processed · months running · latency · campaigns served.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400800" y="1325880"/>
            <a:ext cx="4617720" cy="841248"/>
          </a:xfrm>
          <a:prstGeom prst="roundRect">
            <a:avLst>
              <a:gd name="adj" fmla="val 9783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481328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1472184"/>
            <a:ext cx="2514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discovery for agent decision infrastructure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400800" y="2478024"/>
            <a:ext cx="4617720" cy="841248"/>
          </a:xfrm>
          <a:prstGeom prst="roundRect">
            <a:avLst>
              <a:gd name="adj" fmla="val 9783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633472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Trials app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624328"/>
            <a:ext cx="2514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allocation under eligibility, capacity, and audit constraints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400800" y="3630168"/>
            <a:ext cx="4617720" cy="841248"/>
          </a:xfrm>
          <a:prstGeom prst="roundRect">
            <a:avLst>
              <a:gd name="adj" fmla="val 9783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785616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EdTech app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0" y="3776472"/>
            <a:ext cx="2514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lesson / intervention selection from learning outcomes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005840" y="5532120"/>
            <a:ext cx="10332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infrastructure layer. Multiple domains. Same predict → act → reward → learn loop.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BanditDB is not another AI tool — it is a new infrastructure category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22960"/>
            <a:ext cx="9601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B6C6"/>
                </a:solidFill>
              </a:rPr>
              <a:t>The closest analog is what vector databases did for retrieval. BanditDB does for decisions.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98448" y="1417320"/>
            <a:ext cx="2148840" cy="502920"/>
          </a:xfrm>
          <a:prstGeom prst="roundRect">
            <a:avLst>
              <a:gd name="adj" fmla="val 16364"/>
            </a:avLst>
          </a:prstGeom>
          <a:solidFill>
            <a:srgbClr val="20202C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572768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DB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3904488" y="1417320"/>
            <a:ext cx="2148840" cy="502920"/>
          </a:xfrm>
          <a:prstGeom prst="roundRect">
            <a:avLst>
              <a:gd name="adj" fmla="val 16364"/>
            </a:avLst>
          </a:prstGeom>
          <a:solidFill>
            <a:srgbClr val="20202C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572768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 / Observability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6510528" y="1417320"/>
            <a:ext cx="2148840" cy="502920"/>
          </a:xfrm>
          <a:prstGeom prst="roundRect">
            <a:avLst>
              <a:gd name="adj" fmla="val 16364"/>
            </a:avLst>
          </a:prstGeom>
          <a:solidFill>
            <a:srgbClr val="20202C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572768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Store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9116568" y="1417320"/>
            <a:ext cx="2148840" cy="502920"/>
          </a:xfrm>
          <a:prstGeom prst="roundRect">
            <a:avLst>
              <a:gd name="adj" fmla="val 16364"/>
            </a:avLst>
          </a:prstGeom>
          <a:solidFill>
            <a:srgbClr val="10261B"/>
          </a:solidFill>
          <a:ln w="12700">
            <a:solidFill>
              <a:srgbClr val="2FFB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572768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256032" y="2212848"/>
            <a:ext cx="749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98448" y="208483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22199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similar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04488" y="208483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22199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agent quality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10528" y="208483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22199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ML features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16568" y="208483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222199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best action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6032" y="2944368"/>
            <a:ext cx="749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online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298448" y="281635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295351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04488" y="281635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295351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10528" y="281635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95351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116568" y="281635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9720" y="295351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6032" y="3675888"/>
            <a:ext cx="749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object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98448" y="354787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368503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/ doc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04488" y="354787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77640" y="368503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/ run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10528" y="354787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68503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vector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16568" y="354787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89720" y="368503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arm + reward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56032" y="4407408"/>
            <a:ext cx="749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role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298448" y="427939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0" y="441655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904488" y="427939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77640" y="441655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10528" y="427939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441655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pipeline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116568" y="4279392"/>
            <a:ext cx="2148840" cy="438912"/>
          </a:xfrm>
          <a:prstGeom prst="roundRect">
            <a:avLst>
              <a:gd name="adj" fmla="val 18750"/>
            </a:avLst>
          </a:prstGeom>
          <a:solidFill>
            <a:srgbClr val="15151D"/>
          </a:solidFill>
          <a:ln w="12700">
            <a:solidFill>
              <a:srgbClr val="2222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89720" y="4416552"/>
            <a:ext cx="20025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layer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417320" y="5541264"/>
            <a:ext cx="9372600" cy="411480"/>
          </a:xfrm>
          <a:prstGeom prst="roundRect">
            <a:avLst>
              <a:gd name="adj" fmla="val 20000"/>
            </a:avLst>
          </a:prstGeom>
          <a:solidFill>
            <a:srgbClr val="11111A"/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45920" y="5650992"/>
            <a:ext cx="8915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sentence: Vector DBs remember what was said. BanditDB remembers what worked.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Open-source adoption → Cloud usage → Enterprise deployment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22960"/>
            <a:ext cx="9601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B6C6"/>
                </a:solidFill>
              </a:rPr>
              <a:t>A developer-first infrastructure motion with enterprise monetization.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337560" cy="3337560"/>
          </a:xfrm>
          <a:prstGeom prst="roundRect">
            <a:avLst>
              <a:gd name="adj" fmla="val 2466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27632"/>
            <a:ext cx="2880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83080" y="214884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2808" y="2212848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</a:rPr>
              <a:t>Free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52728" y="2788920"/>
            <a:ext cx="224028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server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API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 + checkpoint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526280" y="1325880"/>
            <a:ext cx="3337560" cy="3337560"/>
          </a:xfrm>
          <a:prstGeom prst="roundRect">
            <a:avLst>
              <a:gd name="adj" fmla="val 2466"/>
            </a:avLst>
          </a:prstGeom>
          <a:solidFill>
            <a:srgbClr val="10261B"/>
          </a:solidFill>
          <a:ln w="12700">
            <a:solidFill>
              <a:srgbClr val="2FFB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27632"/>
            <a:ext cx="2880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 Cloud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623560" y="214884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2FFB93">
              <a:alpha val="16000"/>
            </a:srgbClr>
          </a:solidFill>
          <a:ln w="12700">
            <a:solidFill>
              <a:srgbClr val="2FFB93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3288" y="2212848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FFB93"/>
                </a:solidFill>
              </a:rPr>
              <a:t>Usage-based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93208" y="2788920"/>
            <a:ext cx="224028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server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Backups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366760" y="1325880"/>
            <a:ext cx="3337560" cy="3337560"/>
          </a:xfrm>
          <a:prstGeom prst="roundRect">
            <a:avLst>
              <a:gd name="adj" fmla="val 2466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627632"/>
            <a:ext cx="2880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464040" y="214884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2212848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</a:rPr>
              <a:t>Custom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33688" y="2788920"/>
            <a:ext cx="224028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VPC / on-prem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SSO / SAML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/ compliance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SLA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engineer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22960" y="5230368"/>
            <a:ext cx="10561320" cy="594360"/>
          </a:xfrm>
          <a:prstGeom prst="roundRect">
            <a:avLst>
              <a:gd name="adj" fmla="val 13846"/>
            </a:avLst>
          </a:prstGeom>
          <a:solidFill>
            <a:srgbClr val="11111A"/>
          </a:solidFill>
          <a:ln w="12700">
            <a:solidFill>
              <a:srgbClr val="2FFB9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431536"/>
            <a:ext cx="9921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FF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$600K pre-seed to finish BanditDB Cloud, developer GTM, security/compliance, and enterprise readiness.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47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BanditDB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market context used for this reference deck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22960"/>
            <a:ext cx="9601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B6C6"/>
                </a:solidFill>
              </a:rPr>
              <a:t>Keep this slide hidden or backup-only for investor Q&amp;A.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10241280" cy="713232"/>
          </a:xfrm>
          <a:prstGeom prst="roundRect">
            <a:avLst>
              <a:gd name="adj" fmla="val 11538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481328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Context Protocol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481328"/>
            <a:ext cx="6858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standard for connecting AI applications to external systems and tools.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68680" y="2286000"/>
            <a:ext cx="10241280" cy="713232"/>
          </a:xfrm>
          <a:prstGeom prst="roundRect">
            <a:avLst>
              <a:gd name="adj" fmla="val 11538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441448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frameworks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441448"/>
            <a:ext cx="6858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agent stacks emphasize orchestration, observability, and runtime reliability.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68680" y="3246120"/>
            <a:ext cx="10241280" cy="713232"/>
          </a:xfrm>
          <a:prstGeom prst="roundRect">
            <a:avLst>
              <a:gd name="adj" fmla="val 11538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401568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Production-ready agents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401568"/>
            <a:ext cx="6858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agents require governance, observability, security, and system architecture.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68680" y="4206240"/>
            <a:ext cx="10241280" cy="713232"/>
          </a:xfrm>
          <a:prstGeom prst="roundRect">
            <a:avLst>
              <a:gd name="adj" fmla="val 11538"/>
            </a:avLst>
          </a:prstGeom>
          <a:solidFill>
            <a:srgbClr val="1A1A22"/>
          </a:solidFill>
          <a:ln w="12700">
            <a:solidFill>
              <a:srgbClr val="3434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361688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standards momentum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4361688"/>
            <a:ext cx="6858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6B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OpenAI, Anthropic, Block and others contributed agent technologies to Linux Foundation governance.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68680" y="6080760"/>
            <a:ext cx="8686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7E7E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4-minute investor version, present slides 1–10 and keep this as backup.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35643</TotalTime>
  <Words>1234</Words>
  <Application>Microsoft Macintosh PowerPoint</Application>
  <PresentationFormat>Widescreen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BanditDB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BanditDB — Decision Memory Database for Self-Learning Agents</dc:title>
  <dc:subject>BanditDB investor reference deck</dc:subject>
  <dc:creator>OpenAI</dc:creator>
  <cp:lastModifiedBy>Simeon Lukov</cp:lastModifiedBy>
  <cp:revision>2</cp:revision>
  <dcterms:created xsi:type="dcterms:W3CDTF">2026-06-21T15:16:21Z</dcterms:created>
  <dcterms:modified xsi:type="dcterms:W3CDTF">2026-07-16T09:22:52Z</dcterms:modified>
</cp:coreProperties>
</file>